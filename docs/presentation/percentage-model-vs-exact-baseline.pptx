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77ffb7ea244dac" /><Relationship Type="http://schemas.openxmlformats.org/officeDocument/2006/relationships/extended-properties" Target="/docProps/app.xml" Id="R4f4d06e5ea574651" /><Relationship Type="http://schemas.openxmlformats.org/officeDocument/2006/relationships/officeDocument" Target="/ppt/presentation.xml" Id="R6b693eece7184e72" /></Relationships>
</file>

<file path=ppt/presentation.xml><?xml version="1.0" encoding="utf-8"?>
<p:presentation xmlns:p="http://schemas.openxmlformats.org/presentationml/2006/main">
  <p:sldMasterIdLst>
    <p:sldMasterId xmlns:r="http://schemas.openxmlformats.org/officeDocument/2006/relationships" id="2147483648" r:id="R5dbc500434d3451f"/>
  </p:sldMasterIdLst>
  <p:notesMasterIdLst>
    <p:notesMasterId xmlns:r="http://schemas.openxmlformats.org/officeDocument/2006/relationships" r:id="R385df548b29e4259"/>
  </p:notesMasterIdLst>
  <p:sldIdLst>
    <p:sldId xmlns:r="http://schemas.openxmlformats.org/officeDocument/2006/relationships" id="256" r:id="Re9176470f62a4631"/>
    <p:sldId xmlns:r="http://schemas.openxmlformats.org/officeDocument/2006/relationships" id="257" r:id="Re984b673dfa54a4e"/>
    <p:sldId xmlns:r="http://schemas.openxmlformats.org/officeDocument/2006/relationships" id="258" r:id="Rde0a57dfa1164f4d"/>
    <p:sldId xmlns:r="http://schemas.openxmlformats.org/officeDocument/2006/relationships" id="259" r:id="R393bb63796f54254"/>
    <p:sldId xmlns:r="http://schemas.openxmlformats.org/officeDocument/2006/relationships" id="260" r:id="Rf17d468fa07b4f62"/>
    <p:sldId xmlns:r="http://schemas.openxmlformats.org/officeDocument/2006/relationships" id="261" r:id="R701c6b3eacde440a"/>
    <p:sldId xmlns:r="http://schemas.openxmlformats.org/officeDocument/2006/relationships" id="262" r:id="R098e76160ea441f9"/>
    <p:sldId xmlns:r="http://schemas.openxmlformats.org/officeDocument/2006/relationships" id="263" r:id="R0a07f7c169554822"/>
    <p:sldId xmlns:r="http://schemas.openxmlformats.org/officeDocument/2006/relationships" id="264" r:id="Rd410a8a9ea4f442e"/>
    <p:sldId xmlns:r="http://schemas.openxmlformats.org/officeDocument/2006/relationships" id="265" r:id="Rcb12e7b0ce6f4f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39966ccf18400b" /><Relationship Type="http://schemas.openxmlformats.org/officeDocument/2006/relationships/slideMaster" Target="/ppt/slideMasters/slideMaster1.xml" Id="R5dbc500434d3451f" /><Relationship Type="http://schemas.openxmlformats.org/officeDocument/2006/relationships/notesMaster" Target="/ppt/notesMasters/notesMaster1.xml" Id="R385df548b29e4259" /><Relationship Type="http://schemas.openxmlformats.org/officeDocument/2006/relationships/presProps" Target="/ppt/presProps.xml" Id="Rfa87a199cd6f4442" /><Relationship Type="http://schemas.openxmlformats.org/officeDocument/2006/relationships/tableStyles" Target="/ppt/tableStyles.xml" Id="R80b6d5fefb0642f2" /><Relationship Type="http://schemas.openxmlformats.org/officeDocument/2006/relationships/slide" Target="/ppt/slides/slide1.xml" Id="Re9176470f62a4631" /><Relationship Type="http://schemas.openxmlformats.org/officeDocument/2006/relationships/slide" Target="/ppt/slides/slide2.xml" Id="Re984b673dfa54a4e" /><Relationship Type="http://schemas.openxmlformats.org/officeDocument/2006/relationships/slide" Target="/ppt/slides/slide3.xml" Id="Rde0a57dfa1164f4d" /><Relationship Type="http://schemas.openxmlformats.org/officeDocument/2006/relationships/slide" Target="/ppt/slides/slide4.xml" Id="R393bb63796f54254" /><Relationship Type="http://schemas.openxmlformats.org/officeDocument/2006/relationships/slide" Target="/ppt/slides/slide5.xml" Id="Rf17d468fa07b4f62" /><Relationship Type="http://schemas.openxmlformats.org/officeDocument/2006/relationships/slide" Target="/ppt/slides/slide6.xml" Id="R701c6b3eacde440a" /><Relationship Type="http://schemas.openxmlformats.org/officeDocument/2006/relationships/slide" Target="/ppt/slides/slide7.xml" Id="R098e76160ea441f9" /><Relationship Type="http://schemas.openxmlformats.org/officeDocument/2006/relationships/slide" Target="/ppt/slides/slide8.xml" Id="R0a07f7c169554822" /><Relationship Type="http://schemas.openxmlformats.org/officeDocument/2006/relationships/slide" Target="/ppt/slides/slide9.xml" Id="Rd410a8a9ea4f442e" /><Relationship Type="http://schemas.openxmlformats.org/officeDocument/2006/relationships/slide" Target="/ppt/slides/slide10.xml" Id="Rcb12e7b0ce6f4f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346234480945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b036934875427b" /><Relationship Type="http://schemas.openxmlformats.org/officeDocument/2006/relationships/notesMaster" Target="/ppt/notesMasters/notesMaster1.xml" Id="Ra9c85ec76b1541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efcdc436a44454" /><Relationship Type="http://schemas.openxmlformats.org/officeDocument/2006/relationships/notesMaster" Target="/ppt/notesMasters/notesMaster1.xml" Id="Rbbe71fe93bcb49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121588ab604afe" /><Relationship Type="http://schemas.openxmlformats.org/officeDocument/2006/relationships/notesMaster" Target="/ppt/notesMasters/notesMaster1.xml" Id="Rde87c56fa6054d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2a35f0e0aa4141" /><Relationship Type="http://schemas.openxmlformats.org/officeDocument/2006/relationships/notesMaster" Target="/ppt/notesMasters/notesMaster1.xml" Id="R5d92882847c045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1a3bada75405e" /><Relationship Type="http://schemas.openxmlformats.org/officeDocument/2006/relationships/notesMaster" Target="/ppt/notesMasters/notesMaster1.xml" Id="R5c877a54974f45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2f5b5cb0304211" /><Relationship Type="http://schemas.openxmlformats.org/officeDocument/2006/relationships/notesMaster" Target="/ppt/notesMasters/notesMaster1.xml" Id="R91f05992719c44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9a262a289747e0" /><Relationship Type="http://schemas.openxmlformats.org/officeDocument/2006/relationships/notesMaster" Target="/ppt/notesMasters/notesMaster1.xml" Id="R7b24997b0f224e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93c6c488034304" /><Relationship Type="http://schemas.openxmlformats.org/officeDocument/2006/relationships/notesMaster" Target="/ppt/notesMasters/notesMaster1.xml" Id="R385af43f35184f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bfd1c670764b09" /><Relationship Type="http://schemas.openxmlformats.org/officeDocument/2006/relationships/notesMaster" Target="/ppt/notesMasters/notesMaster1.xml" Id="R1e323b8e22d14a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f1cee82df640c3" /><Relationship Type="http://schemas.openxmlformats.org/officeDocument/2006/relationships/notesMaster" Target="/ppt/notesMasters/notesMaster1.xml" Id="R7d579557daa442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decision question: which method gives a percentage closest to the reference assessment? This is not a data-science lecture. We will look at what each method sees, how it behaves in real examples, and what it costs to operate. Sources: pipeline-fl-control-plane commit 93f803ea and the code-compare held-out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answer. On 70 held-out examples, the model misses by about 10 points on average. Exact matching misses by about 41. The model is also twice as likely to land within 10 points and far less likely to make an opposite-end error. The model should provide the main percentage. Exact matching remains useful for audit and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Held-out means these 70 examples were set aside before model selection. Examples from the same pull request stay together, reducing leakage. This is the fairest available test. The reference percentages are assisted estimates, so the result supports a direction, not a final scientific claim. A human-labeled benchmark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fingerprint check. Each changed line is identified by file path, whether it was added or removed, and its exact text. Trailing spaces are ignored, but leading indentation is preserved. Extra changes in the pull request do not reduce the score. Multiple handlers use a multiset union, so duplicate lines are counted carefully. Strength: simple and auditable. Weakness: tiny harmless edits can turn a genuine match into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does not compare only raw lines. It converts each pair into signals: line and token recall, normalized names and literals, best matching hunk, structural indicators, and file overlap. The saved weighted ensemble combines a random forest, a two-stage CatBoost model, and a CatBoost MAE model at 50, 30, and 20 percent. The deployed output is one rounded percentage. That is easy to consume, but it hides confidence and disagreement between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is the average distance between the predicted percentage and the reference percentage. The model is off by 9.74 points; exact matching is off by 40.94. The model lands within 10 points in 74.3 percent of cases versus 37.1 percent. A serious miss means one side says at least 80 while the other says at most 20. Exact matching does that in 34.3 percent of cases; the model in 1.4 percent.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suggested and merged code perform the same change. The only visible difference is indentation. PIPELINE3-1376 preserves leading whitespace, so its exact fingerprint does not match and returns zero. The percentage model recognizes the surrounding evidence and returns 100, matching the reference percentage. Public source: https://github.com/LadybirdBrowser/ladybird/pull/6220, example b2651caf456e27f1.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matching is brittle but transparent. The model handles edits better but has more moving parts. Its output is easy to consume and easy to over-trust. The main product issue is that a bare percentage does not communicate confidence, data quality, or unsupported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is a lifecycle, not a one-time build. Exact matching mainly needs parser tests and algorithm versioning. The model needs feature compatibility, artifact integrity, dependency updates, drift checks, and periodic retraining. Both need monitoring, but the model requires a named owner and a release gate tied to held-out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both scores because they answer different questions. The percentage model should drive the user-facing estimate. The exact score should remain as a cheap, transparent diagnostic and can trigger review when it strongly disagrees with the model. Before broad rollout, add confidence or abstention, create an independently labeled benchmark, and monitor disagreement and drift.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c9962986a5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20f38887c7412c" /><Relationship Type="http://schemas.openxmlformats.org/officeDocument/2006/relationships/slideLayout" Target="/ppt/slideLayouts/slideLayout1.xml" Id="Rf975e92fed8a48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75e92fed8a48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5fc33456464349" /><Relationship Type="http://schemas.openxmlformats.org/officeDocument/2006/relationships/notesSlide" Target="/ppt/notesSlides/notesSlide1.xml" Id="Ra9aa270b47cb40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3d706b60a44338" /><Relationship Type="http://schemas.openxmlformats.org/officeDocument/2006/relationships/notesSlide" Target="/ppt/notesSlides/notesSlide2.xml" Id="R9692dcc792814f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7e8ad883e42fb" /><Relationship Type="http://schemas.openxmlformats.org/officeDocument/2006/relationships/notesSlide" Target="/ppt/notesSlides/notesSlide3.xml" Id="Rdbc5c3aa5056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bf207e113543f3" /><Relationship Type="http://schemas.openxmlformats.org/officeDocument/2006/relationships/notesSlide" Target="/ppt/notesSlides/notesSlide4.xml" Id="R742c49c8e60b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5d8f3416a1465e" /><Relationship Type="http://schemas.openxmlformats.org/officeDocument/2006/relationships/notesSlide" Target="/ppt/notesSlides/notesSlide5.xml" Id="R8afd9bf279914b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37111925e5414c" /><Relationship Type="http://schemas.openxmlformats.org/officeDocument/2006/relationships/notesSlide" Target="/ppt/notesSlides/notesSlide6.xml" Id="R87edf61afaa74a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55065f7f014637" /><Relationship Type="http://schemas.openxmlformats.org/officeDocument/2006/relationships/notesSlide" Target="/ppt/notesSlides/notesSlide7.xml" Id="R92c56b2df40348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d0aae3dc134015" /><Relationship Type="http://schemas.openxmlformats.org/officeDocument/2006/relationships/notesSlide" Target="/ppt/notesSlides/notesSlide8.xml" Id="R8bed47f962be40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94ddf66f1c4f6a" /><Relationship Type="http://schemas.openxmlformats.org/officeDocument/2006/relationships/notesSlide" Target="/ppt/notesSlides/notesSlide9.xml" Id="R4a87bbb0335840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7bf1fb99324c62" /><Relationship Type="http://schemas.openxmlformats.org/officeDocument/2006/relationships/notesSlide" Target="/ppt/notesSlides/notesSlide10.xml" Id="R9decf5a35f8d4287" /></Relationships>
</file>

<file path=ppt/slides/slide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5C8E27-99F9-4F5B-8241-64C0632BE5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D511C9-7B4C-4C58-9CC9-DECC0DA02ECC}"/>
              </a:ext>
            </a:extLst>
          </p:cNvPr>
          <p:cNvSpPr>
            <a:spLocks xmlns:a="http://schemas.openxmlformats.org/drawingml/2006/main" noGrp="1"/>
          </p:cNvSpPr>
          <p:nvPr/>
        </p:nvSpPr>
        <p:spPr>
          <a:xfrm xmlns:a="http://schemas.openxmlformats.org/drawingml/2006/main">
            <a:off x="742950" y="685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METHOD COMPARISON</a:t>
            </a:r>
          </a:p>
        </p:txBody>
      </p:sp>
      <p:sp>
        <p:nvSpPr>
          <p:cNvPr id="3" name="">
            <a:extLst xmlns:a="http://schemas.openxmlformats.org/drawingml/2006/main">
              <a:ext uri="{FF2B5EF4-FFF2-40B4-BE49-F238E27FC236}">
                <a16:creationId xmlns:a16="http://schemas.microsoft.com/office/drawing/2014/main" id="{2437055B-1417-4B21-AA96-8E88405FB039}"/>
              </a:ext>
            </a:extLst>
          </p:cNvPr>
          <p:cNvSpPr>
            <a:spLocks xmlns:a="http://schemas.openxmlformats.org/drawingml/2006/main" noGrp="1"/>
          </p:cNvSpPr>
          <p:nvPr/>
        </p:nvSpPr>
        <p:spPr>
          <a:xfrm xmlns:a="http://schemas.openxmlformats.org/drawingml/2006/main">
            <a:off x="742950" y="1285875"/>
            <a:ext cx="714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14213D"/>
                </a:solidFill>
                <a:latin typeface="Helvetica Neue"/>
                <a:ea typeface="Helvetica Neue"/>
                <a:cs typeface="Helvetica Neue"/>
              </a:defRPr>
            </a:pPr>
            <a:r>
              <a:rPr sz="3750" b="1">
                <a:solidFill>
                  <a:srgbClr val="14213D"/>
                </a:solidFill>
                <a:latin typeface="Helvetica Neue"/>
                <a:ea typeface="Helvetica Neue"/>
                <a:cs typeface="Helvetica Neue"/>
              </a:rPr>
              <a:t>Which coverage score</a:t>
            </a:r>
          </a:p>
          <a:p xmlns:a="http://schemas.openxmlformats.org/drawingml/2006/main">
            <a:pPr algn="l">
              <a:defRPr sz="3750" b="1">
                <a:solidFill>
                  <a:srgbClr val="14213D"/>
                </a:solidFill>
                <a:latin typeface="Helvetica Neue"/>
                <a:ea typeface="Helvetica Neue"/>
                <a:cs typeface="Helvetica Neue"/>
              </a:defRPr>
            </a:pPr>
            <a:r>
              <a:rPr sz="3750" b="1">
                <a:solidFill>
                  <a:srgbClr val="14213D"/>
                </a:solidFill>
                <a:latin typeface="Helvetica Neue"/>
                <a:ea typeface="Helvetica Neue"/>
                <a:cs typeface="Helvetica Neue"/>
              </a:rPr>
              <a:t>should we trust?</a:t>
            </a:r>
          </a:p>
        </p:txBody>
      </p:sp>
      <p:sp>
        <p:nvSpPr>
          <p:cNvPr id="4" name="">
            <a:extLst xmlns:a="http://schemas.openxmlformats.org/drawingml/2006/main">
              <a:ext uri="{FF2B5EF4-FFF2-40B4-BE49-F238E27FC236}">
                <a16:creationId xmlns:a16="http://schemas.microsoft.com/office/drawing/2014/main" id="{FBF731A2-F3B7-4949-AEE7-012DAC889C32}"/>
              </a:ext>
            </a:extLst>
          </p:cNvPr>
          <p:cNvSpPr>
            <a:spLocks xmlns:a="http://schemas.openxmlformats.org/drawingml/2006/main" noGrp="1"/>
          </p:cNvSpPr>
          <p:nvPr/>
        </p:nvSpPr>
        <p:spPr>
          <a:xfrm xmlns:a="http://schemas.openxmlformats.org/drawingml/2006/main">
            <a:off x="762000" y="2952750"/>
            <a:ext cx="657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E6775"/>
                </a:solidFill>
                <a:latin typeface="Helvetica Neue"/>
                <a:ea typeface="Helvetica Neue"/>
                <a:cs typeface="Helvetica Neue"/>
              </a:defRPr>
            </a:pPr>
            <a:r>
              <a:rPr sz="1650" b="0">
                <a:solidFill>
                  <a:srgbClr val="5E6775"/>
                </a:solidFill>
                <a:latin typeface="Helvetica Neue"/>
                <a:ea typeface="Helvetica Neue"/>
                <a:cs typeface="Helvetica Neue"/>
              </a:rPr>
              <a:t>A held-out comparison of the percentage model and the exact changed-line baseline</a:t>
            </a:r>
          </a:p>
        </p:txBody>
      </p:sp>
      <p:sp>
        <p:nvSpPr>
          <p:cNvPr id="5" name="">
            <a:extLst xmlns:a="http://schemas.openxmlformats.org/drawingml/2006/main">
              <a:ext uri="{FF2B5EF4-FFF2-40B4-BE49-F238E27FC236}">
                <a16:creationId xmlns:a16="http://schemas.microsoft.com/office/drawing/2014/main" id="{130C395C-385B-425F-A5B0-C6CC2AD531B2}"/>
              </a:ext>
            </a:extLst>
          </p:cNvPr>
          <p:cNvSpPr>
            <a:spLocks xmlns:a="http://schemas.openxmlformats.org/drawingml/2006/main" noGrp="1"/>
          </p:cNvSpPr>
          <p:nvPr/>
        </p:nvSpPr>
        <p:spPr>
          <a:xfrm xmlns:a="http://schemas.openxmlformats.org/drawingml/2006/main">
            <a:off x="8334375" y="1047750"/>
            <a:ext cx="2476500" cy="2476500"/>
          </a:xfrm>
          <a:prstGeom xmlns:a="http://schemas.openxmlformats.org/drawingml/2006/main" prst="roundRect">
            <a:avLst>
              <a:gd name="adj" fmla="val 3077"/>
            </a:avLst>
          </a:prstGeom>
          <a:solidFill xmlns:a="http://schemas.openxmlformats.org/drawingml/2006/main">
            <a:srgbClr val="DDE8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EA8C21-4F0D-42B6-89C3-14A5A0FE3567}"/>
              </a:ext>
            </a:extLst>
          </p:cNvPr>
          <p:cNvSpPr>
            <a:spLocks xmlns:a="http://schemas.openxmlformats.org/drawingml/2006/main" noGrp="1"/>
          </p:cNvSpPr>
          <p:nvPr/>
        </p:nvSpPr>
        <p:spPr>
          <a:xfrm xmlns:a="http://schemas.openxmlformats.org/drawingml/2006/main">
            <a:off x="8524875" y="15240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2864DC"/>
                </a:solidFill>
                <a:latin typeface="Helvetica Neue"/>
                <a:ea typeface="Helvetica Neue"/>
                <a:cs typeface="Helvetica Neue"/>
              </a:defRPr>
            </a:pPr>
            <a:r>
              <a:rPr sz="4050" b="1">
                <a:solidFill>
                  <a:srgbClr val="2864DC"/>
                </a:solidFill>
                <a:latin typeface="Helvetica Neue"/>
                <a:ea typeface="Helvetica Neue"/>
                <a:cs typeface="Helvetica Neue"/>
              </a:rPr>
              <a:t>0-100</a:t>
            </a:r>
          </a:p>
        </p:txBody>
      </p:sp>
      <p:sp>
        <p:nvSpPr>
          <p:cNvPr id="7" name="">
            <a:extLst xmlns:a="http://schemas.openxmlformats.org/drawingml/2006/main">
              <a:ext uri="{FF2B5EF4-FFF2-40B4-BE49-F238E27FC236}">
                <a16:creationId xmlns:a16="http://schemas.microsoft.com/office/drawing/2014/main" id="{11A7140A-475D-4C91-A2B4-F6B094D3663B}"/>
              </a:ext>
            </a:extLst>
          </p:cNvPr>
          <p:cNvSpPr>
            <a:spLocks xmlns:a="http://schemas.openxmlformats.org/drawingml/2006/main" noGrp="1"/>
          </p:cNvSpPr>
          <p:nvPr/>
        </p:nvSpPr>
        <p:spPr>
          <a:xfrm xmlns:a="http://schemas.openxmlformats.org/drawingml/2006/main">
            <a:off x="8667750" y="2381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28"/>
          </a:bodyPr>
          <a:lstStyle xmlns:a="http://schemas.openxmlformats.org/drawingml/2006/main"/>
          <a:p xmlns:a="http://schemas.openxmlformats.org/drawingml/2006/main">
            <a:pPr algn="ctr">
              <a:defRPr sz="1425" b="1">
                <a:solidFill>
                  <a:srgbClr val="14213D"/>
                </a:solidFill>
                <a:latin typeface="Helvetica Neue"/>
                <a:ea typeface="Helvetica Neue"/>
                <a:cs typeface="Helvetica Neue"/>
              </a:defRPr>
            </a:pPr>
            <a:r>
              <a:rPr sz="1425" b="1">
                <a:solidFill>
                  <a:srgbClr val="14213D"/>
                </a:solidFill>
                <a:latin typeface="Helvetica Neue"/>
                <a:ea typeface="Helvetica Neue"/>
                <a:cs typeface="Helvetica Neue"/>
              </a:rPr>
              <a:t>one number</a:t>
            </a:r>
          </a:p>
          <a:p xmlns:a="http://schemas.openxmlformats.org/drawingml/2006/main">
            <a:pPr algn="ctr">
              <a:defRPr sz="1425" b="1">
                <a:solidFill>
                  <a:srgbClr val="14213D"/>
                </a:solidFill>
                <a:latin typeface="Helvetica Neue"/>
                <a:ea typeface="Helvetica Neue"/>
                <a:cs typeface="Helvetica Neue"/>
              </a:defRPr>
            </a:pPr>
            <a:r>
              <a:rPr sz="1425" b="1">
                <a:solidFill>
                  <a:srgbClr val="14213D"/>
                </a:solidFill>
                <a:latin typeface="Helvetica Neue"/>
                <a:ea typeface="Helvetica Neue"/>
                <a:cs typeface="Helvetica Neue"/>
              </a:rPr>
              <a:t>for a complex judgment</a:t>
            </a:r>
          </a:p>
        </p:txBody>
      </p:sp>
      <p:sp>
        <p:nvSpPr>
          <p:cNvPr id="8" name="">
            <a:extLst xmlns:a="http://schemas.openxmlformats.org/drawingml/2006/main">
              <a:ext uri="{FF2B5EF4-FFF2-40B4-BE49-F238E27FC236}">
                <a16:creationId xmlns:a16="http://schemas.microsoft.com/office/drawing/2014/main" id="{5CE8A6E7-7F12-4BDD-8945-2F70B74528CB}"/>
              </a:ext>
            </a:extLst>
          </p:cNvPr>
          <p:cNvSpPr>
            <a:spLocks xmlns:a="http://schemas.openxmlformats.org/drawingml/2006/main" noGrp="1"/>
          </p:cNvSpPr>
          <p:nvPr/>
        </p:nvSpPr>
        <p:spPr>
          <a:xfrm xmlns:a="http://schemas.openxmlformats.org/drawingml/2006/main">
            <a:off x="762000" y="6000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PIPELINE3-1376  •  70 held-out examples  •  September 2026</a:t>
            </a:r>
          </a:p>
        </p:txBody>
      </p:sp>
      <p:sp>
        <p:nvSpPr>
          <p:cNvPr id="9" name="">
            <a:extLst xmlns:a="http://schemas.openxmlformats.org/drawingml/2006/main">
              <a:ext uri="{FF2B5EF4-FFF2-40B4-BE49-F238E27FC236}">
                <a16:creationId xmlns:a16="http://schemas.microsoft.com/office/drawing/2014/main" id="{4070714E-4803-41EE-A494-9F7F7B88DDDB}"/>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01</a:t>
            </a:r>
          </a:p>
        </p:txBody>
      </p:sp>
    </p:spTree>
    <p:extLst>
      <p:ext uri="{BB962C8B-B14F-4D97-AF65-F5344CB8AC3E}">
        <p14:creationId xmlns:p14="http://schemas.microsoft.com/office/powerpoint/2010/main" val="714726776"/>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EF60708-C40A-403F-82F4-2C91252AC843}"/>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DECISION</a:t>
            </a:r>
          </a:p>
        </p:txBody>
      </p:sp>
      <p:sp>
        <p:nvSpPr>
          <p:cNvPr id="2" name="">
            <a:extLst xmlns:a="http://schemas.openxmlformats.org/drawingml/2006/main">
              <a:ext uri="{FF2B5EF4-FFF2-40B4-BE49-F238E27FC236}">
                <a16:creationId xmlns:a16="http://schemas.microsoft.com/office/drawing/2014/main" id="{FBB83E2F-46DA-4E7B-B374-DF565B530825}"/>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Use the percentage model for the main score</a:t>
            </a:r>
          </a:p>
        </p:txBody>
      </p:sp>
      <p:sp>
        <p:nvSpPr>
          <p:cNvPr id="3" name="">
            <a:extLst xmlns:a="http://schemas.openxmlformats.org/drawingml/2006/main">
              <a:ext uri="{FF2B5EF4-FFF2-40B4-BE49-F238E27FC236}">
                <a16:creationId xmlns:a16="http://schemas.microsoft.com/office/drawing/2014/main" id="{20386EA9-B220-4490-A6D8-CFB35CC183AD}"/>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Keep exact matching as a diagnostic signal, not the final answer.</a:t>
            </a:r>
          </a:p>
        </p:txBody>
      </p:sp>
      <p:sp>
        <p:nvSpPr>
          <p:cNvPr id="4" name="">
            <a:extLst xmlns:a="http://schemas.openxmlformats.org/drawingml/2006/main">
              <a:ext uri="{FF2B5EF4-FFF2-40B4-BE49-F238E27FC236}">
                <a16:creationId xmlns:a16="http://schemas.microsoft.com/office/drawing/2014/main" id="{AFE73973-B093-4DDA-A452-3F72F277F03D}"/>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F12373-7BFB-4DB5-A5CF-71950DB55519}"/>
              </a:ext>
            </a:extLst>
          </p:cNvPr>
          <p:cNvSpPr>
            <a:spLocks xmlns:a="http://schemas.openxmlformats.org/drawingml/2006/main" noGrp="1"/>
          </p:cNvSpPr>
          <p:nvPr/>
        </p:nvSpPr>
        <p:spPr>
          <a:xfrm xmlns:a="http://schemas.openxmlformats.org/drawingml/2006/main">
            <a:off x="838200"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AVERAGE MISS</a:t>
            </a:r>
          </a:p>
        </p:txBody>
      </p:sp>
      <p:sp>
        <p:nvSpPr>
          <p:cNvPr id="6" name="">
            <a:extLst xmlns:a="http://schemas.openxmlformats.org/drawingml/2006/main">
              <a:ext uri="{FF2B5EF4-FFF2-40B4-BE49-F238E27FC236}">
                <a16:creationId xmlns:a16="http://schemas.microsoft.com/office/drawing/2014/main" id="{7AE7A0C0-5099-4162-8B92-073884DE43CC}"/>
              </a:ext>
            </a:extLst>
          </p:cNvPr>
          <p:cNvSpPr>
            <a:spLocks xmlns:a="http://schemas.openxmlformats.org/drawingml/2006/main" noGrp="1"/>
          </p:cNvSpPr>
          <p:nvPr/>
        </p:nvSpPr>
        <p:spPr>
          <a:xfrm xmlns:a="http://schemas.openxmlformats.org/drawingml/2006/main">
            <a:off x="838200"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218B75"/>
                </a:solidFill>
                <a:latin typeface="Helvetica Neue"/>
                <a:ea typeface="Helvetica Neue"/>
                <a:cs typeface="Helvetica Neue"/>
              </a:defRPr>
            </a:pPr>
            <a:r>
              <a:rPr sz="2850" b="1">
                <a:solidFill>
                  <a:srgbClr val="218B75"/>
                </a:solidFill>
                <a:latin typeface="Helvetica Neue"/>
                <a:ea typeface="Helvetica Neue"/>
                <a:cs typeface="Helvetica Neue"/>
              </a:rPr>
              <a:t>9.74 points</a:t>
            </a:r>
          </a:p>
        </p:txBody>
      </p:sp>
      <p:sp>
        <p:nvSpPr>
          <p:cNvPr id="7" name="">
            <a:extLst xmlns:a="http://schemas.openxmlformats.org/drawingml/2006/main">
              <a:ext uri="{FF2B5EF4-FFF2-40B4-BE49-F238E27FC236}">
                <a16:creationId xmlns:a16="http://schemas.microsoft.com/office/drawing/2014/main" id="{A01AAAE6-3ECA-47BC-9CD6-DC4C9BAFB0FB}"/>
              </a:ext>
            </a:extLst>
          </p:cNvPr>
          <p:cNvSpPr>
            <a:spLocks xmlns:a="http://schemas.openxmlformats.org/drawingml/2006/main" noGrp="1"/>
          </p:cNvSpPr>
          <p:nvPr/>
        </p:nvSpPr>
        <p:spPr>
          <a:xfrm xmlns:a="http://schemas.openxmlformats.org/drawingml/2006/main">
            <a:off x="838200"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Model vs. 40.94 for exact matching</a:t>
            </a:r>
          </a:p>
        </p:txBody>
      </p:sp>
      <p:sp>
        <p:nvSpPr>
          <p:cNvPr id="8" name="">
            <a:extLst xmlns:a="http://schemas.openxmlformats.org/drawingml/2006/main">
              <a:ext uri="{FF2B5EF4-FFF2-40B4-BE49-F238E27FC236}">
                <a16:creationId xmlns:a16="http://schemas.microsoft.com/office/drawing/2014/main" id="{E7BAB365-BD89-4D0E-B4AF-BD980EC5E45B}"/>
              </a:ext>
            </a:extLst>
          </p:cNvPr>
          <p:cNvSpPr>
            <a:spLocks xmlns:a="http://schemas.openxmlformats.org/drawingml/2006/main" noGrp="1"/>
          </p:cNvSpPr>
          <p:nvPr/>
        </p:nvSpPr>
        <p:spPr>
          <a:xfrm xmlns:a="http://schemas.openxmlformats.org/drawingml/2006/main">
            <a:off x="4619625"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CLOSE CALLS</a:t>
            </a:r>
          </a:p>
        </p:txBody>
      </p:sp>
      <p:sp>
        <p:nvSpPr>
          <p:cNvPr id="9" name="">
            <a:extLst xmlns:a="http://schemas.openxmlformats.org/drawingml/2006/main">
              <a:ext uri="{FF2B5EF4-FFF2-40B4-BE49-F238E27FC236}">
                <a16:creationId xmlns:a16="http://schemas.microsoft.com/office/drawing/2014/main" id="{325F4417-1C4A-43FA-8D28-87AF26926BF5}"/>
              </a:ext>
            </a:extLst>
          </p:cNvPr>
          <p:cNvSpPr>
            <a:spLocks xmlns:a="http://schemas.openxmlformats.org/drawingml/2006/main" noGrp="1"/>
          </p:cNvSpPr>
          <p:nvPr/>
        </p:nvSpPr>
        <p:spPr>
          <a:xfrm xmlns:a="http://schemas.openxmlformats.org/drawingml/2006/main">
            <a:off x="4619625"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2864DC"/>
                </a:solidFill>
                <a:latin typeface="Helvetica Neue"/>
                <a:ea typeface="Helvetica Neue"/>
                <a:cs typeface="Helvetica Neue"/>
              </a:defRPr>
            </a:pPr>
            <a:r>
              <a:rPr sz="2850" b="1">
                <a:solidFill>
                  <a:srgbClr val="2864DC"/>
                </a:solidFill>
                <a:latin typeface="Helvetica Neue"/>
                <a:ea typeface="Helvetica Neue"/>
                <a:cs typeface="Helvetica Neue"/>
              </a:rPr>
              <a:t>74.3%</a:t>
            </a:r>
          </a:p>
        </p:txBody>
      </p:sp>
      <p:sp>
        <p:nvSpPr>
          <p:cNvPr id="10" name="">
            <a:extLst xmlns:a="http://schemas.openxmlformats.org/drawingml/2006/main">
              <a:ext uri="{FF2B5EF4-FFF2-40B4-BE49-F238E27FC236}">
                <a16:creationId xmlns:a16="http://schemas.microsoft.com/office/drawing/2014/main" id="{144E8C3B-B6F4-4CB7-902B-0346C5CEC9F5}"/>
              </a:ext>
            </a:extLst>
          </p:cNvPr>
          <p:cNvSpPr>
            <a:spLocks xmlns:a="http://schemas.openxmlformats.org/drawingml/2006/main" noGrp="1"/>
          </p:cNvSpPr>
          <p:nvPr/>
        </p:nvSpPr>
        <p:spPr>
          <a:xfrm xmlns:a="http://schemas.openxmlformats.org/drawingml/2006/main">
            <a:off x="4619625"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Within 10 points vs. 37.1%</a:t>
            </a:r>
          </a:p>
        </p:txBody>
      </p:sp>
      <p:sp>
        <p:nvSpPr>
          <p:cNvPr id="11" name="">
            <a:extLst xmlns:a="http://schemas.openxmlformats.org/drawingml/2006/main">
              <a:ext uri="{FF2B5EF4-FFF2-40B4-BE49-F238E27FC236}">
                <a16:creationId xmlns:a16="http://schemas.microsoft.com/office/drawing/2014/main" id="{891972E7-6AF0-41AE-A4BF-AFE67974EEA8}"/>
              </a:ext>
            </a:extLst>
          </p:cNvPr>
          <p:cNvSpPr>
            <a:spLocks xmlns:a="http://schemas.openxmlformats.org/drawingml/2006/main" noGrp="1"/>
          </p:cNvSpPr>
          <p:nvPr/>
        </p:nvSpPr>
        <p:spPr>
          <a:xfrm xmlns:a="http://schemas.openxmlformats.org/drawingml/2006/main">
            <a:off x="8401050" y="21907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l">
              <a:defRPr sz="975" b="1">
                <a:solidFill>
                  <a:srgbClr val="5E6775"/>
                </a:solidFill>
                <a:latin typeface="Helvetica Neue"/>
                <a:ea typeface="Helvetica Neue"/>
                <a:cs typeface="Helvetica Neue"/>
              </a:defRPr>
            </a:pPr>
            <a:r>
              <a:rPr sz="975" b="1">
                <a:solidFill>
                  <a:srgbClr val="5E6775"/>
                </a:solidFill>
                <a:latin typeface="Helvetica Neue"/>
                <a:ea typeface="Helvetica Neue"/>
                <a:cs typeface="Helvetica Neue"/>
              </a:rPr>
              <a:t>SERIOUS MISSES</a:t>
            </a:r>
          </a:p>
        </p:txBody>
      </p:sp>
      <p:sp>
        <p:nvSpPr>
          <p:cNvPr id="12" name="">
            <a:extLst xmlns:a="http://schemas.openxmlformats.org/drawingml/2006/main">
              <a:ext uri="{FF2B5EF4-FFF2-40B4-BE49-F238E27FC236}">
                <a16:creationId xmlns:a16="http://schemas.microsoft.com/office/drawing/2014/main" id="{577CA0ED-214A-48E6-ACE1-367B05587A0A}"/>
              </a:ext>
            </a:extLst>
          </p:cNvPr>
          <p:cNvSpPr>
            <a:spLocks xmlns:a="http://schemas.openxmlformats.org/drawingml/2006/main" noGrp="1"/>
          </p:cNvSpPr>
          <p:nvPr/>
        </p:nvSpPr>
        <p:spPr>
          <a:xfrm xmlns:a="http://schemas.openxmlformats.org/drawingml/2006/main">
            <a:off x="8401050" y="240030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l">
              <a:defRPr sz="2850" b="1">
                <a:solidFill>
                  <a:srgbClr val="E76F51"/>
                </a:solidFill>
                <a:latin typeface="Helvetica Neue"/>
                <a:ea typeface="Helvetica Neue"/>
                <a:cs typeface="Helvetica Neue"/>
              </a:defRPr>
            </a:pPr>
            <a:r>
              <a:rPr sz="2850" b="1">
                <a:solidFill>
                  <a:srgbClr val="E76F51"/>
                </a:solidFill>
                <a:latin typeface="Helvetica Neue"/>
                <a:ea typeface="Helvetica Neue"/>
                <a:cs typeface="Helvetica Neue"/>
              </a:rPr>
              <a:t>1.4%</a:t>
            </a:r>
          </a:p>
        </p:txBody>
      </p:sp>
      <p:sp>
        <p:nvSpPr>
          <p:cNvPr id="13" name="">
            <a:extLst xmlns:a="http://schemas.openxmlformats.org/drawingml/2006/main">
              <a:ext uri="{FF2B5EF4-FFF2-40B4-BE49-F238E27FC236}">
                <a16:creationId xmlns:a16="http://schemas.microsoft.com/office/drawing/2014/main" id="{5D7D9B38-2647-4857-8CE8-2420A89E78D2}"/>
              </a:ext>
            </a:extLst>
          </p:cNvPr>
          <p:cNvSpPr>
            <a:spLocks xmlns:a="http://schemas.openxmlformats.org/drawingml/2006/main" noGrp="1"/>
          </p:cNvSpPr>
          <p:nvPr/>
        </p:nvSpPr>
        <p:spPr>
          <a:xfrm xmlns:a="http://schemas.openxmlformats.org/drawingml/2006/main">
            <a:off x="8401050" y="29337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E6775"/>
                </a:solidFill>
                <a:latin typeface="Helvetica Neue"/>
                <a:ea typeface="Helvetica Neue"/>
                <a:cs typeface="Helvetica Neue"/>
              </a:defRPr>
            </a:pPr>
            <a:r>
              <a:rPr sz="1125" b="0">
                <a:solidFill>
                  <a:srgbClr val="5E6775"/>
                </a:solidFill>
                <a:latin typeface="Helvetica Neue"/>
                <a:ea typeface="Helvetica Neue"/>
                <a:cs typeface="Helvetica Neue"/>
              </a:rPr>
              <a:t>Opposite-end errors vs. 34.3%</a:t>
            </a:r>
          </a:p>
        </p:txBody>
      </p:sp>
      <p:sp>
        <p:nvSpPr>
          <p:cNvPr id="14" name="">
            <a:extLst xmlns:a="http://schemas.openxmlformats.org/drawingml/2006/main">
              <a:ext uri="{FF2B5EF4-FFF2-40B4-BE49-F238E27FC236}">
                <a16:creationId xmlns:a16="http://schemas.microsoft.com/office/drawing/2014/main" id="{75E0F4E3-422F-4714-9AB5-FD4DCCB298DF}"/>
              </a:ext>
            </a:extLst>
          </p:cNvPr>
          <p:cNvSpPr>
            <a:spLocks xmlns:a="http://schemas.openxmlformats.org/drawingml/2006/main" noGrp="1"/>
          </p:cNvSpPr>
          <p:nvPr/>
        </p:nvSpPr>
        <p:spPr>
          <a:xfrm xmlns:a="http://schemas.openxmlformats.org/drawingml/2006/main">
            <a:off x="704850" y="4095750"/>
            <a:ext cx="10782300" cy="1428750"/>
          </a:xfrm>
          <a:prstGeom xmlns:a="http://schemas.openxmlformats.org/drawingml/2006/main" prst="roundRect">
            <a:avLst>
              <a:gd name="adj" fmla="val 5333"/>
            </a:avLst>
          </a:prstGeom>
          <a:solidFill xmlns:a="http://schemas.openxmlformats.org/drawingml/2006/main">
            <a:srgbClr val="1421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9C2A6B-4954-49D0-BEB4-831C5D7E6AB1}"/>
              </a:ext>
            </a:extLst>
          </p:cNvPr>
          <p:cNvSpPr>
            <a:spLocks xmlns:a="http://schemas.openxmlformats.org/drawingml/2006/main" noGrp="1"/>
          </p:cNvSpPr>
          <p:nvPr/>
        </p:nvSpPr>
        <p:spPr>
          <a:xfrm xmlns:a="http://schemas.openxmlformats.org/drawingml/2006/main">
            <a:off x="1009650" y="4305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F3C969"/>
                </a:solidFill>
                <a:latin typeface="Helvetica Neue"/>
                <a:ea typeface="Helvetica Neue"/>
                <a:cs typeface="Helvetica Neue"/>
              </a:defRPr>
            </a:pPr>
            <a:r>
              <a:rPr sz="1275" b="1">
                <a:solidFill>
                  <a:srgbClr val="F3C969"/>
                </a:solidFill>
                <a:latin typeface="Helvetica Neue"/>
                <a:ea typeface="Helvetica Neue"/>
                <a:cs typeface="Helvetica Neue"/>
              </a:rPr>
              <a:t>BOTTOM LINE</a:t>
            </a:r>
          </a:p>
        </p:txBody>
      </p:sp>
      <p:sp>
        <p:nvSpPr>
          <p:cNvPr id="16" name="">
            <a:extLst xmlns:a="http://schemas.openxmlformats.org/drawingml/2006/main">
              <a:ext uri="{FF2B5EF4-FFF2-40B4-BE49-F238E27FC236}">
                <a16:creationId xmlns:a16="http://schemas.microsoft.com/office/drawing/2014/main" id="{91228DBA-5F08-43CC-8DC0-8157AF43F7DF}"/>
              </a:ext>
            </a:extLst>
          </p:cNvPr>
          <p:cNvSpPr>
            <a:spLocks xmlns:a="http://schemas.openxmlformats.org/drawingml/2006/main" noGrp="1"/>
          </p:cNvSpPr>
          <p:nvPr/>
        </p:nvSpPr>
        <p:spPr>
          <a:xfrm xmlns:a="http://schemas.openxmlformats.org/drawingml/2006/main">
            <a:off x="1009650" y="464820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24"/>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The model is materially more useful when code lands with edits, moved context, or changed formatting.</a:t>
            </a:r>
          </a:p>
        </p:txBody>
      </p:sp>
      <p:sp>
        <p:nvSpPr>
          <p:cNvPr id="17" name="">
            <a:extLst xmlns:a="http://schemas.openxmlformats.org/drawingml/2006/main">
              <a:ext uri="{FF2B5EF4-FFF2-40B4-BE49-F238E27FC236}">
                <a16:creationId xmlns:a16="http://schemas.microsoft.com/office/drawing/2014/main" id="{594127FA-CF3F-4F51-9414-AA826EA615F9}"/>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02</a:t>
            </a:r>
          </a:p>
        </p:txBody>
      </p:sp>
    </p:spTree>
    <p:extLst>
      <p:ext uri="{BB962C8B-B14F-4D97-AF65-F5344CB8AC3E}">
        <p14:creationId xmlns:p14="http://schemas.microsoft.com/office/powerpoint/2010/main" val="2075028718"/>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66AE95B-F842-4ABE-B8C4-8BCF985CF09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EVIDENCE</a:t>
            </a:r>
          </a:p>
        </p:txBody>
      </p:sp>
      <p:sp>
        <p:nvSpPr>
          <p:cNvPr id="2" name="">
            <a:extLst xmlns:a="http://schemas.openxmlformats.org/drawingml/2006/main">
              <a:ext uri="{FF2B5EF4-FFF2-40B4-BE49-F238E27FC236}">
                <a16:creationId xmlns:a16="http://schemas.microsoft.com/office/drawing/2014/main" id="{5C4679D7-CE0F-4363-866D-C8ACB04CDCDA}"/>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A fair test uses examples the model did not train on</a:t>
            </a:r>
          </a:p>
        </p:txBody>
      </p:sp>
      <p:sp>
        <p:nvSpPr>
          <p:cNvPr id="3" name="">
            <a:extLst xmlns:a="http://schemas.openxmlformats.org/drawingml/2006/main">
              <a:ext uri="{FF2B5EF4-FFF2-40B4-BE49-F238E27FC236}">
                <a16:creationId xmlns:a16="http://schemas.microsoft.com/office/drawing/2014/main" id="{DFF36668-F394-4C77-8092-27DC84B1F106}"/>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C74A1-138A-4864-B703-59D5CB8AD966}"/>
              </a:ext>
            </a:extLst>
          </p:cNvPr>
          <p:cNvSpPr>
            <a:spLocks xmlns:a="http://schemas.openxmlformats.org/drawingml/2006/main" noGrp="1"/>
          </p:cNvSpPr>
          <p:nvPr/>
        </p:nvSpPr>
        <p:spPr>
          <a:xfrm xmlns:a="http://schemas.openxmlformats.org/drawingml/2006/main">
            <a:off x="857250"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9D8559-C916-4D96-B0FB-150D29B5AF56}"/>
              </a:ext>
            </a:extLst>
          </p:cNvPr>
          <p:cNvSpPr>
            <a:spLocks xmlns:a="http://schemas.openxmlformats.org/drawingml/2006/main" noGrp="1"/>
          </p:cNvSpPr>
          <p:nvPr/>
        </p:nvSpPr>
        <p:spPr>
          <a:xfrm xmlns:a="http://schemas.openxmlformats.org/drawingml/2006/main">
            <a:off x="1095375"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14213D"/>
                </a:solidFill>
                <a:latin typeface="Helvetica Neue"/>
                <a:ea typeface="Helvetica Neue"/>
                <a:cs typeface="Helvetica Neue"/>
              </a:defRPr>
            </a:pPr>
            <a:r>
              <a:rPr sz="3600" b="1">
                <a:solidFill>
                  <a:srgbClr val="14213D"/>
                </a:solidFill>
                <a:latin typeface="Helvetica Neue"/>
                <a:ea typeface="Helvetica Neue"/>
                <a:cs typeface="Helvetica Neue"/>
              </a:rPr>
              <a:t>279</a:t>
            </a:r>
          </a:p>
        </p:txBody>
      </p:sp>
      <p:sp>
        <p:nvSpPr>
          <p:cNvPr id="6" name="">
            <a:extLst xmlns:a="http://schemas.openxmlformats.org/drawingml/2006/main">
              <a:ext uri="{FF2B5EF4-FFF2-40B4-BE49-F238E27FC236}">
                <a16:creationId xmlns:a16="http://schemas.microsoft.com/office/drawing/2014/main" id="{E304D111-67F6-4FCB-B3E5-9C4AADA0AB0C}"/>
              </a:ext>
            </a:extLst>
          </p:cNvPr>
          <p:cNvSpPr>
            <a:spLocks xmlns:a="http://schemas.openxmlformats.org/drawingml/2006/main" noGrp="1"/>
          </p:cNvSpPr>
          <p:nvPr/>
        </p:nvSpPr>
        <p:spPr>
          <a:xfrm xmlns:a="http://schemas.openxmlformats.org/drawingml/2006/main">
            <a:off x="1095375"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internal examples</a:t>
            </a:r>
          </a:p>
        </p:txBody>
      </p:sp>
      <p:sp>
        <p:nvSpPr>
          <p:cNvPr id="7" name="">
            <a:extLst xmlns:a="http://schemas.openxmlformats.org/drawingml/2006/main">
              <a:ext uri="{FF2B5EF4-FFF2-40B4-BE49-F238E27FC236}">
                <a16:creationId xmlns:a16="http://schemas.microsoft.com/office/drawing/2014/main" id="{4B21332F-9585-4CA5-B9A8-898DD2836F7A}"/>
              </a:ext>
            </a:extLst>
          </p:cNvPr>
          <p:cNvSpPr>
            <a:spLocks xmlns:a="http://schemas.openxmlformats.org/drawingml/2006/main" noGrp="1"/>
          </p:cNvSpPr>
          <p:nvPr/>
        </p:nvSpPr>
        <p:spPr>
          <a:xfrm xmlns:a="http://schemas.openxmlformats.org/drawingml/2006/main">
            <a:off x="4905375"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2ECFF3-A761-4CFD-AE3A-5AA8EE1B9B85}"/>
              </a:ext>
            </a:extLst>
          </p:cNvPr>
          <p:cNvSpPr>
            <a:spLocks xmlns:a="http://schemas.openxmlformats.org/drawingml/2006/main" noGrp="1"/>
          </p:cNvSpPr>
          <p:nvPr/>
        </p:nvSpPr>
        <p:spPr>
          <a:xfrm xmlns:a="http://schemas.openxmlformats.org/drawingml/2006/main">
            <a:off x="5143500"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2864DC"/>
                </a:solidFill>
                <a:latin typeface="Helvetica Neue"/>
                <a:ea typeface="Helvetica Neue"/>
                <a:cs typeface="Helvetica Neue"/>
              </a:defRPr>
            </a:pPr>
            <a:r>
              <a:rPr sz="3600" b="1">
                <a:solidFill>
                  <a:srgbClr val="2864DC"/>
                </a:solidFill>
                <a:latin typeface="Helvetica Neue"/>
                <a:ea typeface="Helvetica Neue"/>
                <a:cs typeface="Helvetica Neue"/>
              </a:rPr>
              <a:t>70</a:t>
            </a:r>
          </a:p>
        </p:txBody>
      </p:sp>
      <p:sp>
        <p:nvSpPr>
          <p:cNvPr id="9" name="">
            <a:extLst xmlns:a="http://schemas.openxmlformats.org/drawingml/2006/main">
              <a:ext uri="{FF2B5EF4-FFF2-40B4-BE49-F238E27FC236}">
                <a16:creationId xmlns:a16="http://schemas.microsoft.com/office/drawing/2014/main" id="{D31354C0-0825-4D6E-977A-D412AF0DE645}"/>
              </a:ext>
            </a:extLst>
          </p:cNvPr>
          <p:cNvSpPr>
            <a:spLocks xmlns:a="http://schemas.openxmlformats.org/drawingml/2006/main" noGrp="1"/>
          </p:cNvSpPr>
          <p:nvPr/>
        </p:nvSpPr>
        <p:spPr>
          <a:xfrm xmlns:a="http://schemas.openxmlformats.org/drawingml/2006/main">
            <a:off x="5143500"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held-out examples</a:t>
            </a:r>
          </a:p>
        </p:txBody>
      </p:sp>
      <p:sp>
        <p:nvSpPr>
          <p:cNvPr id="10" name="">
            <a:extLst xmlns:a="http://schemas.openxmlformats.org/drawingml/2006/main">
              <a:ext uri="{FF2B5EF4-FFF2-40B4-BE49-F238E27FC236}">
                <a16:creationId xmlns:a16="http://schemas.microsoft.com/office/drawing/2014/main" id="{28A3FE17-46DC-49DB-869A-AA1A9435EDF6}"/>
              </a:ext>
            </a:extLst>
          </p:cNvPr>
          <p:cNvSpPr>
            <a:spLocks xmlns:a="http://schemas.openxmlformats.org/drawingml/2006/main" noGrp="1"/>
          </p:cNvSpPr>
          <p:nvPr/>
        </p:nvSpPr>
        <p:spPr>
          <a:xfrm xmlns:a="http://schemas.openxmlformats.org/drawingml/2006/main">
            <a:off x="8953500" y="2143125"/>
            <a:ext cx="23812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453856-A73D-45C3-A450-915E2E7FA5C1}"/>
              </a:ext>
            </a:extLst>
          </p:cNvPr>
          <p:cNvSpPr>
            <a:spLocks xmlns:a="http://schemas.openxmlformats.org/drawingml/2006/main" noGrp="1"/>
          </p:cNvSpPr>
          <p:nvPr/>
        </p:nvSpPr>
        <p:spPr>
          <a:xfrm xmlns:a="http://schemas.openxmlformats.org/drawingml/2006/main">
            <a:off x="9191625" y="2362200"/>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00"/>
          </a:bodyPr>
          <a:lstStyle xmlns:a="http://schemas.openxmlformats.org/drawingml/2006/main"/>
          <a:p xmlns:a="http://schemas.openxmlformats.org/drawingml/2006/main">
            <a:pPr algn="ctr">
              <a:defRPr sz="3600" b="1">
                <a:solidFill>
                  <a:srgbClr val="E76F51"/>
                </a:solidFill>
                <a:latin typeface="Helvetica Neue"/>
                <a:ea typeface="Helvetica Neue"/>
                <a:cs typeface="Helvetica Neue"/>
              </a:defRPr>
            </a:pPr>
            <a:r>
              <a:rPr sz="3600" b="1">
                <a:solidFill>
                  <a:srgbClr val="E76F51"/>
                </a:solidFill>
                <a:latin typeface="Helvetica Neue"/>
                <a:ea typeface="Helvetica Neue"/>
                <a:cs typeface="Helvetica Neue"/>
              </a:rPr>
              <a:t>19</a:t>
            </a:r>
          </a:p>
        </p:txBody>
      </p:sp>
      <p:sp>
        <p:nvSpPr>
          <p:cNvPr id="12" name="">
            <a:extLst xmlns:a="http://schemas.openxmlformats.org/drawingml/2006/main">
              <a:ext uri="{FF2B5EF4-FFF2-40B4-BE49-F238E27FC236}">
                <a16:creationId xmlns:a16="http://schemas.microsoft.com/office/drawing/2014/main" id="{00FE40E2-B1C1-400B-AC37-0BFE135351D0}"/>
              </a:ext>
            </a:extLst>
          </p:cNvPr>
          <p:cNvSpPr>
            <a:spLocks xmlns:a="http://schemas.openxmlformats.org/drawingml/2006/main" noGrp="1"/>
          </p:cNvSpPr>
          <p:nvPr/>
        </p:nvSpPr>
        <p:spPr>
          <a:xfrm xmlns:a="http://schemas.openxmlformats.org/drawingml/2006/main">
            <a:off x="9191625" y="2971800"/>
            <a:ext cx="190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80"/>
          </a:bodyPr>
          <a:lstStyle xmlns:a="http://schemas.openxmlformats.org/drawingml/2006/main"/>
          <a:p xmlns:a="http://schemas.openxmlformats.org/drawingml/2006/main">
            <a:pPr algn="ctr">
              <a:defRPr sz="1350" b="1">
                <a:solidFill>
                  <a:srgbClr val="5E6775"/>
                </a:solidFill>
                <a:latin typeface="Helvetica Neue"/>
                <a:ea typeface="Helvetica Neue"/>
                <a:cs typeface="Helvetica Neue"/>
              </a:defRPr>
            </a:pPr>
            <a:r>
              <a:rPr sz="1350" b="1">
                <a:solidFill>
                  <a:srgbClr val="5E6775"/>
                </a:solidFill>
                <a:latin typeface="Helvetica Neue"/>
                <a:ea typeface="Helvetica Neue"/>
                <a:cs typeface="Helvetica Neue"/>
              </a:rPr>
              <a:t>separate pull requests</a:t>
            </a:r>
          </a:p>
        </p:txBody>
      </p:sp>
      <p:sp>
        <p:nvSpPr>
          <p:cNvPr id="13" name="">
            <a:extLst xmlns:a="http://schemas.openxmlformats.org/drawingml/2006/main">
              <a:ext uri="{FF2B5EF4-FFF2-40B4-BE49-F238E27FC236}">
                <a16:creationId xmlns:a16="http://schemas.microsoft.com/office/drawing/2014/main" id="{EF00A2B1-8B3D-4D05-AE66-C3202D8633B8}"/>
              </a:ext>
            </a:extLst>
          </p:cNvPr>
          <p:cNvSpPr>
            <a:spLocks xmlns:a="http://schemas.openxmlformats.org/drawingml/2006/main" noGrp="1"/>
          </p:cNvSpPr>
          <p:nvPr/>
        </p:nvSpPr>
        <p:spPr>
          <a:xfrm xmlns:a="http://schemas.openxmlformats.org/drawingml/2006/main">
            <a:off x="3238500" y="3124200"/>
            <a:ext cx="1666875" cy="476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664AC8-903B-478A-92DF-33682E8295E3}"/>
              </a:ext>
            </a:extLst>
          </p:cNvPr>
          <p:cNvSpPr>
            <a:spLocks xmlns:a="http://schemas.openxmlformats.org/drawingml/2006/main" noGrp="1"/>
          </p:cNvSpPr>
          <p:nvPr/>
        </p:nvSpPr>
        <p:spPr>
          <a:xfrm xmlns:a="http://schemas.openxmlformats.org/drawingml/2006/main">
            <a:off x="7286625" y="3124200"/>
            <a:ext cx="1666875" cy="47625"/>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F14A26A-1FC2-4E9B-A205-4BCFF54AD272}"/>
              </a:ext>
            </a:extLst>
          </p:cNvPr>
          <p:cNvSpPr>
            <a:spLocks xmlns:a="http://schemas.openxmlformats.org/drawingml/2006/main" noGrp="1"/>
          </p:cNvSpPr>
          <p:nvPr/>
        </p:nvSpPr>
        <p:spPr>
          <a:xfrm xmlns:a="http://schemas.openxmlformats.org/drawingml/2006/main">
            <a:off x="1562100" y="47625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The split keeps examples from the same pull request together.</a:t>
            </a:r>
          </a:p>
        </p:txBody>
      </p:sp>
      <p:sp>
        <p:nvSpPr>
          <p:cNvPr id="16" name="">
            <a:extLst xmlns:a="http://schemas.openxmlformats.org/drawingml/2006/main">
              <a:ext uri="{FF2B5EF4-FFF2-40B4-BE49-F238E27FC236}">
                <a16:creationId xmlns:a16="http://schemas.microsoft.com/office/drawing/2014/main" id="{5CDCB68C-AF47-4B7C-ADE4-31784A6C76EF}"/>
              </a:ext>
            </a:extLst>
          </p:cNvPr>
          <p:cNvSpPr>
            <a:spLocks xmlns:a="http://schemas.openxmlformats.org/drawingml/2006/main" noGrp="1"/>
          </p:cNvSpPr>
          <p:nvPr/>
        </p:nvSpPr>
        <p:spPr>
          <a:xfrm xmlns:a="http://schemas.openxmlformats.org/drawingml/2006/main">
            <a:off x="1562100" y="542925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E76F51"/>
                </a:solidFill>
                <a:latin typeface="Helvetica Neue"/>
                <a:ea typeface="Helvetica Neue"/>
                <a:cs typeface="Helvetica Neue"/>
              </a:defRPr>
            </a:pPr>
            <a:r>
              <a:rPr sz="1350" b="1">
                <a:solidFill>
                  <a:srgbClr val="E76F51"/>
                </a:solidFill>
                <a:latin typeface="Helvetica Neue"/>
                <a:ea typeface="Helvetica Neue"/>
                <a:cs typeface="Helvetica Neue"/>
              </a:rPr>
              <a:t>Caveat: reference percentages are LLM-assisted weak labels, not a completed human gold standard.</a:t>
            </a:r>
          </a:p>
        </p:txBody>
      </p:sp>
      <p:sp>
        <p:nvSpPr>
          <p:cNvPr id="17" name="">
            <a:extLst xmlns:a="http://schemas.openxmlformats.org/drawingml/2006/main">
              <a:ext uri="{FF2B5EF4-FFF2-40B4-BE49-F238E27FC236}">
                <a16:creationId xmlns:a16="http://schemas.microsoft.com/office/drawing/2014/main" id="{E4968839-4BDF-40EB-95EB-F49AA9E3509F}"/>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03</a:t>
            </a:r>
          </a:p>
        </p:txBody>
      </p:sp>
    </p:spTree>
    <p:extLst>
      <p:ext uri="{BB962C8B-B14F-4D97-AF65-F5344CB8AC3E}">
        <p14:creationId xmlns:p14="http://schemas.microsoft.com/office/powerpoint/2010/main" val="1567484183"/>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DAF649C-5E2B-414D-B864-E8F8DBEB948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METHOD 1</a:t>
            </a:r>
          </a:p>
        </p:txBody>
      </p:sp>
      <p:sp>
        <p:nvSpPr>
          <p:cNvPr id="2" name="">
            <a:extLst xmlns:a="http://schemas.openxmlformats.org/drawingml/2006/main">
              <a:ext uri="{FF2B5EF4-FFF2-40B4-BE49-F238E27FC236}">
                <a16:creationId xmlns:a16="http://schemas.microsoft.com/office/drawing/2014/main" id="{B79A56C5-68F6-46C4-A8B2-55621382E215}"/>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Rudimentary exact changed-line recall</a:t>
            </a:r>
          </a:p>
        </p:txBody>
      </p:sp>
      <p:sp>
        <p:nvSpPr>
          <p:cNvPr id="3" name="">
            <a:extLst xmlns:a="http://schemas.openxmlformats.org/drawingml/2006/main">
              <a:ext uri="{FF2B5EF4-FFF2-40B4-BE49-F238E27FC236}">
                <a16:creationId xmlns:a16="http://schemas.microsoft.com/office/drawing/2014/main" id="{306A00DB-1C17-47D1-8D3F-E9223EE75EFB}"/>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Fast, deterministic, and intentionally strict.</a:t>
            </a:r>
          </a:p>
        </p:txBody>
      </p:sp>
      <p:sp>
        <p:nvSpPr>
          <p:cNvPr id="4" name="">
            <a:extLst xmlns:a="http://schemas.openxmlformats.org/drawingml/2006/main">
              <a:ext uri="{FF2B5EF4-FFF2-40B4-BE49-F238E27FC236}">
                <a16:creationId xmlns:a16="http://schemas.microsoft.com/office/drawing/2014/main" id="{C7A0D398-78A5-401A-BA26-179A271367E1}"/>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E9B8C0-9EF8-4ED9-9BA4-BBC34A3E7C67}"/>
              </a:ext>
            </a:extLst>
          </p:cNvPr>
          <p:cNvSpPr>
            <a:spLocks xmlns:a="http://schemas.openxmlformats.org/drawingml/2006/main" noGrp="1"/>
          </p:cNvSpPr>
          <p:nvPr/>
        </p:nvSpPr>
        <p:spPr>
          <a:xfrm xmlns:a="http://schemas.openxmlformats.org/drawingml/2006/main">
            <a:off x="714375" y="2190750"/>
            <a:ext cx="2381250" cy="2000250"/>
          </a:xfrm>
          <a:prstGeom xmlns:a="http://schemas.openxmlformats.org/drawingml/2006/main" prst="roundRect">
            <a:avLst>
              <a:gd name="adj" fmla="val 3810"/>
            </a:avLst>
          </a:prstGeom>
          <a:solidFill xmlns:a="http://schemas.openxmlformats.org/drawingml/2006/main">
            <a:srgbClr val="F6F0E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5A2FAD-D879-4BB1-BCD0-6DBB2F2D9988}"/>
              </a:ext>
            </a:extLst>
          </p:cNvPr>
          <p:cNvSpPr>
            <a:spLocks xmlns:a="http://schemas.openxmlformats.org/drawingml/2006/main" noGrp="1"/>
          </p:cNvSpPr>
          <p:nvPr/>
        </p:nvSpPr>
        <p:spPr>
          <a:xfrm xmlns:a="http://schemas.openxmlformats.org/drawingml/2006/main">
            <a:off x="904875" y="2381250"/>
            <a:ext cx="361950" cy="323850"/>
          </a:xfrm>
          <a:prstGeom xmlns:a="http://schemas.openxmlformats.org/drawingml/2006/main" prst="roundRect">
            <a:avLst>
              <a:gd name="adj" fmla="val 23529"/>
            </a:avLst>
          </a:prstGeom>
          <a:solidFill xmlns:a="http://schemas.openxmlformats.org/drawingml/2006/main">
            <a:srgbClr val="2864D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E1990A-C2B4-40DE-8933-CE45CEF76DDA}"/>
              </a:ext>
            </a:extLst>
          </p:cNvPr>
          <p:cNvSpPr>
            <a:spLocks xmlns:a="http://schemas.openxmlformats.org/drawingml/2006/main" noGrp="1"/>
          </p:cNvSpPr>
          <p:nvPr/>
        </p:nvSpPr>
        <p:spPr>
          <a:xfrm xmlns:a="http://schemas.openxmlformats.org/drawingml/2006/main">
            <a:off x="1000125" y="2400300"/>
            <a:ext cx="171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BB8E792C-B0DA-4A09-8ED1-A688FC3F576C}"/>
              </a:ext>
            </a:extLst>
          </p:cNvPr>
          <p:cNvSpPr>
            <a:spLocks xmlns:a="http://schemas.openxmlformats.org/drawingml/2006/main" noGrp="1"/>
          </p:cNvSpPr>
          <p:nvPr/>
        </p:nvSpPr>
        <p:spPr>
          <a:xfrm xmlns:a="http://schemas.openxmlformats.org/drawingml/2006/main">
            <a:off x="904875" y="28765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Parse</a:t>
            </a:r>
          </a:p>
        </p:txBody>
      </p:sp>
      <p:sp>
        <p:nvSpPr>
          <p:cNvPr id="9" name="">
            <a:extLst xmlns:a="http://schemas.openxmlformats.org/drawingml/2006/main">
              <a:ext uri="{FF2B5EF4-FFF2-40B4-BE49-F238E27FC236}">
                <a16:creationId xmlns:a16="http://schemas.microsoft.com/office/drawing/2014/main" id="{AF138294-D8B9-43CA-998D-AFA8FFE0C5C0}"/>
              </a:ext>
            </a:extLst>
          </p:cNvPr>
          <p:cNvSpPr>
            <a:spLocks xmlns:a="http://schemas.openxmlformats.org/drawingml/2006/main" noGrp="1"/>
          </p:cNvSpPr>
          <p:nvPr/>
        </p:nvSpPr>
        <p:spPr>
          <a:xfrm xmlns:a="http://schemas.openxmlformats.org/drawingml/2006/main">
            <a:off x="904875" y="33147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Read changed lines from both diffs</a:t>
            </a:r>
          </a:p>
        </p:txBody>
      </p:sp>
      <p:sp>
        <p:nvSpPr>
          <p:cNvPr id="10" name="">
            <a:extLst xmlns:a="http://schemas.openxmlformats.org/drawingml/2006/main">
              <a:ext uri="{FF2B5EF4-FFF2-40B4-BE49-F238E27FC236}">
                <a16:creationId xmlns:a16="http://schemas.microsoft.com/office/drawing/2014/main" id="{67F6213C-F62E-4DDA-AE6C-9A2901435E26}"/>
              </a:ext>
            </a:extLst>
          </p:cNvPr>
          <p:cNvSpPr>
            <a:spLocks xmlns:a="http://schemas.openxmlformats.org/drawingml/2006/main" noGrp="1"/>
          </p:cNvSpPr>
          <p:nvPr/>
        </p:nvSpPr>
        <p:spPr>
          <a:xfrm xmlns:a="http://schemas.openxmlformats.org/drawingml/2006/main">
            <a:off x="3171825" y="285750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5516"/>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58E4F50F-645B-4F02-8352-9D998CCADC71}"/>
              </a:ext>
            </a:extLst>
          </p:cNvPr>
          <p:cNvSpPr>
            <a:spLocks xmlns:a="http://schemas.openxmlformats.org/drawingml/2006/main" noGrp="1"/>
          </p:cNvSpPr>
          <p:nvPr/>
        </p:nvSpPr>
        <p:spPr>
          <a:xfrm xmlns:a="http://schemas.openxmlformats.org/drawingml/2006/main">
            <a:off x="3571875" y="2190750"/>
            <a:ext cx="2381250" cy="2000250"/>
          </a:xfrm>
          <a:prstGeom xmlns:a="http://schemas.openxmlformats.org/drawingml/2006/main" prst="roundRect">
            <a:avLst>
              <a:gd name="adj" fmla="val 3810"/>
            </a:avLst>
          </a:prstGeom>
          <a:solidFill xmlns:a="http://schemas.openxmlformats.org/drawingml/2006/main">
            <a:srgbClr val="F6F0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ABC31BB-D347-418D-A68F-5B2217DFF611}"/>
              </a:ext>
            </a:extLst>
          </p:cNvPr>
          <p:cNvSpPr>
            <a:spLocks xmlns:a="http://schemas.openxmlformats.org/drawingml/2006/main" noGrp="1"/>
          </p:cNvSpPr>
          <p:nvPr/>
        </p:nvSpPr>
        <p:spPr>
          <a:xfrm xmlns:a="http://schemas.openxmlformats.org/drawingml/2006/main">
            <a:off x="3762375" y="2381250"/>
            <a:ext cx="361950" cy="323850"/>
          </a:xfrm>
          <a:prstGeom xmlns:a="http://schemas.openxmlformats.org/drawingml/2006/main" prst="roundRect">
            <a:avLst>
              <a:gd name="adj" fmla="val 23529"/>
            </a:avLst>
          </a:prstGeom>
          <a:solidFill xmlns:a="http://schemas.openxmlformats.org/drawingml/2006/main">
            <a:srgbClr val="2864D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244B9C-D65E-4806-8300-CDBF272BD5FF}"/>
              </a:ext>
            </a:extLst>
          </p:cNvPr>
          <p:cNvSpPr>
            <a:spLocks xmlns:a="http://schemas.openxmlformats.org/drawingml/2006/main" noGrp="1"/>
          </p:cNvSpPr>
          <p:nvPr/>
        </p:nvSpPr>
        <p:spPr>
          <a:xfrm xmlns:a="http://schemas.openxmlformats.org/drawingml/2006/main">
            <a:off x="3857625" y="2400300"/>
            <a:ext cx="171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3A93C9BF-DB53-4A4A-874B-4341CCCB0A43}"/>
              </a:ext>
            </a:extLst>
          </p:cNvPr>
          <p:cNvSpPr>
            <a:spLocks xmlns:a="http://schemas.openxmlformats.org/drawingml/2006/main" noGrp="1"/>
          </p:cNvSpPr>
          <p:nvPr/>
        </p:nvSpPr>
        <p:spPr>
          <a:xfrm xmlns:a="http://schemas.openxmlformats.org/drawingml/2006/main">
            <a:off x="3762375" y="28765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Fingerprint</a:t>
            </a:r>
          </a:p>
        </p:txBody>
      </p:sp>
      <p:sp>
        <p:nvSpPr>
          <p:cNvPr id="15" name="">
            <a:extLst xmlns:a="http://schemas.openxmlformats.org/drawingml/2006/main">
              <a:ext uri="{FF2B5EF4-FFF2-40B4-BE49-F238E27FC236}">
                <a16:creationId xmlns:a16="http://schemas.microsoft.com/office/drawing/2014/main" id="{5AF1A04A-CBF2-4DC4-B1B7-11119D7A8039}"/>
              </a:ext>
            </a:extLst>
          </p:cNvPr>
          <p:cNvSpPr>
            <a:spLocks xmlns:a="http://schemas.openxmlformats.org/drawingml/2006/main" noGrp="1"/>
          </p:cNvSpPr>
          <p:nvPr/>
        </p:nvSpPr>
        <p:spPr>
          <a:xfrm xmlns:a="http://schemas.openxmlformats.org/drawingml/2006/main">
            <a:off x="3762375" y="33147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Path + add/remove + line text</a:t>
            </a:r>
          </a:p>
        </p:txBody>
      </p:sp>
      <p:sp>
        <p:nvSpPr>
          <p:cNvPr id="16" name="">
            <a:extLst xmlns:a="http://schemas.openxmlformats.org/drawingml/2006/main">
              <a:ext uri="{FF2B5EF4-FFF2-40B4-BE49-F238E27FC236}">
                <a16:creationId xmlns:a16="http://schemas.microsoft.com/office/drawing/2014/main" id="{049FAF07-B102-4C3D-AB36-C08229F32861}"/>
              </a:ext>
            </a:extLst>
          </p:cNvPr>
          <p:cNvSpPr>
            <a:spLocks xmlns:a="http://schemas.openxmlformats.org/drawingml/2006/main" noGrp="1"/>
          </p:cNvSpPr>
          <p:nvPr/>
        </p:nvSpPr>
        <p:spPr>
          <a:xfrm xmlns:a="http://schemas.openxmlformats.org/drawingml/2006/main">
            <a:off x="6029325" y="285750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5516"/>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76AA08EF-6F2A-48C7-8646-6C23B54A880B}"/>
              </a:ext>
            </a:extLst>
          </p:cNvPr>
          <p:cNvSpPr>
            <a:spLocks xmlns:a="http://schemas.openxmlformats.org/drawingml/2006/main" noGrp="1"/>
          </p:cNvSpPr>
          <p:nvPr/>
        </p:nvSpPr>
        <p:spPr>
          <a:xfrm xmlns:a="http://schemas.openxmlformats.org/drawingml/2006/main">
            <a:off x="6429375" y="2190750"/>
            <a:ext cx="2381250" cy="2000250"/>
          </a:xfrm>
          <a:prstGeom xmlns:a="http://schemas.openxmlformats.org/drawingml/2006/main" prst="roundRect">
            <a:avLst>
              <a:gd name="adj" fmla="val 3810"/>
            </a:avLst>
          </a:prstGeom>
          <a:solidFill xmlns:a="http://schemas.openxmlformats.org/drawingml/2006/main">
            <a:srgbClr val="F6F0E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1DDA48D-4498-4B22-979C-FC2F40919EFE}"/>
              </a:ext>
            </a:extLst>
          </p:cNvPr>
          <p:cNvSpPr>
            <a:spLocks xmlns:a="http://schemas.openxmlformats.org/drawingml/2006/main" noGrp="1"/>
          </p:cNvSpPr>
          <p:nvPr/>
        </p:nvSpPr>
        <p:spPr>
          <a:xfrm xmlns:a="http://schemas.openxmlformats.org/drawingml/2006/main">
            <a:off x="6619875" y="2381250"/>
            <a:ext cx="361950" cy="323850"/>
          </a:xfrm>
          <a:prstGeom xmlns:a="http://schemas.openxmlformats.org/drawingml/2006/main" prst="roundRect">
            <a:avLst>
              <a:gd name="adj" fmla="val 23529"/>
            </a:avLst>
          </a:prstGeom>
          <a:solidFill xmlns:a="http://schemas.openxmlformats.org/drawingml/2006/main">
            <a:srgbClr val="2864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2474BF3-507F-4823-9053-84ABC30BFDE5}"/>
              </a:ext>
            </a:extLst>
          </p:cNvPr>
          <p:cNvSpPr>
            <a:spLocks xmlns:a="http://schemas.openxmlformats.org/drawingml/2006/main" noGrp="1"/>
          </p:cNvSpPr>
          <p:nvPr/>
        </p:nvSpPr>
        <p:spPr>
          <a:xfrm xmlns:a="http://schemas.openxmlformats.org/drawingml/2006/main">
            <a:off x="6715125" y="2400300"/>
            <a:ext cx="171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BA475AFC-9728-43F9-B82B-CE76EBC8EF80}"/>
              </a:ext>
            </a:extLst>
          </p:cNvPr>
          <p:cNvSpPr>
            <a:spLocks xmlns:a="http://schemas.openxmlformats.org/drawingml/2006/main" noGrp="1"/>
          </p:cNvSpPr>
          <p:nvPr/>
        </p:nvSpPr>
        <p:spPr>
          <a:xfrm xmlns:a="http://schemas.openxmlformats.org/drawingml/2006/main">
            <a:off x="6619875" y="28765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Count</a:t>
            </a:r>
          </a:p>
        </p:txBody>
      </p:sp>
      <p:sp>
        <p:nvSpPr>
          <p:cNvPr id="21" name="">
            <a:extLst xmlns:a="http://schemas.openxmlformats.org/drawingml/2006/main">
              <a:ext uri="{FF2B5EF4-FFF2-40B4-BE49-F238E27FC236}">
                <a16:creationId xmlns:a16="http://schemas.microsoft.com/office/drawing/2014/main" id="{CA8D8D1F-D7B9-4283-BD9C-5E7C286C5C77}"/>
              </a:ext>
            </a:extLst>
          </p:cNvPr>
          <p:cNvSpPr>
            <a:spLocks xmlns:a="http://schemas.openxmlformats.org/drawingml/2006/main" noGrp="1"/>
          </p:cNvSpPr>
          <p:nvPr/>
        </p:nvSpPr>
        <p:spPr>
          <a:xfrm xmlns:a="http://schemas.openxmlformats.org/drawingml/2006/main">
            <a:off x="6619875" y="33147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Match repeated occurrences</a:t>
            </a:r>
          </a:p>
        </p:txBody>
      </p:sp>
      <p:sp>
        <p:nvSpPr>
          <p:cNvPr id="22" name="">
            <a:extLst xmlns:a="http://schemas.openxmlformats.org/drawingml/2006/main">
              <a:ext uri="{FF2B5EF4-FFF2-40B4-BE49-F238E27FC236}">
                <a16:creationId xmlns:a16="http://schemas.microsoft.com/office/drawing/2014/main" id="{FC47E409-D786-400B-BFFA-BDAD43972E16}"/>
              </a:ext>
            </a:extLst>
          </p:cNvPr>
          <p:cNvSpPr>
            <a:spLocks xmlns:a="http://schemas.openxmlformats.org/drawingml/2006/main" noGrp="1"/>
          </p:cNvSpPr>
          <p:nvPr/>
        </p:nvSpPr>
        <p:spPr>
          <a:xfrm xmlns:a="http://schemas.openxmlformats.org/drawingml/2006/main">
            <a:off x="8886825" y="285750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5516"/>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2A2C0417-B6AF-4E41-ACAA-4F25F9B975F8}"/>
              </a:ext>
            </a:extLst>
          </p:cNvPr>
          <p:cNvSpPr>
            <a:spLocks xmlns:a="http://schemas.openxmlformats.org/drawingml/2006/main" noGrp="1"/>
          </p:cNvSpPr>
          <p:nvPr/>
        </p:nvSpPr>
        <p:spPr>
          <a:xfrm xmlns:a="http://schemas.openxmlformats.org/drawingml/2006/main">
            <a:off x="9286875" y="2190750"/>
            <a:ext cx="2381250" cy="2000250"/>
          </a:xfrm>
          <a:prstGeom xmlns:a="http://schemas.openxmlformats.org/drawingml/2006/main" prst="roundRect">
            <a:avLst>
              <a:gd name="adj" fmla="val 3810"/>
            </a:avLst>
          </a:prstGeom>
          <a:solidFill xmlns:a="http://schemas.openxmlformats.org/drawingml/2006/main">
            <a:srgbClr val="F9DDD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134FCC-E5E4-4AEF-AED2-3B172EA2FC9C}"/>
              </a:ext>
            </a:extLst>
          </p:cNvPr>
          <p:cNvSpPr>
            <a:spLocks xmlns:a="http://schemas.openxmlformats.org/drawingml/2006/main" noGrp="1"/>
          </p:cNvSpPr>
          <p:nvPr/>
        </p:nvSpPr>
        <p:spPr>
          <a:xfrm xmlns:a="http://schemas.openxmlformats.org/drawingml/2006/main">
            <a:off x="9477375" y="2381250"/>
            <a:ext cx="361950" cy="323850"/>
          </a:xfrm>
          <a:prstGeom xmlns:a="http://schemas.openxmlformats.org/drawingml/2006/main" prst="roundRect">
            <a:avLst>
              <a:gd name="adj" fmla="val 23529"/>
            </a:avLst>
          </a:prstGeom>
          <a:solidFill xmlns:a="http://schemas.openxmlformats.org/drawingml/2006/main">
            <a:srgbClr val="E76F5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0818F4E-304F-4B0C-81D5-B80454F6B12A}"/>
              </a:ext>
            </a:extLst>
          </p:cNvPr>
          <p:cNvSpPr>
            <a:spLocks xmlns:a="http://schemas.openxmlformats.org/drawingml/2006/main" noGrp="1"/>
          </p:cNvSpPr>
          <p:nvPr/>
        </p:nvSpPr>
        <p:spPr>
          <a:xfrm xmlns:a="http://schemas.openxmlformats.org/drawingml/2006/main">
            <a:off x="9572625" y="2400300"/>
            <a:ext cx="171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92E1B26B-A1FA-41FE-B8C0-5F8BFE88914F}"/>
              </a:ext>
            </a:extLst>
          </p:cNvPr>
          <p:cNvSpPr>
            <a:spLocks xmlns:a="http://schemas.openxmlformats.org/drawingml/2006/main" noGrp="1"/>
          </p:cNvSpPr>
          <p:nvPr/>
        </p:nvSpPr>
        <p:spPr>
          <a:xfrm xmlns:a="http://schemas.openxmlformats.org/drawingml/2006/main">
            <a:off x="9477375" y="28765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l">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Divide</a:t>
            </a:r>
          </a:p>
        </p:txBody>
      </p:sp>
      <p:sp>
        <p:nvSpPr>
          <p:cNvPr id="27" name="">
            <a:extLst xmlns:a="http://schemas.openxmlformats.org/drawingml/2006/main">
              <a:ext uri="{FF2B5EF4-FFF2-40B4-BE49-F238E27FC236}">
                <a16:creationId xmlns:a16="http://schemas.microsoft.com/office/drawing/2014/main" id="{4FA8F331-CCB1-428E-BD5A-B53AEA20A2EF}"/>
              </a:ext>
            </a:extLst>
          </p:cNvPr>
          <p:cNvSpPr>
            <a:spLocks xmlns:a="http://schemas.openxmlformats.org/drawingml/2006/main" noGrp="1"/>
          </p:cNvSpPr>
          <p:nvPr/>
        </p:nvSpPr>
        <p:spPr>
          <a:xfrm xmlns:a="http://schemas.openxmlformats.org/drawingml/2006/main">
            <a:off x="9477375" y="33147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26"/>
          </a:bodyPr>
          <a:lstStyle xmlns:a="http://schemas.openxmlformats.org/drawingml/2006/main"/>
          <a:p xmlns:a="http://schemas.openxmlformats.org/drawingml/2006/main">
            <a:pPr algn="l">
              <a:defRPr sz="1275" b="0">
                <a:solidFill>
                  <a:srgbClr val="5E6775"/>
                </a:solidFill>
                <a:latin typeface="Helvetica Neue"/>
                <a:ea typeface="Helvetica Neue"/>
                <a:cs typeface="Helvetica Neue"/>
              </a:defRPr>
            </a:pPr>
            <a:r>
              <a:rPr sz="1275" b="0">
                <a:solidFill>
                  <a:srgbClr val="5E6775"/>
                </a:solidFill>
                <a:latin typeface="Helvetica Neue"/>
                <a:ea typeface="Helvetica Neue"/>
                <a:cs typeface="Helvetica Neue"/>
              </a:rPr>
              <a:t>Matched suggestion lines / all suggestion lines</a:t>
            </a:r>
          </a:p>
        </p:txBody>
      </p:sp>
      <p:sp>
        <p:nvSpPr>
          <p:cNvPr id="28" name="">
            <a:extLst xmlns:a="http://schemas.openxmlformats.org/drawingml/2006/main">
              <a:ext uri="{FF2B5EF4-FFF2-40B4-BE49-F238E27FC236}">
                <a16:creationId xmlns:a16="http://schemas.microsoft.com/office/drawing/2014/main" id="{74723AFF-13BC-42AB-B68B-9245505AE924}"/>
              </a:ext>
            </a:extLst>
          </p:cNvPr>
          <p:cNvSpPr>
            <a:spLocks xmlns:a="http://schemas.openxmlformats.org/drawingml/2006/main" noGrp="1"/>
          </p:cNvSpPr>
          <p:nvPr/>
        </p:nvSpPr>
        <p:spPr>
          <a:xfrm xmlns:a="http://schemas.openxmlformats.org/drawingml/2006/main">
            <a:off x="762000" y="4762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WHAT IT RECOGNIZES</a:t>
            </a:r>
          </a:p>
        </p:txBody>
      </p:sp>
      <p:sp>
        <p:nvSpPr>
          <p:cNvPr id="29" name="">
            <a:extLst xmlns:a="http://schemas.openxmlformats.org/drawingml/2006/main">
              <a:ext uri="{FF2B5EF4-FFF2-40B4-BE49-F238E27FC236}">
                <a16:creationId xmlns:a16="http://schemas.microsoft.com/office/drawing/2014/main" id="{BE39E284-6C57-4A37-8068-0F7EABD57EAD}"/>
              </a:ext>
            </a:extLst>
          </p:cNvPr>
          <p:cNvSpPr>
            <a:spLocks xmlns:a="http://schemas.openxmlformats.org/drawingml/2006/main" noGrp="1"/>
          </p:cNvSpPr>
          <p:nvPr/>
        </p:nvSpPr>
        <p:spPr>
          <a:xfrm xmlns:a="http://schemas.openxmlformats.org/drawingml/2006/main">
            <a:off x="762000" y="50482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623"/>
          </a:bodyPr>
          <a:lstStyle xmlns:a="http://schemas.openxmlformats.org/drawingml/2006/main"/>
          <a:p xmlns:a="http://schemas.openxmlformats.org/drawingml/2006/main">
            <a:pPr algn="l">
              <a:defRPr sz="1800" b="1">
                <a:solidFill>
                  <a:srgbClr val="14213D"/>
                </a:solidFill>
                <a:latin typeface="Helvetica Neue"/>
                <a:ea typeface="Helvetica Neue"/>
                <a:cs typeface="Helvetica Neue"/>
              </a:defRPr>
            </a:pPr>
            <a:r>
              <a:rPr sz="1800" b="1">
                <a:solidFill>
                  <a:srgbClr val="14213D"/>
                </a:solidFill>
                <a:latin typeface="Helvetica Neue"/>
                <a:ea typeface="Helvetica Neue"/>
                <a:cs typeface="Helvetica Neue"/>
              </a:rPr>
              <a:t>Only the same changed line, in the same file, with the same operation and leading indentation.</a:t>
            </a:r>
          </a:p>
        </p:txBody>
      </p:sp>
      <p:sp>
        <p:nvSpPr>
          <p:cNvPr id="30" name="">
            <a:extLst xmlns:a="http://schemas.openxmlformats.org/drawingml/2006/main">
              <a:ext uri="{FF2B5EF4-FFF2-40B4-BE49-F238E27FC236}">
                <a16:creationId xmlns:a16="http://schemas.microsoft.com/office/drawing/2014/main" id="{FBBA7B45-1D9D-46FE-821A-3BB29B2F55EF}"/>
              </a:ext>
            </a:extLst>
          </p:cNvPr>
          <p:cNvSpPr>
            <a:spLocks xmlns:a="http://schemas.openxmlformats.org/drawingml/2006/main" noGrp="1"/>
          </p:cNvSpPr>
          <p:nvPr/>
        </p:nvSpPr>
        <p:spPr>
          <a:xfrm xmlns:a="http://schemas.openxmlformats.org/drawingml/2006/main">
            <a:off x="762000" y="59626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E6775"/>
                </a:solidFill>
                <a:latin typeface="Helvetica Neue"/>
                <a:ea typeface="Helvetica Neue"/>
                <a:cs typeface="Helvetica Neue"/>
              </a:defRPr>
            </a:pPr>
            <a:r>
              <a:rPr sz="1050" b="0">
                <a:solidFill>
                  <a:srgbClr val="5E6775"/>
                </a:solidFill>
                <a:latin typeface="Helvetica Neue"/>
                <a:ea typeface="Helvetica Neue"/>
                <a:cs typeface="Helvetica Neue"/>
              </a:rPr>
              <a:t>Production version: diff-unit-multiset-v2</a:t>
            </a:r>
          </a:p>
        </p:txBody>
      </p:sp>
      <p:sp>
        <p:nvSpPr>
          <p:cNvPr id="31" name="">
            <a:extLst xmlns:a="http://schemas.openxmlformats.org/drawingml/2006/main">
              <a:ext uri="{FF2B5EF4-FFF2-40B4-BE49-F238E27FC236}">
                <a16:creationId xmlns:a16="http://schemas.microsoft.com/office/drawing/2014/main" id="{E0F2AB12-0122-4163-A57A-C9132C7BEF10}"/>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04</a:t>
            </a:r>
          </a:p>
        </p:txBody>
      </p:sp>
    </p:spTree>
    <p:extLst>
      <p:ext uri="{BB962C8B-B14F-4D97-AF65-F5344CB8AC3E}">
        <p14:creationId xmlns:p14="http://schemas.microsoft.com/office/powerpoint/2010/main" val="1159907783"/>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8C7D63F-C0F0-4AA9-BEC6-67485C28ACA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METHOD 2</a:t>
            </a:r>
          </a:p>
        </p:txBody>
      </p:sp>
      <p:sp>
        <p:nvSpPr>
          <p:cNvPr id="2" name="">
            <a:extLst xmlns:a="http://schemas.openxmlformats.org/drawingml/2006/main">
              <a:ext uri="{FF2B5EF4-FFF2-40B4-BE49-F238E27FC236}">
                <a16:creationId xmlns:a16="http://schemas.microsoft.com/office/drawing/2014/main" id="{B2E29880-4E02-4A63-B863-66F5882C9F50}"/>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model combines many weak clues into one percentage</a:t>
            </a:r>
          </a:p>
        </p:txBody>
      </p:sp>
      <p:sp>
        <p:nvSpPr>
          <p:cNvPr id="3" name="">
            <a:extLst xmlns:a="http://schemas.openxmlformats.org/drawingml/2006/main">
              <a:ext uri="{FF2B5EF4-FFF2-40B4-BE49-F238E27FC236}">
                <a16:creationId xmlns:a16="http://schemas.microsoft.com/office/drawing/2014/main" id="{27557BA9-0031-4880-8E84-081DAC6ED7CB}"/>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Saved artifact: weighted ensemble returning one integer from 0 to 100.</a:t>
            </a:r>
          </a:p>
        </p:txBody>
      </p:sp>
      <p:sp>
        <p:nvSpPr>
          <p:cNvPr id="4" name="">
            <a:extLst xmlns:a="http://schemas.openxmlformats.org/drawingml/2006/main">
              <a:ext uri="{FF2B5EF4-FFF2-40B4-BE49-F238E27FC236}">
                <a16:creationId xmlns:a16="http://schemas.microsoft.com/office/drawing/2014/main" id="{2F0188E5-5743-4FFB-BAEE-034FE9EC3C41}"/>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5EE3CC-276F-4A02-BEFD-577A57C4640A}"/>
              </a:ext>
            </a:extLst>
          </p:cNvPr>
          <p:cNvSpPr>
            <a:spLocks xmlns:a="http://schemas.openxmlformats.org/drawingml/2006/main" noGrp="1"/>
          </p:cNvSpPr>
          <p:nvPr/>
        </p:nvSpPr>
        <p:spPr>
          <a:xfrm xmlns:a="http://schemas.openxmlformats.org/drawingml/2006/main">
            <a:off x="762000" y="2143125"/>
            <a:ext cx="2000250" cy="2095500"/>
          </a:xfrm>
          <a:prstGeom xmlns:a="http://schemas.openxmlformats.org/drawingml/2006/main" prst="roundRect">
            <a:avLst>
              <a:gd name="adj" fmla="val 3810"/>
            </a:avLst>
          </a:prstGeom>
          <a:solidFill xmlns:a="http://schemas.openxmlformats.org/drawingml/2006/main">
            <a:srgbClr val="FFFD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8ED9B1-71EF-47A0-9AE5-27D206CBA23E}"/>
              </a:ext>
            </a:extLst>
          </p:cNvPr>
          <p:cNvSpPr>
            <a:spLocks xmlns:a="http://schemas.openxmlformats.org/drawingml/2006/main" noGrp="1"/>
          </p:cNvSpPr>
          <p:nvPr/>
        </p:nvSpPr>
        <p:spPr>
          <a:xfrm xmlns:a="http://schemas.openxmlformats.org/drawingml/2006/main">
            <a:off x="933450" y="23431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DIFF</a:t>
            </a:r>
          </a:p>
        </p:txBody>
      </p:sp>
      <p:sp>
        <p:nvSpPr>
          <p:cNvPr id="7" name="">
            <a:extLst xmlns:a="http://schemas.openxmlformats.org/drawingml/2006/main">
              <a:ext uri="{FF2B5EF4-FFF2-40B4-BE49-F238E27FC236}">
                <a16:creationId xmlns:a16="http://schemas.microsoft.com/office/drawing/2014/main" id="{8720B28D-87BD-4DA8-893E-62F9B45DB196}"/>
              </a:ext>
            </a:extLst>
          </p:cNvPr>
          <p:cNvSpPr>
            <a:spLocks xmlns:a="http://schemas.openxmlformats.org/drawingml/2006/main" noGrp="1"/>
          </p:cNvSpPr>
          <p:nvPr/>
        </p:nvSpPr>
        <p:spPr>
          <a:xfrm xmlns:a="http://schemas.openxmlformats.org/drawingml/2006/main">
            <a:off x="971550" y="2800350"/>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Suggestion + merged PR</a:t>
            </a:r>
          </a:p>
        </p:txBody>
      </p:sp>
      <p:sp>
        <p:nvSpPr>
          <p:cNvPr id="8" name="">
            <a:extLst xmlns:a="http://schemas.openxmlformats.org/drawingml/2006/main">
              <a:ext uri="{FF2B5EF4-FFF2-40B4-BE49-F238E27FC236}">
                <a16:creationId xmlns:a16="http://schemas.microsoft.com/office/drawing/2014/main" id="{C5B425C5-7C88-43E7-91BD-13DCD690074B}"/>
              </a:ext>
            </a:extLst>
          </p:cNvPr>
          <p:cNvSpPr>
            <a:spLocks xmlns:a="http://schemas.openxmlformats.org/drawingml/2006/main" noGrp="1"/>
          </p:cNvSpPr>
          <p:nvPr/>
        </p:nvSpPr>
        <p:spPr>
          <a:xfrm xmlns:a="http://schemas.openxmlformats.org/drawingml/2006/main">
            <a:off x="2838450" y="297180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2662"/>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AC88B6B0-DE67-43FF-BC28-8AC71B7A7F24}"/>
              </a:ext>
            </a:extLst>
          </p:cNvPr>
          <p:cNvSpPr>
            <a:spLocks xmlns:a="http://schemas.openxmlformats.org/drawingml/2006/main" noGrp="1"/>
          </p:cNvSpPr>
          <p:nvPr/>
        </p:nvSpPr>
        <p:spPr>
          <a:xfrm xmlns:a="http://schemas.openxmlformats.org/drawingml/2006/main">
            <a:off x="3238500" y="2143125"/>
            <a:ext cx="2000250" cy="2095500"/>
          </a:xfrm>
          <a:prstGeom xmlns:a="http://schemas.openxmlformats.org/drawingml/2006/main" prst="roundRect">
            <a:avLst>
              <a:gd name="adj" fmla="val 3810"/>
            </a:avLst>
          </a:prstGeom>
          <a:solidFill xmlns:a="http://schemas.openxmlformats.org/drawingml/2006/main">
            <a:srgbClr val="FFFD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8E3C99-72C9-40DD-9326-2F80947CD6C7}"/>
              </a:ext>
            </a:extLst>
          </p:cNvPr>
          <p:cNvSpPr>
            <a:spLocks xmlns:a="http://schemas.openxmlformats.org/drawingml/2006/main" noGrp="1"/>
          </p:cNvSpPr>
          <p:nvPr/>
        </p:nvSpPr>
        <p:spPr>
          <a:xfrm xmlns:a="http://schemas.openxmlformats.org/drawingml/2006/main">
            <a:off x="3409950" y="23431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FEATURES</a:t>
            </a:r>
          </a:p>
        </p:txBody>
      </p:sp>
      <p:sp>
        <p:nvSpPr>
          <p:cNvPr id="11" name="">
            <a:extLst xmlns:a="http://schemas.openxmlformats.org/drawingml/2006/main">
              <a:ext uri="{FF2B5EF4-FFF2-40B4-BE49-F238E27FC236}">
                <a16:creationId xmlns:a16="http://schemas.microsoft.com/office/drawing/2014/main" id="{73BFD2E2-FD6C-42B9-9AC9-6CF687A0BE15}"/>
              </a:ext>
            </a:extLst>
          </p:cNvPr>
          <p:cNvSpPr>
            <a:spLocks xmlns:a="http://schemas.openxmlformats.org/drawingml/2006/main" noGrp="1"/>
          </p:cNvSpPr>
          <p:nvPr/>
        </p:nvSpPr>
        <p:spPr>
          <a:xfrm xmlns:a="http://schemas.openxmlformats.org/drawingml/2006/main">
            <a:off x="3448050" y="2800350"/>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Lines, tokens, names, hunks, structure</a:t>
            </a:r>
          </a:p>
        </p:txBody>
      </p:sp>
      <p:sp>
        <p:nvSpPr>
          <p:cNvPr id="12" name="">
            <a:extLst xmlns:a="http://schemas.openxmlformats.org/drawingml/2006/main">
              <a:ext uri="{FF2B5EF4-FFF2-40B4-BE49-F238E27FC236}">
                <a16:creationId xmlns:a16="http://schemas.microsoft.com/office/drawing/2014/main" id="{715A452D-B888-4D28-AA88-F90B92FB7B3C}"/>
              </a:ext>
            </a:extLst>
          </p:cNvPr>
          <p:cNvSpPr>
            <a:spLocks xmlns:a="http://schemas.openxmlformats.org/drawingml/2006/main" noGrp="1"/>
          </p:cNvSpPr>
          <p:nvPr/>
        </p:nvSpPr>
        <p:spPr>
          <a:xfrm xmlns:a="http://schemas.openxmlformats.org/drawingml/2006/main">
            <a:off x="5314950" y="297180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2662"/>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70E083FD-A94E-4373-9FAA-B742E78DD1C9}"/>
              </a:ext>
            </a:extLst>
          </p:cNvPr>
          <p:cNvSpPr>
            <a:spLocks xmlns:a="http://schemas.openxmlformats.org/drawingml/2006/main" noGrp="1"/>
          </p:cNvSpPr>
          <p:nvPr/>
        </p:nvSpPr>
        <p:spPr>
          <a:xfrm xmlns:a="http://schemas.openxmlformats.org/drawingml/2006/main">
            <a:off x="5715000" y="2143125"/>
            <a:ext cx="2000250" cy="2095500"/>
          </a:xfrm>
          <a:prstGeom xmlns:a="http://schemas.openxmlformats.org/drawingml/2006/main" prst="roundRect">
            <a:avLst>
              <a:gd name="adj" fmla="val 3810"/>
            </a:avLst>
          </a:prstGeom>
          <a:solidFill xmlns:a="http://schemas.openxmlformats.org/drawingml/2006/main">
            <a:srgbClr val="FFFD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35C387-BC8A-4F8B-8117-9FF41A7B7230}"/>
              </a:ext>
            </a:extLst>
          </p:cNvPr>
          <p:cNvSpPr>
            <a:spLocks xmlns:a="http://schemas.openxmlformats.org/drawingml/2006/main" noGrp="1"/>
          </p:cNvSpPr>
          <p:nvPr/>
        </p:nvSpPr>
        <p:spPr>
          <a:xfrm xmlns:a="http://schemas.openxmlformats.org/drawingml/2006/main">
            <a:off x="5886450" y="23431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ENSEMBLE</a:t>
            </a:r>
          </a:p>
        </p:txBody>
      </p:sp>
      <p:sp>
        <p:nvSpPr>
          <p:cNvPr id="15" name="">
            <a:extLst xmlns:a="http://schemas.openxmlformats.org/drawingml/2006/main">
              <a:ext uri="{FF2B5EF4-FFF2-40B4-BE49-F238E27FC236}">
                <a16:creationId xmlns:a16="http://schemas.microsoft.com/office/drawing/2014/main" id="{3BF1318A-69D4-43D0-B8F4-58ABBF88E5DD}"/>
              </a:ext>
            </a:extLst>
          </p:cNvPr>
          <p:cNvSpPr>
            <a:spLocks xmlns:a="http://schemas.openxmlformats.org/drawingml/2006/main" noGrp="1"/>
          </p:cNvSpPr>
          <p:nvPr/>
        </p:nvSpPr>
        <p:spPr>
          <a:xfrm xmlns:a="http://schemas.openxmlformats.org/drawingml/2006/main">
            <a:off x="5924550" y="2800350"/>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50% forest</a:t>
            </a:r>
          </a:p>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30% two-stage</a:t>
            </a:r>
          </a:p>
          <a:p xmlns:a="http://schemas.openxmlformats.org/drawingml/2006/main">
            <a:pPr algn="ctr">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20% CatBoost</a:t>
            </a:r>
          </a:p>
        </p:txBody>
      </p:sp>
      <p:sp>
        <p:nvSpPr>
          <p:cNvPr id="16" name="">
            <a:extLst xmlns:a="http://schemas.openxmlformats.org/drawingml/2006/main">
              <a:ext uri="{FF2B5EF4-FFF2-40B4-BE49-F238E27FC236}">
                <a16:creationId xmlns:a16="http://schemas.microsoft.com/office/drawing/2014/main" id="{BEA51E33-0FF1-4C59-BBA3-5CC8C6DBC292}"/>
              </a:ext>
            </a:extLst>
          </p:cNvPr>
          <p:cNvSpPr>
            <a:spLocks xmlns:a="http://schemas.openxmlformats.org/drawingml/2006/main" noGrp="1"/>
          </p:cNvSpPr>
          <p:nvPr/>
        </p:nvSpPr>
        <p:spPr>
          <a:xfrm xmlns:a="http://schemas.openxmlformats.org/drawingml/2006/main">
            <a:off x="7791450" y="2971800"/>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2662"/>
          </a:bodyPr>
          <a:lstStyle xmlns:a="http://schemas.openxmlformats.org/drawingml/2006/main"/>
          <a:p xmlns:a="http://schemas.openxmlformats.org/drawingml/2006/main">
            <a:pPr algn="ctr">
              <a:defRPr sz="2100" b="1">
                <a:solidFill>
                  <a:srgbClr val="E76F51"/>
                </a:solidFill>
                <a:latin typeface="Helvetica Neue"/>
                <a:ea typeface="Helvetica Neue"/>
                <a:cs typeface="Helvetica Neue"/>
              </a:defRPr>
            </a:pPr>
            <a:r>
              <a:rPr sz="2100" b="1">
                <a:solidFill>
                  <a:srgbClr val="E76F51"/>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B8FBE068-38BD-4C32-B39A-951DA83EDA12}"/>
              </a:ext>
            </a:extLst>
          </p:cNvPr>
          <p:cNvSpPr>
            <a:spLocks xmlns:a="http://schemas.openxmlformats.org/drawingml/2006/main" noGrp="1"/>
          </p:cNvSpPr>
          <p:nvPr/>
        </p:nvSpPr>
        <p:spPr>
          <a:xfrm xmlns:a="http://schemas.openxmlformats.org/drawingml/2006/main">
            <a:off x="8191500" y="2143125"/>
            <a:ext cx="2000250" cy="2095500"/>
          </a:xfrm>
          <a:prstGeom xmlns:a="http://schemas.openxmlformats.org/drawingml/2006/main" prst="roundRect">
            <a:avLst>
              <a:gd name="adj" fmla="val 3810"/>
            </a:avLst>
          </a:prstGeom>
          <a:solidFill xmlns:a="http://schemas.openxmlformats.org/drawingml/2006/main">
            <a:srgbClr val="2864D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A0F5DB1-38F7-49EC-A257-CEF982D7C177}"/>
              </a:ext>
            </a:extLst>
          </p:cNvPr>
          <p:cNvSpPr>
            <a:spLocks xmlns:a="http://schemas.openxmlformats.org/drawingml/2006/main" noGrp="1"/>
          </p:cNvSpPr>
          <p:nvPr/>
        </p:nvSpPr>
        <p:spPr>
          <a:xfrm xmlns:a="http://schemas.openxmlformats.org/drawingml/2006/main">
            <a:off x="8362950" y="23431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OUTPUT</a:t>
            </a:r>
          </a:p>
        </p:txBody>
      </p:sp>
      <p:sp>
        <p:nvSpPr>
          <p:cNvPr id="19" name="">
            <a:extLst xmlns:a="http://schemas.openxmlformats.org/drawingml/2006/main">
              <a:ext uri="{FF2B5EF4-FFF2-40B4-BE49-F238E27FC236}">
                <a16:creationId xmlns:a16="http://schemas.microsoft.com/office/drawing/2014/main" id="{4B6BE94E-B61C-433E-9063-2D72A77E97D4}"/>
              </a:ext>
            </a:extLst>
          </p:cNvPr>
          <p:cNvSpPr>
            <a:spLocks xmlns:a="http://schemas.openxmlformats.org/drawingml/2006/main" noGrp="1"/>
          </p:cNvSpPr>
          <p:nvPr/>
        </p:nvSpPr>
        <p:spPr>
          <a:xfrm xmlns:a="http://schemas.openxmlformats.org/drawingml/2006/main">
            <a:off x="8401050" y="2800350"/>
            <a:ext cx="1581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One integer percentage</a:t>
            </a:r>
          </a:p>
        </p:txBody>
      </p:sp>
      <p:sp>
        <p:nvSpPr>
          <p:cNvPr id="20" name="">
            <a:extLst xmlns:a="http://schemas.openxmlformats.org/drawingml/2006/main">
              <a:ext uri="{FF2B5EF4-FFF2-40B4-BE49-F238E27FC236}">
                <a16:creationId xmlns:a16="http://schemas.microsoft.com/office/drawing/2014/main" id="{2E44E0E9-E24B-43C1-825A-456757D9FF32}"/>
              </a:ext>
            </a:extLst>
          </p:cNvPr>
          <p:cNvSpPr>
            <a:spLocks xmlns:a="http://schemas.openxmlformats.org/drawingml/2006/main" noGrp="1"/>
          </p:cNvSpPr>
          <p:nvPr/>
        </p:nvSpPr>
        <p:spPr>
          <a:xfrm xmlns:a="http://schemas.openxmlformats.org/drawingml/2006/main">
            <a:off x="857250" y="4762500"/>
            <a:ext cx="10477500" cy="990600"/>
          </a:xfrm>
          <a:prstGeom xmlns:a="http://schemas.openxmlformats.org/drawingml/2006/main" prst="roundRect">
            <a:avLst>
              <a:gd name="adj" fmla="val 7692"/>
            </a:avLst>
          </a:prstGeom>
          <a:solidFill xmlns:a="http://schemas.openxmlformats.org/drawingml/2006/main">
            <a:srgbClr val="F9DDD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EE7066E-E53D-45F6-B05A-141CB0A9D315}"/>
              </a:ext>
            </a:extLst>
          </p:cNvPr>
          <p:cNvSpPr>
            <a:spLocks xmlns:a="http://schemas.openxmlformats.org/drawingml/2006/main" noGrp="1"/>
          </p:cNvSpPr>
          <p:nvPr/>
        </p:nvSpPr>
        <p:spPr>
          <a:xfrm xmlns:a="http://schemas.openxmlformats.org/drawingml/2006/main">
            <a:off x="1104900" y="49149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E76F51"/>
                </a:solidFill>
                <a:latin typeface="Helvetica Neue"/>
                <a:ea typeface="Helvetica Neue"/>
                <a:cs typeface="Helvetica Neue"/>
              </a:defRPr>
            </a:pPr>
            <a:r>
              <a:rPr sz="1275" b="1">
                <a:solidFill>
                  <a:srgbClr val="E76F51"/>
                </a:solidFill>
                <a:latin typeface="Helvetica Neue"/>
                <a:ea typeface="Helvetica Neue"/>
                <a:cs typeface="Helvetica Neue"/>
              </a:rPr>
              <a:t>WHAT THE NUMBER HIDES</a:t>
            </a:r>
          </a:p>
        </p:txBody>
      </p:sp>
      <p:sp>
        <p:nvSpPr>
          <p:cNvPr id="22" name="">
            <a:extLst xmlns:a="http://schemas.openxmlformats.org/drawingml/2006/main">
              <a:ext uri="{FF2B5EF4-FFF2-40B4-BE49-F238E27FC236}">
                <a16:creationId xmlns:a16="http://schemas.microsoft.com/office/drawing/2014/main" id="{09CFBC70-18FF-4A69-BD20-9DEABD8F7980}"/>
              </a:ext>
            </a:extLst>
          </p:cNvPr>
          <p:cNvSpPr>
            <a:spLocks xmlns:a="http://schemas.openxmlformats.org/drawingml/2006/main" noGrp="1"/>
          </p:cNvSpPr>
          <p:nvPr/>
        </p:nvSpPr>
        <p:spPr>
          <a:xfrm xmlns:a="http://schemas.openxmlformats.org/drawingml/2006/main">
            <a:off x="1104900" y="52197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13D"/>
                </a:solidFill>
                <a:latin typeface="Helvetica Neue"/>
                <a:ea typeface="Helvetica Neue"/>
                <a:cs typeface="Helvetica Neue"/>
              </a:defRPr>
            </a:pPr>
            <a:r>
              <a:rPr sz="1725" b="1">
                <a:solidFill>
                  <a:srgbClr val="14213D"/>
                </a:solidFill>
                <a:latin typeface="Helvetica Neue"/>
                <a:ea typeface="Helvetica Neue"/>
                <a:cs typeface="Helvetica Neue"/>
              </a:rPr>
              <a:t>The basic response has no confidence, no interval, and no 'I do not know' state.</a:t>
            </a:r>
          </a:p>
        </p:txBody>
      </p:sp>
      <p:sp>
        <p:nvSpPr>
          <p:cNvPr id="23" name="">
            <a:extLst xmlns:a="http://schemas.openxmlformats.org/drawingml/2006/main">
              <a:ext uri="{FF2B5EF4-FFF2-40B4-BE49-F238E27FC236}">
                <a16:creationId xmlns:a16="http://schemas.microsoft.com/office/drawing/2014/main" id="{4118C568-A6BF-4E5D-9EE4-B40BD8C7726A}"/>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05</a:t>
            </a:r>
          </a:p>
        </p:txBody>
      </p:sp>
    </p:spTree>
    <p:extLst>
      <p:ext uri="{BB962C8B-B14F-4D97-AF65-F5344CB8AC3E}">
        <p14:creationId xmlns:p14="http://schemas.microsoft.com/office/powerpoint/2010/main" val="1677074678"/>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7C583CB-ECED-41C2-A4AA-0D5E53CED7F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HELD-OUT RESULTS</a:t>
            </a:r>
          </a:p>
        </p:txBody>
      </p:sp>
      <p:sp>
        <p:nvSpPr>
          <p:cNvPr id="2" name="">
            <a:extLst xmlns:a="http://schemas.openxmlformats.org/drawingml/2006/main">
              <a:ext uri="{FF2B5EF4-FFF2-40B4-BE49-F238E27FC236}">
                <a16:creationId xmlns:a16="http://schemas.microsoft.com/office/drawing/2014/main" id="{C5C4E028-C628-455F-ADD1-3EBD044FA0E5}"/>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percentage model is closer and safer</a:t>
            </a:r>
          </a:p>
        </p:txBody>
      </p:sp>
      <p:sp>
        <p:nvSpPr>
          <p:cNvPr id="3" name="">
            <a:extLst xmlns:a="http://schemas.openxmlformats.org/drawingml/2006/main">
              <a:ext uri="{FF2B5EF4-FFF2-40B4-BE49-F238E27FC236}">
                <a16:creationId xmlns:a16="http://schemas.microsoft.com/office/drawing/2014/main" id="{B30DF8E0-E139-4A1B-BDC3-2D0B7ED4819E}"/>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Same 70 examples. All outputs are percentages; no buckets are used.</a:t>
            </a:r>
          </a:p>
        </p:txBody>
      </p:sp>
      <p:sp>
        <p:nvSpPr>
          <p:cNvPr id="4" name="">
            <a:extLst xmlns:a="http://schemas.openxmlformats.org/drawingml/2006/main">
              <a:ext uri="{FF2B5EF4-FFF2-40B4-BE49-F238E27FC236}">
                <a16:creationId xmlns:a16="http://schemas.microsoft.com/office/drawing/2014/main" id="{6F2DB98F-711B-47CE-A7E9-93CDC37CD9F9}"/>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F714B6-AA18-4C81-B503-6622BBDE71E6}"/>
              </a:ext>
            </a:extLst>
          </p:cNvPr>
          <p:cNvSpPr>
            <a:spLocks xmlns:a="http://schemas.openxmlformats.org/drawingml/2006/main" noGrp="1"/>
          </p:cNvSpPr>
          <p:nvPr/>
        </p:nvSpPr>
        <p:spPr>
          <a:xfrm xmlns:a="http://schemas.openxmlformats.org/drawingml/2006/main">
            <a:off x="762000" y="18573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Average absolute error</a:t>
            </a:r>
          </a:p>
        </p:txBody>
      </p:sp>
      <p:sp>
        <p:nvSpPr>
          <p:cNvPr id="6" name="">
            <a:extLst xmlns:a="http://schemas.openxmlformats.org/drawingml/2006/main">
              <a:ext uri="{FF2B5EF4-FFF2-40B4-BE49-F238E27FC236}">
                <a16:creationId xmlns:a16="http://schemas.microsoft.com/office/drawing/2014/main" id="{8B71676B-DB1A-42D3-9605-A3825C6C3E78}"/>
              </a:ext>
            </a:extLst>
          </p:cNvPr>
          <p:cNvSpPr>
            <a:spLocks xmlns:a="http://schemas.openxmlformats.org/drawingml/2006/main" noGrp="1"/>
          </p:cNvSpPr>
          <p:nvPr/>
        </p:nvSpPr>
        <p:spPr>
          <a:xfrm xmlns:a="http://schemas.openxmlformats.org/drawingml/2006/main">
            <a:off x="762000" y="23812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4213D"/>
                </a:solidFill>
                <a:latin typeface="Helvetica Neue"/>
                <a:ea typeface="Helvetica Neue"/>
                <a:cs typeface="Helvetica Neue"/>
              </a:defRPr>
            </a:pPr>
            <a:r>
              <a:rPr sz="1275" b="1">
                <a:solidFill>
                  <a:srgbClr val="14213D"/>
                </a:solidFill>
                <a:latin typeface="Helvetica Neue"/>
                <a:ea typeface="Helvetica Neue"/>
                <a:cs typeface="Helvetica Neue"/>
              </a:rPr>
              <a:t>Exact baseline</a:t>
            </a:r>
          </a:p>
        </p:txBody>
      </p:sp>
      <p:sp>
        <p:nvSpPr>
          <p:cNvPr id="7" name="">
            <a:extLst xmlns:a="http://schemas.openxmlformats.org/drawingml/2006/main">
              <a:ext uri="{FF2B5EF4-FFF2-40B4-BE49-F238E27FC236}">
                <a16:creationId xmlns:a16="http://schemas.microsoft.com/office/drawing/2014/main" id="{AB4F6B04-DD92-4FEB-86AA-111D71504B2B}"/>
              </a:ext>
            </a:extLst>
          </p:cNvPr>
          <p:cNvSpPr>
            <a:spLocks xmlns:a="http://schemas.openxmlformats.org/drawingml/2006/main" noGrp="1"/>
          </p:cNvSpPr>
          <p:nvPr/>
        </p:nvSpPr>
        <p:spPr>
          <a:xfrm xmlns:a="http://schemas.openxmlformats.org/drawingml/2006/main">
            <a:off x="2762250" y="2381250"/>
            <a:ext cx="4852755" cy="323850"/>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3B803B-7A1D-49D8-84F9-79A4C0B9FB29}"/>
              </a:ext>
            </a:extLst>
          </p:cNvPr>
          <p:cNvSpPr>
            <a:spLocks xmlns:a="http://schemas.openxmlformats.org/drawingml/2006/main" noGrp="1"/>
          </p:cNvSpPr>
          <p:nvPr/>
        </p:nvSpPr>
        <p:spPr>
          <a:xfrm xmlns:a="http://schemas.openxmlformats.org/drawingml/2006/main">
            <a:off x="8286750" y="2381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40.94 pts</a:t>
            </a:r>
          </a:p>
        </p:txBody>
      </p:sp>
      <p:sp>
        <p:nvSpPr>
          <p:cNvPr id="9" name="">
            <a:extLst xmlns:a="http://schemas.openxmlformats.org/drawingml/2006/main">
              <a:ext uri="{FF2B5EF4-FFF2-40B4-BE49-F238E27FC236}">
                <a16:creationId xmlns:a16="http://schemas.microsoft.com/office/drawing/2014/main" id="{182593D8-282A-4486-BD23-550890366F1A}"/>
              </a:ext>
            </a:extLst>
          </p:cNvPr>
          <p:cNvSpPr>
            <a:spLocks xmlns:a="http://schemas.openxmlformats.org/drawingml/2006/main" noGrp="1"/>
          </p:cNvSpPr>
          <p:nvPr/>
        </p:nvSpPr>
        <p:spPr>
          <a:xfrm xmlns:a="http://schemas.openxmlformats.org/drawingml/2006/main">
            <a:off x="762000" y="3190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4213D"/>
                </a:solidFill>
                <a:latin typeface="Helvetica Neue"/>
                <a:ea typeface="Helvetica Neue"/>
                <a:cs typeface="Helvetica Neue"/>
              </a:defRPr>
            </a:pPr>
            <a:r>
              <a:rPr sz="1275" b="1">
                <a:solidFill>
                  <a:srgbClr val="14213D"/>
                </a:solidFill>
                <a:latin typeface="Helvetica Neue"/>
                <a:ea typeface="Helvetica Neue"/>
                <a:cs typeface="Helvetica Neue"/>
              </a:rPr>
              <a:t>Percentage model</a:t>
            </a:r>
          </a:p>
        </p:txBody>
      </p:sp>
      <p:sp>
        <p:nvSpPr>
          <p:cNvPr id="10" name="">
            <a:extLst xmlns:a="http://schemas.openxmlformats.org/drawingml/2006/main">
              <a:ext uri="{FF2B5EF4-FFF2-40B4-BE49-F238E27FC236}">
                <a16:creationId xmlns:a16="http://schemas.microsoft.com/office/drawing/2014/main" id="{C2B249B7-9D1D-45DC-9668-6535C41DC74C}"/>
              </a:ext>
            </a:extLst>
          </p:cNvPr>
          <p:cNvSpPr>
            <a:spLocks xmlns:a="http://schemas.openxmlformats.org/drawingml/2006/main" noGrp="1"/>
          </p:cNvSpPr>
          <p:nvPr/>
        </p:nvSpPr>
        <p:spPr>
          <a:xfrm xmlns:a="http://schemas.openxmlformats.org/drawingml/2006/main">
            <a:off x="2762250" y="3190875"/>
            <a:ext cx="1154515" cy="323850"/>
          </a:xfrm>
          <a:prstGeom xmlns:a="http://schemas.openxmlformats.org/drawingml/2006/main" prst="rect">
            <a:avLst/>
          </a:prstGeom>
          <a:solidFill xmlns:a="http://schemas.openxmlformats.org/drawingml/2006/main">
            <a:srgbClr val="218B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66C536-CCA9-4EED-A484-322C6FD332CC}"/>
              </a:ext>
            </a:extLst>
          </p:cNvPr>
          <p:cNvSpPr>
            <a:spLocks xmlns:a="http://schemas.openxmlformats.org/drawingml/2006/main" noGrp="1"/>
          </p:cNvSpPr>
          <p:nvPr/>
        </p:nvSpPr>
        <p:spPr>
          <a:xfrm xmlns:a="http://schemas.openxmlformats.org/drawingml/2006/main">
            <a:off x="8286750" y="31908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18B75"/>
                </a:solidFill>
                <a:latin typeface="Helvetica Neue"/>
                <a:ea typeface="Helvetica Neue"/>
                <a:cs typeface="Helvetica Neue"/>
              </a:defRPr>
            </a:pPr>
            <a:r>
              <a:rPr sz="1500" b="1">
                <a:solidFill>
                  <a:srgbClr val="218B75"/>
                </a:solidFill>
                <a:latin typeface="Helvetica Neue"/>
                <a:ea typeface="Helvetica Neue"/>
                <a:cs typeface="Helvetica Neue"/>
              </a:rPr>
              <a:t>9.74 pts</a:t>
            </a:r>
          </a:p>
        </p:txBody>
      </p:sp>
      <p:sp>
        <p:nvSpPr>
          <p:cNvPr id="12" name="">
            <a:extLst xmlns:a="http://schemas.openxmlformats.org/drawingml/2006/main">
              <a:ext uri="{FF2B5EF4-FFF2-40B4-BE49-F238E27FC236}">
                <a16:creationId xmlns:a16="http://schemas.microsoft.com/office/drawing/2014/main" id="{10AC4948-3AFA-4864-AAAE-20A56077F6BD}"/>
              </a:ext>
            </a:extLst>
          </p:cNvPr>
          <p:cNvSpPr>
            <a:spLocks xmlns:a="http://schemas.openxmlformats.org/drawingml/2006/main" noGrp="1"/>
          </p:cNvSpPr>
          <p:nvPr/>
        </p:nvSpPr>
        <p:spPr>
          <a:xfrm xmlns:a="http://schemas.openxmlformats.org/drawingml/2006/main">
            <a:off x="762000" y="4191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4213D"/>
                </a:solidFill>
                <a:latin typeface="Helvetica Neue"/>
                <a:ea typeface="Helvetica Neue"/>
                <a:cs typeface="Helvetica Neue"/>
              </a:defRPr>
            </a:pPr>
            <a:r>
              <a:rPr sz="1500" b="1">
                <a:solidFill>
                  <a:srgbClr val="14213D"/>
                </a:solidFill>
                <a:latin typeface="Helvetica Neue"/>
                <a:ea typeface="Helvetica Neue"/>
                <a:cs typeface="Helvetica Neue"/>
              </a:rPr>
              <a:t>Results within 10 points</a:t>
            </a:r>
          </a:p>
        </p:txBody>
      </p:sp>
      <p:sp>
        <p:nvSpPr>
          <p:cNvPr id="13" name="">
            <a:extLst xmlns:a="http://schemas.openxmlformats.org/drawingml/2006/main">
              <a:ext uri="{FF2B5EF4-FFF2-40B4-BE49-F238E27FC236}">
                <a16:creationId xmlns:a16="http://schemas.microsoft.com/office/drawing/2014/main" id="{31A744DB-093D-4BB2-A8AE-F04976A480B2}"/>
              </a:ext>
            </a:extLst>
          </p:cNvPr>
          <p:cNvSpPr>
            <a:spLocks xmlns:a="http://schemas.openxmlformats.org/drawingml/2006/main" noGrp="1"/>
          </p:cNvSpPr>
          <p:nvPr/>
        </p:nvSpPr>
        <p:spPr>
          <a:xfrm xmlns:a="http://schemas.openxmlformats.org/drawingml/2006/main">
            <a:off x="76200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4213D"/>
                </a:solidFill>
                <a:latin typeface="Helvetica Neue"/>
                <a:ea typeface="Helvetica Neue"/>
                <a:cs typeface="Helvetica Neue"/>
              </a:defRPr>
            </a:pPr>
            <a:r>
              <a:rPr sz="1275" b="1">
                <a:solidFill>
                  <a:srgbClr val="14213D"/>
                </a:solidFill>
                <a:latin typeface="Helvetica Neue"/>
                <a:ea typeface="Helvetica Neue"/>
                <a:cs typeface="Helvetica Neue"/>
              </a:rPr>
              <a:t>Exact baseline</a:t>
            </a:r>
          </a:p>
        </p:txBody>
      </p:sp>
      <p:sp>
        <p:nvSpPr>
          <p:cNvPr id="14" name="">
            <a:extLst xmlns:a="http://schemas.openxmlformats.org/drawingml/2006/main">
              <a:ext uri="{FF2B5EF4-FFF2-40B4-BE49-F238E27FC236}">
                <a16:creationId xmlns:a16="http://schemas.microsoft.com/office/drawing/2014/main" id="{60D568DA-5D43-4650-9247-209922415F80}"/>
              </a:ext>
            </a:extLst>
          </p:cNvPr>
          <p:cNvSpPr>
            <a:spLocks xmlns:a="http://schemas.openxmlformats.org/drawingml/2006/main" noGrp="1"/>
          </p:cNvSpPr>
          <p:nvPr/>
        </p:nvSpPr>
        <p:spPr>
          <a:xfrm xmlns:a="http://schemas.openxmlformats.org/drawingml/2006/main">
            <a:off x="2762250" y="4714875"/>
            <a:ext cx="1978914" cy="323850"/>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FB5FCC6-9B9D-4D19-B449-B5DC84805FDB}"/>
              </a:ext>
            </a:extLst>
          </p:cNvPr>
          <p:cNvSpPr>
            <a:spLocks xmlns:a="http://schemas.openxmlformats.org/drawingml/2006/main" noGrp="1"/>
          </p:cNvSpPr>
          <p:nvPr/>
        </p:nvSpPr>
        <p:spPr>
          <a:xfrm xmlns:a="http://schemas.openxmlformats.org/drawingml/2006/main">
            <a:off x="8286750" y="47148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37.1%</a:t>
            </a:r>
          </a:p>
        </p:txBody>
      </p:sp>
      <p:sp>
        <p:nvSpPr>
          <p:cNvPr id="16" name="">
            <a:extLst xmlns:a="http://schemas.openxmlformats.org/drawingml/2006/main">
              <a:ext uri="{FF2B5EF4-FFF2-40B4-BE49-F238E27FC236}">
                <a16:creationId xmlns:a16="http://schemas.microsoft.com/office/drawing/2014/main" id="{9C5CEE68-A882-432E-8FAF-8EB83987A0CC}"/>
              </a:ext>
            </a:extLst>
          </p:cNvPr>
          <p:cNvSpPr>
            <a:spLocks xmlns:a="http://schemas.openxmlformats.org/drawingml/2006/main" noGrp="1"/>
          </p:cNvSpPr>
          <p:nvPr/>
        </p:nvSpPr>
        <p:spPr>
          <a:xfrm xmlns:a="http://schemas.openxmlformats.org/drawingml/2006/main">
            <a:off x="762000" y="53816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4213D"/>
                </a:solidFill>
                <a:latin typeface="Helvetica Neue"/>
                <a:ea typeface="Helvetica Neue"/>
                <a:cs typeface="Helvetica Neue"/>
              </a:defRPr>
            </a:pPr>
            <a:r>
              <a:rPr sz="1275" b="1">
                <a:solidFill>
                  <a:srgbClr val="14213D"/>
                </a:solidFill>
                <a:latin typeface="Helvetica Neue"/>
                <a:ea typeface="Helvetica Neue"/>
                <a:cs typeface="Helvetica Neue"/>
              </a:rPr>
              <a:t>Percentage model</a:t>
            </a:r>
          </a:p>
        </p:txBody>
      </p:sp>
      <p:sp>
        <p:nvSpPr>
          <p:cNvPr id="17" name="">
            <a:extLst xmlns:a="http://schemas.openxmlformats.org/drawingml/2006/main">
              <a:ext uri="{FF2B5EF4-FFF2-40B4-BE49-F238E27FC236}">
                <a16:creationId xmlns:a16="http://schemas.microsoft.com/office/drawing/2014/main" id="{D471B134-1555-441A-AE1E-9111F96CE155}"/>
              </a:ext>
            </a:extLst>
          </p:cNvPr>
          <p:cNvSpPr>
            <a:spLocks xmlns:a="http://schemas.openxmlformats.org/drawingml/2006/main" noGrp="1"/>
          </p:cNvSpPr>
          <p:nvPr/>
        </p:nvSpPr>
        <p:spPr>
          <a:xfrm xmlns:a="http://schemas.openxmlformats.org/drawingml/2006/main">
            <a:off x="2762250" y="5381625"/>
            <a:ext cx="3963162" cy="323850"/>
          </a:xfrm>
          <a:prstGeom xmlns:a="http://schemas.openxmlformats.org/drawingml/2006/main" prst="rect">
            <a:avLst/>
          </a:prstGeom>
          <a:solidFill xmlns:a="http://schemas.openxmlformats.org/drawingml/2006/main">
            <a:srgbClr val="218B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F61A74-EAF6-4349-B75B-725C564EC25E}"/>
              </a:ext>
            </a:extLst>
          </p:cNvPr>
          <p:cNvSpPr>
            <a:spLocks xmlns:a="http://schemas.openxmlformats.org/drawingml/2006/main" noGrp="1"/>
          </p:cNvSpPr>
          <p:nvPr/>
        </p:nvSpPr>
        <p:spPr>
          <a:xfrm xmlns:a="http://schemas.openxmlformats.org/drawingml/2006/main">
            <a:off x="8286750" y="53816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18B75"/>
                </a:solidFill>
                <a:latin typeface="Helvetica Neue"/>
                <a:ea typeface="Helvetica Neue"/>
                <a:cs typeface="Helvetica Neue"/>
              </a:defRPr>
            </a:pPr>
            <a:r>
              <a:rPr sz="1500" b="1">
                <a:solidFill>
                  <a:srgbClr val="218B75"/>
                </a:solidFill>
                <a:latin typeface="Helvetica Neue"/>
                <a:ea typeface="Helvetica Neue"/>
                <a:cs typeface="Helvetica Neue"/>
              </a:rPr>
              <a:t>74.3%</a:t>
            </a:r>
          </a:p>
        </p:txBody>
      </p:sp>
      <p:sp>
        <p:nvSpPr>
          <p:cNvPr id="19" name="">
            <a:extLst xmlns:a="http://schemas.openxmlformats.org/drawingml/2006/main">
              <a:ext uri="{FF2B5EF4-FFF2-40B4-BE49-F238E27FC236}">
                <a16:creationId xmlns:a16="http://schemas.microsoft.com/office/drawing/2014/main" id="{D032CE47-7293-4D2C-8942-6650CE1045D0}"/>
              </a:ext>
            </a:extLst>
          </p:cNvPr>
          <p:cNvSpPr>
            <a:spLocks xmlns:a="http://schemas.openxmlformats.org/drawingml/2006/main" noGrp="1"/>
          </p:cNvSpPr>
          <p:nvPr/>
        </p:nvSpPr>
        <p:spPr>
          <a:xfrm xmlns:a="http://schemas.openxmlformats.org/drawingml/2006/main">
            <a:off x="9810750" y="2247900"/>
            <a:ext cx="1619250" cy="2524125"/>
          </a:xfrm>
          <a:prstGeom xmlns:a="http://schemas.openxmlformats.org/drawingml/2006/main" prst="roundRect">
            <a:avLst>
              <a:gd name="adj" fmla="val 4706"/>
            </a:avLst>
          </a:prstGeom>
          <a:solidFill xmlns:a="http://schemas.openxmlformats.org/drawingml/2006/main">
            <a:srgbClr val="1421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A45163D-EA60-49B5-9BDF-376FB3927788}"/>
              </a:ext>
            </a:extLst>
          </p:cNvPr>
          <p:cNvSpPr>
            <a:spLocks xmlns:a="http://schemas.openxmlformats.org/drawingml/2006/main" noGrp="1"/>
          </p:cNvSpPr>
          <p:nvPr/>
        </p:nvSpPr>
        <p:spPr>
          <a:xfrm xmlns:a="http://schemas.openxmlformats.org/drawingml/2006/main">
            <a:off x="10001250" y="2552700"/>
            <a:ext cx="123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625" b="1">
                <a:solidFill>
                  <a:srgbClr val="E76F51"/>
                </a:solidFill>
                <a:latin typeface="Helvetica Neue"/>
                <a:ea typeface="Helvetica Neue"/>
                <a:cs typeface="Helvetica Neue"/>
              </a:defRPr>
            </a:pPr>
            <a:r>
              <a:rPr sz="2625" b="1">
                <a:solidFill>
                  <a:srgbClr val="E76F51"/>
                </a:solidFill>
                <a:latin typeface="Helvetica Neue"/>
                <a:ea typeface="Helvetica Neue"/>
                <a:cs typeface="Helvetica Neue"/>
              </a:rPr>
              <a:t>34.3%</a:t>
            </a:r>
          </a:p>
        </p:txBody>
      </p:sp>
      <p:sp>
        <p:nvSpPr>
          <p:cNvPr id="21" name="">
            <a:extLst xmlns:a="http://schemas.openxmlformats.org/drawingml/2006/main">
              <a:ext uri="{FF2B5EF4-FFF2-40B4-BE49-F238E27FC236}">
                <a16:creationId xmlns:a16="http://schemas.microsoft.com/office/drawing/2014/main" id="{D87DC91A-B13B-42A7-AE91-B37AFBB20B95}"/>
              </a:ext>
            </a:extLst>
          </p:cNvPr>
          <p:cNvSpPr>
            <a:spLocks xmlns:a="http://schemas.openxmlformats.org/drawingml/2006/main" noGrp="1"/>
          </p:cNvSpPr>
          <p:nvPr/>
        </p:nvSpPr>
        <p:spPr>
          <a:xfrm xmlns:a="http://schemas.openxmlformats.org/drawingml/2006/main">
            <a:off x="10001250" y="3114675"/>
            <a:ext cx="123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exact baseline</a:t>
            </a:r>
          </a:p>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serious misses</a:t>
            </a:r>
          </a:p>
        </p:txBody>
      </p:sp>
      <p:sp>
        <p:nvSpPr>
          <p:cNvPr id="22" name="">
            <a:extLst xmlns:a="http://schemas.openxmlformats.org/drawingml/2006/main">
              <a:ext uri="{FF2B5EF4-FFF2-40B4-BE49-F238E27FC236}">
                <a16:creationId xmlns:a16="http://schemas.microsoft.com/office/drawing/2014/main" id="{BABA6524-B0EB-4E9C-BD37-C9750B269254}"/>
              </a:ext>
            </a:extLst>
          </p:cNvPr>
          <p:cNvSpPr>
            <a:spLocks xmlns:a="http://schemas.openxmlformats.org/drawingml/2006/main" noGrp="1"/>
          </p:cNvSpPr>
          <p:nvPr/>
        </p:nvSpPr>
        <p:spPr>
          <a:xfrm xmlns:a="http://schemas.openxmlformats.org/drawingml/2006/main">
            <a:off x="10001250" y="3867150"/>
            <a:ext cx="123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lgn="ctr">
              <a:defRPr sz="2625" b="1">
                <a:solidFill>
                  <a:srgbClr val="218B75"/>
                </a:solidFill>
                <a:latin typeface="Helvetica Neue"/>
                <a:ea typeface="Helvetica Neue"/>
                <a:cs typeface="Helvetica Neue"/>
              </a:defRPr>
            </a:pPr>
            <a:r>
              <a:rPr sz="2625" b="1">
                <a:solidFill>
                  <a:srgbClr val="218B75"/>
                </a:solidFill>
                <a:latin typeface="Helvetica Neue"/>
                <a:ea typeface="Helvetica Neue"/>
                <a:cs typeface="Helvetica Neue"/>
              </a:rPr>
              <a:t>1.4%</a:t>
            </a:r>
          </a:p>
        </p:txBody>
      </p:sp>
      <p:sp>
        <p:nvSpPr>
          <p:cNvPr id="23" name="">
            <a:extLst xmlns:a="http://schemas.openxmlformats.org/drawingml/2006/main">
              <a:ext uri="{FF2B5EF4-FFF2-40B4-BE49-F238E27FC236}">
                <a16:creationId xmlns:a16="http://schemas.microsoft.com/office/drawing/2014/main" id="{A5CA7520-D018-47A5-A524-B25DB6E4D9FF}"/>
              </a:ext>
            </a:extLst>
          </p:cNvPr>
          <p:cNvSpPr>
            <a:spLocks xmlns:a="http://schemas.openxmlformats.org/drawingml/2006/main" noGrp="1"/>
          </p:cNvSpPr>
          <p:nvPr/>
        </p:nvSpPr>
        <p:spPr>
          <a:xfrm xmlns:a="http://schemas.openxmlformats.org/drawingml/2006/main">
            <a:off x="9953625" y="4333875"/>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97"/>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percentage model</a:t>
            </a:r>
          </a:p>
        </p:txBody>
      </p:sp>
      <p:sp>
        <p:nvSpPr>
          <p:cNvPr id="24" name="">
            <a:extLst xmlns:a="http://schemas.openxmlformats.org/drawingml/2006/main">
              <a:ext uri="{FF2B5EF4-FFF2-40B4-BE49-F238E27FC236}">
                <a16:creationId xmlns:a16="http://schemas.microsoft.com/office/drawing/2014/main" id="{50516CC7-0946-458C-B4D8-2FC7D3A4BDB2}"/>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06</a:t>
            </a:r>
          </a:p>
        </p:txBody>
      </p:sp>
    </p:spTree>
    <p:extLst>
      <p:ext uri="{BB962C8B-B14F-4D97-AF65-F5344CB8AC3E}">
        <p14:creationId xmlns:p14="http://schemas.microsoft.com/office/powerpoint/2010/main" val="1659567495"/>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49D578-A1F3-40A1-B5B6-7E52CE9556F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REAL EXAMPLE</a:t>
            </a:r>
          </a:p>
        </p:txBody>
      </p:sp>
      <p:sp>
        <p:nvSpPr>
          <p:cNvPr id="2" name="">
            <a:extLst xmlns:a="http://schemas.openxmlformats.org/drawingml/2006/main">
              <a:ext uri="{FF2B5EF4-FFF2-40B4-BE49-F238E27FC236}">
                <a16:creationId xmlns:a16="http://schemas.microsoft.com/office/drawing/2014/main" id="{3AAC2019-944F-4A06-85B3-D264933AED6D}"/>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Same code, different indentation</a:t>
            </a:r>
          </a:p>
        </p:txBody>
      </p:sp>
      <p:sp>
        <p:nvSpPr>
          <p:cNvPr id="3" name="">
            <a:extLst xmlns:a="http://schemas.openxmlformats.org/drawingml/2006/main">
              <a:ext uri="{FF2B5EF4-FFF2-40B4-BE49-F238E27FC236}">
                <a16:creationId xmlns:a16="http://schemas.microsoft.com/office/drawing/2014/main" id="{3F298133-1B39-4291-8548-B670E416448D}"/>
              </a:ext>
            </a:extLst>
          </p:cNvPr>
          <p:cNvSpPr>
            <a:spLocks xmlns:a="http://schemas.openxmlformats.org/drawingml/2006/main" noGrp="1"/>
          </p:cNvSpPr>
          <p:nvPr/>
        </p:nvSpPr>
        <p:spPr>
          <a:xfrm xmlns:a="http://schemas.openxmlformats.org/drawingml/2006/main">
            <a:off x="685800" y="1200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E6775"/>
                </a:solidFill>
                <a:latin typeface="Helvetica Neue"/>
                <a:ea typeface="Helvetica Neue"/>
                <a:cs typeface="Helvetica Neue"/>
              </a:defRPr>
            </a:pPr>
            <a:r>
              <a:rPr sz="1350" b="0">
                <a:solidFill>
                  <a:srgbClr val="5E6775"/>
                </a:solidFill>
                <a:latin typeface="Helvetica Neue"/>
                <a:ea typeface="Helvetica Neue"/>
                <a:cs typeface="Helvetica Neue"/>
              </a:rPr>
              <a:t>Ladybird Browser PR 6220</a:t>
            </a:r>
          </a:p>
        </p:txBody>
      </p:sp>
      <p:sp>
        <p:nvSpPr>
          <p:cNvPr id="4" name="">
            <a:extLst xmlns:a="http://schemas.openxmlformats.org/drawingml/2006/main">
              <a:ext uri="{FF2B5EF4-FFF2-40B4-BE49-F238E27FC236}">
                <a16:creationId xmlns:a16="http://schemas.microsoft.com/office/drawing/2014/main" id="{3A938346-A0A3-477A-8A29-DB161B1EEA49}"/>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BD4E77-BFDB-47F8-8EE6-F5F760FD0F15}"/>
              </a:ext>
            </a:extLst>
          </p:cNvPr>
          <p:cNvSpPr>
            <a:spLocks xmlns:a="http://schemas.openxmlformats.org/drawingml/2006/main" noGrp="1"/>
          </p:cNvSpPr>
          <p:nvPr/>
        </p:nvSpPr>
        <p:spPr>
          <a:xfrm xmlns:a="http://schemas.openxmlformats.org/drawingml/2006/main">
            <a:off x="762000" y="19050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Suggested</a:t>
            </a:r>
          </a:p>
        </p:txBody>
      </p:sp>
      <p:sp>
        <p:nvSpPr>
          <p:cNvPr id="6" name="">
            <a:extLst xmlns:a="http://schemas.openxmlformats.org/drawingml/2006/main">
              <a:ext uri="{FF2B5EF4-FFF2-40B4-BE49-F238E27FC236}">
                <a16:creationId xmlns:a16="http://schemas.microsoft.com/office/drawing/2014/main" id="{786D6900-09A1-4A04-9605-932F65337DFE}"/>
              </a:ext>
            </a:extLst>
          </p:cNvPr>
          <p:cNvSpPr>
            <a:spLocks xmlns:a="http://schemas.openxmlformats.org/drawingml/2006/main" noGrp="1"/>
          </p:cNvSpPr>
          <p:nvPr/>
        </p:nvSpPr>
        <p:spPr>
          <a:xfrm xmlns:a="http://schemas.openxmlformats.org/drawingml/2006/main">
            <a:off x="762000" y="2238375"/>
            <a:ext cx="4762500" cy="1238250"/>
          </a:xfrm>
          <a:prstGeom xmlns:a="http://schemas.openxmlformats.org/drawingml/2006/main" prst="roundRect">
            <a:avLst>
              <a:gd name="adj" fmla="val 6154"/>
            </a:avLst>
          </a:prstGeom>
          <a:solidFill xmlns:a="http://schemas.openxmlformats.org/drawingml/2006/main">
            <a:srgbClr val="24303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DCD264-9132-4205-AC3E-9176CF0F9C46}"/>
              </a:ext>
            </a:extLst>
          </p:cNvPr>
          <p:cNvSpPr>
            <a:spLocks xmlns:a="http://schemas.openxmlformats.org/drawingml/2006/main" noGrp="1"/>
          </p:cNvSpPr>
          <p:nvPr/>
        </p:nvSpPr>
        <p:spPr>
          <a:xfrm xmlns:a="http://schemas.openxmlformats.org/drawingml/2006/main">
            <a:off x="1000125" y="24765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FFFFF"/>
                </a:solidFill>
                <a:latin typeface="Menlo"/>
                <a:ea typeface="Menlo"/>
                <a:cs typeface="Menlo"/>
              </a:defRPr>
            </a:pPr>
            <a:r>
              <a:rPr sz="1800" b="1">
                <a:solidFill>
                  <a:srgbClr val="FFFFFF"/>
                </a:solidFill>
                <a:latin typeface="Menlo"/>
                <a:ea typeface="Menlo"/>
                <a:cs typeface="Menlo"/>
              </a:rPr>
              <a:t>+m_pointer = &amp;callback();</a:t>
            </a:r>
          </a:p>
        </p:txBody>
      </p:sp>
      <p:sp>
        <p:nvSpPr>
          <p:cNvPr id="8" name="">
            <a:extLst xmlns:a="http://schemas.openxmlformats.org/drawingml/2006/main">
              <a:ext uri="{FF2B5EF4-FFF2-40B4-BE49-F238E27FC236}">
                <a16:creationId xmlns:a16="http://schemas.microsoft.com/office/drawing/2014/main" id="{46884471-E950-4124-B159-26764242A832}"/>
              </a:ext>
            </a:extLst>
          </p:cNvPr>
          <p:cNvSpPr>
            <a:spLocks xmlns:a="http://schemas.openxmlformats.org/drawingml/2006/main" noGrp="1"/>
          </p:cNvSpPr>
          <p:nvPr/>
        </p:nvSpPr>
        <p:spPr>
          <a:xfrm xmlns:a="http://schemas.openxmlformats.org/drawingml/2006/main">
            <a:off x="6667500" y="19050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5E6775"/>
                </a:solidFill>
                <a:latin typeface="Helvetica Neue"/>
                <a:ea typeface="Helvetica Neue"/>
                <a:cs typeface="Helvetica Neue"/>
              </a:defRPr>
            </a:pPr>
            <a:r>
              <a:rPr sz="1200" b="1">
                <a:solidFill>
                  <a:srgbClr val="5E6775"/>
                </a:solidFill>
                <a:latin typeface="Helvetica Neue"/>
                <a:ea typeface="Helvetica Neue"/>
                <a:cs typeface="Helvetica Neue"/>
              </a:rPr>
              <a:t>Merged</a:t>
            </a:r>
          </a:p>
        </p:txBody>
      </p:sp>
      <p:sp>
        <p:nvSpPr>
          <p:cNvPr id="9" name="">
            <a:extLst xmlns:a="http://schemas.openxmlformats.org/drawingml/2006/main">
              <a:ext uri="{FF2B5EF4-FFF2-40B4-BE49-F238E27FC236}">
                <a16:creationId xmlns:a16="http://schemas.microsoft.com/office/drawing/2014/main" id="{A70A1192-9CF5-4D36-9053-1A304A03F079}"/>
              </a:ext>
            </a:extLst>
          </p:cNvPr>
          <p:cNvSpPr>
            <a:spLocks xmlns:a="http://schemas.openxmlformats.org/drawingml/2006/main" noGrp="1"/>
          </p:cNvSpPr>
          <p:nvPr/>
        </p:nvSpPr>
        <p:spPr>
          <a:xfrm xmlns:a="http://schemas.openxmlformats.org/drawingml/2006/main">
            <a:off x="6667500" y="2238375"/>
            <a:ext cx="4762500" cy="1238250"/>
          </a:xfrm>
          <a:prstGeom xmlns:a="http://schemas.openxmlformats.org/drawingml/2006/main" prst="roundRect">
            <a:avLst>
              <a:gd name="adj" fmla="val 6154"/>
            </a:avLst>
          </a:prstGeom>
          <a:solidFill xmlns:a="http://schemas.openxmlformats.org/drawingml/2006/main">
            <a:srgbClr val="24303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24C043-FAAF-4E88-AF77-BE09190B4249}"/>
              </a:ext>
            </a:extLst>
          </p:cNvPr>
          <p:cNvSpPr>
            <a:spLocks xmlns:a="http://schemas.openxmlformats.org/drawingml/2006/main" noGrp="1"/>
          </p:cNvSpPr>
          <p:nvPr/>
        </p:nvSpPr>
        <p:spPr>
          <a:xfrm xmlns:a="http://schemas.openxmlformats.org/drawingml/2006/main">
            <a:off x="6905625" y="24765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Menlo"/>
                <a:ea typeface="Menlo"/>
                <a:cs typeface="Menlo"/>
              </a:defRPr>
            </a:pPr>
            <a:r>
              <a:rPr sz="1125" b="1">
                <a:solidFill>
                  <a:srgbClr val="FFFFFF"/>
                </a:solidFill>
                <a:latin typeface="Menlo"/>
                <a:ea typeface="Menlo"/>
                <a:cs typeface="Menlo"/>
              </a:rPr>
              <a:t>+            m_pointer = &amp;callback();</a:t>
            </a:r>
          </a:p>
        </p:txBody>
      </p:sp>
      <p:sp>
        <p:nvSpPr>
          <p:cNvPr id="11" name="">
            <a:extLst xmlns:a="http://schemas.openxmlformats.org/drawingml/2006/main">
              <a:ext uri="{FF2B5EF4-FFF2-40B4-BE49-F238E27FC236}">
                <a16:creationId xmlns:a16="http://schemas.microsoft.com/office/drawing/2014/main" id="{ADCA2A6D-E370-48CA-A730-6AA2502AA435}"/>
              </a:ext>
            </a:extLst>
          </p:cNvPr>
          <p:cNvSpPr>
            <a:spLocks xmlns:a="http://schemas.openxmlformats.org/drawingml/2006/main" noGrp="1"/>
          </p:cNvSpPr>
          <p:nvPr/>
        </p:nvSpPr>
        <p:spPr>
          <a:xfrm xmlns:a="http://schemas.openxmlformats.org/drawingml/2006/main">
            <a:off x="1047750" y="40957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5E6775"/>
                </a:solidFill>
                <a:latin typeface="Helvetica Neue"/>
                <a:ea typeface="Helvetica Neue"/>
                <a:cs typeface="Helvetica Neue"/>
              </a:defRPr>
            </a:pPr>
            <a:r>
              <a:rPr sz="1125" b="1">
                <a:solidFill>
                  <a:srgbClr val="5E6775"/>
                </a:solidFill>
                <a:latin typeface="Helvetica Neue"/>
                <a:ea typeface="Helvetica Neue"/>
                <a:cs typeface="Helvetica Neue"/>
              </a:rPr>
              <a:t>Exact baseline</a:t>
            </a:r>
          </a:p>
        </p:txBody>
      </p:sp>
      <p:sp>
        <p:nvSpPr>
          <p:cNvPr id="12" name="">
            <a:extLst xmlns:a="http://schemas.openxmlformats.org/drawingml/2006/main">
              <a:ext uri="{FF2B5EF4-FFF2-40B4-BE49-F238E27FC236}">
                <a16:creationId xmlns:a16="http://schemas.microsoft.com/office/drawing/2014/main" id="{71FB98E9-59BE-43F0-9251-EA1AECEC2BEF}"/>
              </a:ext>
            </a:extLst>
          </p:cNvPr>
          <p:cNvSpPr>
            <a:spLocks xmlns:a="http://schemas.openxmlformats.org/drawingml/2006/main" noGrp="1"/>
          </p:cNvSpPr>
          <p:nvPr/>
        </p:nvSpPr>
        <p:spPr>
          <a:xfrm xmlns:a="http://schemas.openxmlformats.org/drawingml/2006/main">
            <a:off x="1047750" y="43815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lgn="l">
              <a:defRPr sz="3300" b="1">
                <a:solidFill>
                  <a:srgbClr val="E76F51"/>
                </a:solidFill>
                <a:latin typeface="Helvetica Neue"/>
                <a:ea typeface="Helvetica Neue"/>
                <a:cs typeface="Helvetica Neue"/>
              </a:defRPr>
            </a:pPr>
            <a:r>
              <a:rPr sz="3300" b="1">
                <a:solidFill>
                  <a:srgbClr val="E76F51"/>
                </a:solidFill>
                <a:latin typeface="Helvetica Neue"/>
                <a:ea typeface="Helvetica Neue"/>
                <a:cs typeface="Helvetica Neue"/>
              </a:rPr>
              <a:t>0%</a:t>
            </a:r>
          </a:p>
        </p:txBody>
      </p:sp>
      <p:sp>
        <p:nvSpPr>
          <p:cNvPr id="13" name="">
            <a:extLst xmlns:a="http://schemas.openxmlformats.org/drawingml/2006/main">
              <a:ext uri="{FF2B5EF4-FFF2-40B4-BE49-F238E27FC236}">
                <a16:creationId xmlns:a16="http://schemas.microsoft.com/office/drawing/2014/main" id="{0ECA8BA0-F4DA-433C-A3A2-92CF2F1C6E89}"/>
              </a:ext>
            </a:extLst>
          </p:cNvPr>
          <p:cNvSpPr>
            <a:spLocks xmlns:a="http://schemas.openxmlformats.org/drawingml/2006/main" noGrp="1"/>
          </p:cNvSpPr>
          <p:nvPr/>
        </p:nvSpPr>
        <p:spPr>
          <a:xfrm xmlns:a="http://schemas.openxmlformats.org/drawingml/2006/main">
            <a:off x="4572000" y="40957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5E6775"/>
                </a:solidFill>
                <a:latin typeface="Helvetica Neue"/>
                <a:ea typeface="Helvetica Neue"/>
                <a:cs typeface="Helvetica Neue"/>
              </a:defRPr>
            </a:pPr>
            <a:r>
              <a:rPr sz="1125" b="1">
                <a:solidFill>
                  <a:srgbClr val="5E6775"/>
                </a:solidFill>
                <a:latin typeface="Helvetica Neue"/>
                <a:ea typeface="Helvetica Neue"/>
                <a:cs typeface="Helvetica Neue"/>
              </a:rPr>
              <a:t>Percentage model</a:t>
            </a:r>
          </a:p>
        </p:txBody>
      </p:sp>
      <p:sp>
        <p:nvSpPr>
          <p:cNvPr id="14" name="">
            <a:extLst xmlns:a="http://schemas.openxmlformats.org/drawingml/2006/main">
              <a:ext uri="{FF2B5EF4-FFF2-40B4-BE49-F238E27FC236}">
                <a16:creationId xmlns:a16="http://schemas.microsoft.com/office/drawing/2014/main" id="{9448F416-016E-44FC-A908-3742110F4739}"/>
              </a:ext>
            </a:extLst>
          </p:cNvPr>
          <p:cNvSpPr>
            <a:spLocks xmlns:a="http://schemas.openxmlformats.org/drawingml/2006/main" noGrp="1"/>
          </p:cNvSpPr>
          <p:nvPr/>
        </p:nvSpPr>
        <p:spPr>
          <a:xfrm xmlns:a="http://schemas.openxmlformats.org/drawingml/2006/main">
            <a:off x="4572000" y="43815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lgn="l">
              <a:defRPr sz="3300" b="1">
                <a:solidFill>
                  <a:srgbClr val="218B75"/>
                </a:solidFill>
                <a:latin typeface="Helvetica Neue"/>
                <a:ea typeface="Helvetica Neue"/>
                <a:cs typeface="Helvetica Neue"/>
              </a:defRPr>
            </a:pPr>
            <a:r>
              <a:rPr sz="3300" b="1">
                <a:solidFill>
                  <a:srgbClr val="218B75"/>
                </a:solidFill>
                <a:latin typeface="Helvetica Neue"/>
                <a:ea typeface="Helvetica Neue"/>
                <a:cs typeface="Helvetica Neue"/>
              </a:rPr>
              <a:t>100%</a:t>
            </a:r>
          </a:p>
        </p:txBody>
      </p:sp>
      <p:sp>
        <p:nvSpPr>
          <p:cNvPr id="15" name="">
            <a:extLst xmlns:a="http://schemas.openxmlformats.org/drawingml/2006/main">
              <a:ext uri="{FF2B5EF4-FFF2-40B4-BE49-F238E27FC236}">
                <a16:creationId xmlns:a16="http://schemas.microsoft.com/office/drawing/2014/main" id="{87568C40-0C68-48A6-99A9-B30AF0302A77}"/>
              </a:ext>
            </a:extLst>
          </p:cNvPr>
          <p:cNvSpPr>
            <a:spLocks xmlns:a="http://schemas.openxmlformats.org/drawingml/2006/main" noGrp="1"/>
          </p:cNvSpPr>
          <p:nvPr/>
        </p:nvSpPr>
        <p:spPr>
          <a:xfrm xmlns:a="http://schemas.openxmlformats.org/drawingml/2006/main">
            <a:off x="8286750" y="40957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5E6775"/>
                </a:solidFill>
                <a:latin typeface="Helvetica Neue"/>
                <a:ea typeface="Helvetica Neue"/>
                <a:cs typeface="Helvetica Neue"/>
              </a:defRPr>
            </a:pPr>
            <a:r>
              <a:rPr sz="1125" b="1">
                <a:solidFill>
                  <a:srgbClr val="5E6775"/>
                </a:solidFill>
                <a:latin typeface="Helvetica Neue"/>
                <a:ea typeface="Helvetica Neue"/>
                <a:cs typeface="Helvetica Neue"/>
              </a:rPr>
              <a:t>Reference</a:t>
            </a:r>
          </a:p>
        </p:txBody>
      </p:sp>
      <p:sp>
        <p:nvSpPr>
          <p:cNvPr id="16" name="">
            <a:extLst xmlns:a="http://schemas.openxmlformats.org/drawingml/2006/main">
              <a:ext uri="{FF2B5EF4-FFF2-40B4-BE49-F238E27FC236}">
                <a16:creationId xmlns:a16="http://schemas.microsoft.com/office/drawing/2014/main" id="{C449A82F-01D7-45ED-9D45-13CD5746CF74}"/>
              </a:ext>
            </a:extLst>
          </p:cNvPr>
          <p:cNvSpPr>
            <a:spLocks xmlns:a="http://schemas.openxmlformats.org/drawingml/2006/main" noGrp="1"/>
          </p:cNvSpPr>
          <p:nvPr/>
        </p:nvSpPr>
        <p:spPr>
          <a:xfrm xmlns:a="http://schemas.openxmlformats.org/drawingml/2006/main">
            <a:off x="8286750" y="43815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454"/>
          </a:bodyPr>
          <a:lstStyle xmlns:a="http://schemas.openxmlformats.org/drawingml/2006/main"/>
          <a:p xmlns:a="http://schemas.openxmlformats.org/drawingml/2006/main">
            <a:pPr algn="l">
              <a:defRPr sz="3300" b="1">
                <a:solidFill>
                  <a:srgbClr val="2864DC"/>
                </a:solidFill>
                <a:latin typeface="Helvetica Neue"/>
                <a:ea typeface="Helvetica Neue"/>
                <a:cs typeface="Helvetica Neue"/>
              </a:defRPr>
            </a:pPr>
            <a:r>
              <a:rPr sz="3300" b="1">
                <a:solidFill>
                  <a:srgbClr val="2864DC"/>
                </a:solidFill>
                <a:latin typeface="Helvetica Neue"/>
                <a:ea typeface="Helvetica Neue"/>
                <a:cs typeface="Helvetica Neue"/>
              </a:rPr>
              <a:t>100%</a:t>
            </a:r>
          </a:p>
        </p:txBody>
      </p:sp>
      <p:sp>
        <p:nvSpPr>
          <p:cNvPr id="17" name="">
            <a:extLst xmlns:a="http://schemas.openxmlformats.org/drawingml/2006/main">
              <a:ext uri="{FF2B5EF4-FFF2-40B4-BE49-F238E27FC236}">
                <a16:creationId xmlns:a16="http://schemas.microsoft.com/office/drawing/2014/main" id="{6AEF574E-983D-44FB-9B32-1A1194566356}"/>
              </a:ext>
            </a:extLst>
          </p:cNvPr>
          <p:cNvSpPr>
            <a:spLocks xmlns:a="http://schemas.openxmlformats.org/drawingml/2006/main" noGrp="1"/>
          </p:cNvSpPr>
          <p:nvPr/>
        </p:nvSpPr>
        <p:spPr>
          <a:xfrm xmlns:a="http://schemas.openxmlformats.org/drawingml/2006/main">
            <a:off x="1047750" y="5429250"/>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16"/>
          </a:bodyPr>
          <a:lstStyle xmlns:a="http://schemas.openxmlformats.org/drawingml/2006/main"/>
          <a:p xmlns:a="http://schemas.openxmlformats.org/drawingml/2006/main">
            <a:pPr algn="ctr">
              <a:defRPr sz="1650" b="1">
                <a:solidFill>
                  <a:srgbClr val="14213D"/>
                </a:solidFill>
                <a:latin typeface="Helvetica Neue"/>
                <a:ea typeface="Helvetica Neue"/>
                <a:cs typeface="Helvetica Neue"/>
              </a:defRPr>
            </a:pPr>
            <a:r>
              <a:rPr sz="1650" b="1">
                <a:solidFill>
                  <a:srgbClr val="14213D"/>
                </a:solidFill>
                <a:latin typeface="Helvetica Neue"/>
                <a:ea typeface="Helvetica Neue"/>
                <a:cs typeface="Helvetica Neue"/>
              </a:rPr>
              <a:t>Leading spaces are meaningful to the exact fingerprint, even when the implementation is clearly the same.</a:t>
            </a:r>
          </a:p>
        </p:txBody>
      </p:sp>
      <p:sp>
        <p:nvSpPr>
          <p:cNvPr id="18" name="">
            <a:extLst xmlns:a="http://schemas.openxmlformats.org/drawingml/2006/main">
              <a:ext uri="{FF2B5EF4-FFF2-40B4-BE49-F238E27FC236}">
                <a16:creationId xmlns:a16="http://schemas.microsoft.com/office/drawing/2014/main" id="{820C647F-14A4-445B-A64E-E54DA584F0EC}"/>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07</a:t>
            </a:r>
          </a:p>
        </p:txBody>
      </p:sp>
    </p:spTree>
    <p:extLst>
      <p:ext uri="{BB962C8B-B14F-4D97-AF65-F5344CB8AC3E}">
        <p14:creationId xmlns:p14="http://schemas.microsoft.com/office/powerpoint/2010/main" val="2088170489"/>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0FB935A-DAFF-42A1-8D59-867A24A80BA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B59BA87D-C516-45DF-A6FE-AFD838FB4696}"/>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Each method fails differently</a:t>
            </a:r>
          </a:p>
        </p:txBody>
      </p:sp>
      <p:sp>
        <p:nvSpPr>
          <p:cNvPr id="3" name="">
            <a:extLst xmlns:a="http://schemas.openxmlformats.org/drawingml/2006/main">
              <a:ext uri="{FF2B5EF4-FFF2-40B4-BE49-F238E27FC236}">
                <a16:creationId xmlns:a16="http://schemas.microsoft.com/office/drawing/2014/main" id="{E52181BA-20ED-4A3C-B8F0-0AFA17B87125}"/>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64293F-1D77-409B-8BB8-C52D639E4164}"/>
              </a:ext>
            </a:extLst>
          </p:cNvPr>
          <p:cNvSpPr>
            <a:spLocks xmlns:a="http://schemas.openxmlformats.org/drawingml/2006/main" noGrp="1"/>
          </p:cNvSpPr>
          <p:nvPr/>
        </p:nvSpPr>
        <p:spPr>
          <a:xfrm xmlns:a="http://schemas.openxmlformats.org/drawingml/2006/main">
            <a:off x="666750" y="1952625"/>
            <a:ext cx="5143500" cy="3857625"/>
          </a:xfrm>
          <a:prstGeom xmlns:a="http://schemas.openxmlformats.org/drawingml/2006/main" prst="roundRect">
            <a:avLst>
              <a:gd name="adj" fmla="val 1975"/>
            </a:avLst>
          </a:prstGeom>
          <a:solidFill xmlns:a="http://schemas.openxmlformats.org/drawingml/2006/main">
            <a:srgbClr val="F9DD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4C52E1-5C42-4C83-A86E-820813CC21E8}"/>
              </a:ext>
            </a:extLst>
          </p:cNvPr>
          <p:cNvSpPr>
            <a:spLocks xmlns:a="http://schemas.openxmlformats.org/drawingml/2006/main" noGrp="1"/>
          </p:cNvSpPr>
          <p:nvPr/>
        </p:nvSpPr>
        <p:spPr>
          <a:xfrm xmlns:a="http://schemas.openxmlformats.org/drawingml/2006/main">
            <a:off x="971550" y="217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l">
              <a:defRPr sz="1875" b="1">
                <a:solidFill>
                  <a:srgbClr val="E76F51"/>
                </a:solidFill>
                <a:latin typeface="Helvetica Neue"/>
                <a:ea typeface="Helvetica Neue"/>
                <a:cs typeface="Helvetica Neue"/>
              </a:defRPr>
            </a:pPr>
            <a:r>
              <a:rPr sz="1875" b="1">
                <a:solidFill>
                  <a:srgbClr val="E76F51"/>
                </a:solidFill>
                <a:latin typeface="Helvetica Neue"/>
                <a:ea typeface="Helvetica Neue"/>
                <a:cs typeface="Helvetica Neue"/>
              </a:rPr>
              <a:t>Exact baseline</a:t>
            </a:r>
          </a:p>
        </p:txBody>
      </p:sp>
      <p:sp>
        <p:nvSpPr>
          <p:cNvPr id="6" name="">
            <a:extLst xmlns:a="http://schemas.openxmlformats.org/drawingml/2006/main">
              <a:ext uri="{FF2B5EF4-FFF2-40B4-BE49-F238E27FC236}">
                <a16:creationId xmlns:a16="http://schemas.microsoft.com/office/drawing/2014/main" id="{B71C8D66-3F3C-40D2-AE2C-78642D914E2F}"/>
              </a:ext>
            </a:extLst>
          </p:cNvPr>
          <p:cNvSpPr>
            <a:spLocks xmlns:a="http://schemas.openxmlformats.org/drawingml/2006/main" noGrp="1"/>
          </p:cNvSpPr>
          <p:nvPr/>
        </p:nvSpPr>
        <p:spPr>
          <a:xfrm xmlns:a="http://schemas.openxmlformats.org/drawingml/2006/main">
            <a:off x="1000125" y="2762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84F8B51C-2437-4C83-83A3-8EEF97FBD514}"/>
              </a:ext>
            </a:extLst>
          </p:cNvPr>
          <p:cNvSpPr>
            <a:spLocks xmlns:a="http://schemas.openxmlformats.org/drawingml/2006/main" noGrp="1"/>
          </p:cNvSpPr>
          <p:nvPr/>
        </p:nvSpPr>
        <p:spPr>
          <a:xfrm xmlns:a="http://schemas.openxmlformats.org/drawingml/2006/main">
            <a:off x="1285875" y="2733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Misses formatting-only changes</a:t>
            </a:r>
          </a:p>
        </p:txBody>
      </p:sp>
      <p:sp>
        <p:nvSpPr>
          <p:cNvPr id="8" name="">
            <a:extLst xmlns:a="http://schemas.openxmlformats.org/drawingml/2006/main">
              <a:ext uri="{FF2B5EF4-FFF2-40B4-BE49-F238E27FC236}">
                <a16:creationId xmlns:a16="http://schemas.microsoft.com/office/drawing/2014/main" id="{C7425785-DFAF-4936-9783-7D9C1B5982A1}"/>
              </a:ext>
            </a:extLst>
          </p:cNvPr>
          <p:cNvSpPr>
            <a:spLocks xmlns:a="http://schemas.openxmlformats.org/drawingml/2006/main" noGrp="1"/>
          </p:cNvSpPr>
          <p:nvPr/>
        </p:nvSpPr>
        <p:spPr>
          <a:xfrm xmlns:a="http://schemas.openxmlformats.org/drawingml/2006/main">
            <a:off x="1000125" y="32861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43C0CDDE-7A56-41AD-B6A0-87A8813C1FE6}"/>
              </a:ext>
            </a:extLst>
          </p:cNvPr>
          <p:cNvSpPr>
            <a:spLocks xmlns:a="http://schemas.openxmlformats.org/drawingml/2006/main" noGrp="1"/>
          </p:cNvSpPr>
          <p:nvPr/>
        </p:nvSpPr>
        <p:spPr>
          <a:xfrm xmlns:a="http://schemas.openxmlformats.org/drawingml/2006/main">
            <a:off x="1285875" y="32575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Misses renamed identifiers and literals</a:t>
            </a:r>
          </a:p>
        </p:txBody>
      </p:sp>
      <p:sp>
        <p:nvSpPr>
          <p:cNvPr id="10" name="">
            <a:extLst xmlns:a="http://schemas.openxmlformats.org/drawingml/2006/main">
              <a:ext uri="{FF2B5EF4-FFF2-40B4-BE49-F238E27FC236}">
                <a16:creationId xmlns:a16="http://schemas.microsoft.com/office/drawing/2014/main" id="{52ABCB8B-2084-448D-92A7-27B67B69AE31}"/>
              </a:ext>
            </a:extLst>
          </p:cNvPr>
          <p:cNvSpPr>
            <a:spLocks xmlns:a="http://schemas.openxmlformats.org/drawingml/2006/main" noGrp="1"/>
          </p:cNvSpPr>
          <p:nvPr/>
        </p:nvSpPr>
        <p:spPr>
          <a:xfrm xmlns:a="http://schemas.openxmlformats.org/drawingml/2006/main">
            <a:off x="1000125" y="38100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18439B5-5C5A-4D28-864A-B6793DF0EF51}"/>
              </a:ext>
            </a:extLst>
          </p:cNvPr>
          <p:cNvSpPr>
            <a:spLocks xmlns:a="http://schemas.openxmlformats.org/drawingml/2006/main" noGrp="1"/>
          </p:cNvSpPr>
          <p:nvPr/>
        </p:nvSpPr>
        <p:spPr>
          <a:xfrm xmlns:a="http://schemas.openxmlformats.org/drawingml/2006/main">
            <a:off x="1285875" y="37814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Misses moved or rewritten code</a:t>
            </a:r>
          </a:p>
        </p:txBody>
      </p:sp>
      <p:sp>
        <p:nvSpPr>
          <p:cNvPr id="12" name="">
            <a:extLst xmlns:a="http://schemas.openxmlformats.org/drawingml/2006/main">
              <a:ext uri="{FF2B5EF4-FFF2-40B4-BE49-F238E27FC236}">
                <a16:creationId xmlns:a16="http://schemas.microsoft.com/office/drawing/2014/main" id="{BFC03658-330B-495A-A8D7-37EBFB40DBC1}"/>
              </a:ext>
            </a:extLst>
          </p:cNvPr>
          <p:cNvSpPr>
            <a:spLocks xmlns:a="http://schemas.openxmlformats.org/drawingml/2006/main" noGrp="1"/>
          </p:cNvSpPr>
          <p:nvPr/>
        </p:nvSpPr>
        <p:spPr>
          <a:xfrm xmlns:a="http://schemas.openxmlformats.org/drawingml/2006/main">
            <a:off x="1000125" y="43338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F2CB8801-8CB4-4FEA-9FF3-88BFBC4C3539}"/>
              </a:ext>
            </a:extLst>
          </p:cNvPr>
          <p:cNvSpPr>
            <a:spLocks xmlns:a="http://schemas.openxmlformats.org/drawingml/2006/main" noGrp="1"/>
          </p:cNvSpPr>
          <p:nvPr/>
        </p:nvSpPr>
        <p:spPr>
          <a:xfrm xmlns:a="http://schemas.openxmlformats.org/drawingml/2006/main">
            <a:off x="1285875" y="43053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Preserved indentation creates false zeros</a:t>
            </a:r>
          </a:p>
        </p:txBody>
      </p:sp>
      <p:sp>
        <p:nvSpPr>
          <p:cNvPr id="14" name="">
            <a:extLst xmlns:a="http://schemas.openxmlformats.org/drawingml/2006/main">
              <a:ext uri="{FF2B5EF4-FFF2-40B4-BE49-F238E27FC236}">
                <a16:creationId xmlns:a16="http://schemas.microsoft.com/office/drawing/2014/main" id="{EFCC2380-654C-4F99-BFB3-2328A716C153}"/>
              </a:ext>
            </a:extLst>
          </p:cNvPr>
          <p:cNvSpPr>
            <a:spLocks xmlns:a="http://schemas.openxmlformats.org/drawingml/2006/main" noGrp="1"/>
          </p:cNvSpPr>
          <p:nvPr/>
        </p:nvSpPr>
        <p:spPr>
          <a:xfrm xmlns:a="http://schemas.openxmlformats.org/drawingml/2006/main">
            <a:off x="1000125" y="48577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E76F51"/>
                </a:solidFill>
                <a:latin typeface="Helvetica Neue"/>
                <a:ea typeface="Helvetica Neue"/>
                <a:cs typeface="Helvetica Neue"/>
              </a:defRPr>
            </a:pPr>
            <a:r>
              <a:rPr sz="1500" b="1">
                <a:solidFill>
                  <a:srgbClr val="E76F51"/>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8A200EE3-D7BE-4E99-93FB-285BB2964B13}"/>
              </a:ext>
            </a:extLst>
          </p:cNvPr>
          <p:cNvSpPr>
            <a:spLocks xmlns:a="http://schemas.openxmlformats.org/drawingml/2006/main" noGrp="1"/>
          </p:cNvSpPr>
          <p:nvPr/>
        </p:nvSpPr>
        <p:spPr>
          <a:xfrm xmlns:a="http://schemas.openxmlformats.org/drawingml/2006/main">
            <a:off x="1285875" y="48291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Produces many extreme 0% results</a:t>
            </a:r>
          </a:p>
        </p:txBody>
      </p:sp>
      <p:sp>
        <p:nvSpPr>
          <p:cNvPr id="16" name="">
            <a:extLst xmlns:a="http://schemas.openxmlformats.org/drawingml/2006/main">
              <a:ext uri="{FF2B5EF4-FFF2-40B4-BE49-F238E27FC236}">
                <a16:creationId xmlns:a16="http://schemas.microsoft.com/office/drawing/2014/main" id="{6CF95977-898B-4D24-994C-DCC0D797FE91}"/>
              </a:ext>
            </a:extLst>
          </p:cNvPr>
          <p:cNvSpPr>
            <a:spLocks xmlns:a="http://schemas.openxmlformats.org/drawingml/2006/main" noGrp="1"/>
          </p:cNvSpPr>
          <p:nvPr/>
        </p:nvSpPr>
        <p:spPr>
          <a:xfrm xmlns:a="http://schemas.openxmlformats.org/drawingml/2006/main">
            <a:off x="6381750" y="1952625"/>
            <a:ext cx="5143500" cy="3857625"/>
          </a:xfrm>
          <a:prstGeom xmlns:a="http://schemas.openxmlformats.org/drawingml/2006/main" prst="roundRect">
            <a:avLst>
              <a:gd name="adj" fmla="val 1975"/>
            </a:avLst>
          </a:prstGeom>
          <a:solidFill xmlns:a="http://schemas.openxmlformats.org/drawingml/2006/main">
            <a:srgbClr val="DDE8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D5B8AE4-F827-462B-8371-E6F1546137F0}"/>
              </a:ext>
            </a:extLst>
          </p:cNvPr>
          <p:cNvSpPr>
            <a:spLocks xmlns:a="http://schemas.openxmlformats.org/drawingml/2006/main" noGrp="1"/>
          </p:cNvSpPr>
          <p:nvPr/>
        </p:nvSpPr>
        <p:spPr>
          <a:xfrm xmlns:a="http://schemas.openxmlformats.org/drawingml/2006/main">
            <a:off x="6686550" y="21717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l">
              <a:defRPr sz="1875" b="1">
                <a:solidFill>
                  <a:srgbClr val="2864DC"/>
                </a:solidFill>
                <a:latin typeface="Helvetica Neue"/>
                <a:ea typeface="Helvetica Neue"/>
                <a:cs typeface="Helvetica Neue"/>
              </a:defRPr>
            </a:pPr>
            <a:r>
              <a:rPr sz="1875" b="1">
                <a:solidFill>
                  <a:srgbClr val="2864DC"/>
                </a:solidFill>
                <a:latin typeface="Helvetica Neue"/>
                <a:ea typeface="Helvetica Neue"/>
                <a:cs typeface="Helvetica Neue"/>
              </a:rPr>
              <a:t>Percentage model</a:t>
            </a:r>
          </a:p>
        </p:txBody>
      </p:sp>
      <p:sp>
        <p:nvSpPr>
          <p:cNvPr id="18" name="">
            <a:extLst xmlns:a="http://schemas.openxmlformats.org/drawingml/2006/main">
              <a:ext uri="{FF2B5EF4-FFF2-40B4-BE49-F238E27FC236}">
                <a16:creationId xmlns:a16="http://schemas.microsoft.com/office/drawing/2014/main" id="{EC4CA43F-91DE-4DC8-8E2D-8E35C445CEC2}"/>
              </a:ext>
            </a:extLst>
          </p:cNvPr>
          <p:cNvSpPr>
            <a:spLocks xmlns:a="http://schemas.openxmlformats.org/drawingml/2006/main" noGrp="1"/>
          </p:cNvSpPr>
          <p:nvPr/>
        </p:nvSpPr>
        <p:spPr>
          <a:xfrm xmlns:a="http://schemas.openxmlformats.org/drawingml/2006/main">
            <a:off x="6715125" y="27622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6BFD6C19-52EC-4EF6-BA11-002A1627EFE6}"/>
              </a:ext>
            </a:extLst>
          </p:cNvPr>
          <p:cNvSpPr>
            <a:spLocks xmlns:a="http://schemas.openxmlformats.org/drawingml/2006/main" noGrp="1"/>
          </p:cNvSpPr>
          <p:nvPr/>
        </p:nvSpPr>
        <p:spPr>
          <a:xfrm xmlns:a="http://schemas.openxmlformats.org/drawingml/2006/main">
            <a:off x="7000875" y="27336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Needs feature extraction and model artifacts</a:t>
            </a:r>
          </a:p>
        </p:txBody>
      </p:sp>
      <p:sp>
        <p:nvSpPr>
          <p:cNvPr id="20" name="">
            <a:extLst xmlns:a="http://schemas.openxmlformats.org/drawingml/2006/main">
              <a:ext uri="{FF2B5EF4-FFF2-40B4-BE49-F238E27FC236}">
                <a16:creationId xmlns:a16="http://schemas.microsoft.com/office/drawing/2014/main" id="{5DB087B1-E1A8-494E-831E-B6044424529C}"/>
              </a:ext>
            </a:extLst>
          </p:cNvPr>
          <p:cNvSpPr>
            <a:spLocks xmlns:a="http://schemas.openxmlformats.org/drawingml/2006/main" noGrp="1"/>
          </p:cNvSpPr>
          <p:nvPr/>
        </p:nvSpPr>
        <p:spPr>
          <a:xfrm xmlns:a="http://schemas.openxmlformats.org/drawingml/2006/main">
            <a:off x="6715125" y="32861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95BEBADB-7F0A-4F2B-9075-0BD5BA81D911}"/>
              </a:ext>
            </a:extLst>
          </p:cNvPr>
          <p:cNvSpPr>
            <a:spLocks xmlns:a="http://schemas.openxmlformats.org/drawingml/2006/main" noGrp="1"/>
          </p:cNvSpPr>
          <p:nvPr/>
        </p:nvSpPr>
        <p:spPr>
          <a:xfrm xmlns:a="http://schemas.openxmlformats.org/drawingml/2006/main">
            <a:off x="7000875" y="32575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More compute and more dependencies</a:t>
            </a:r>
          </a:p>
        </p:txBody>
      </p:sp>
      <p:sp>
        <p:nvSpPr>
          <p:cNvPr id="22" name="">
            <a:extLst xmlns:a="http://schemas.openxmlformats.org/drawingml/2006/main">
              <a:ext uri="{FF2B5EF4-FFF2-40B4-BE49-F238E27FC236}">
                <a16:creationId xmlns:a16="http://schemas.microsoft.com/office/drawing/2014/main" id="{2B6774B9-8E74-457B-9314-306ECAEA86A7}"/>
              </a:ext>
            </a:extLst>
          </p:cNvPr>
          <p:cNvSpPr>
            <a:spLocks xmlns:a="http://schemas.openxmlformats.org/drawingml/2006/main" noGrp="1"/>
          </p:cNvSpPr>
          <p:nvPr/>
        </p:nvSpPr>
        <p:spPr>
          <a:xfrm xmlns:a="http://schemas.openxmlformats.org/drawingml/2006/main">
            <a:off x="6715125" y="38100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01A34195-2984-4588-9706-5A2DD02A8162}"/>
              </a:ext>
            </a:extLst>
          </p:cNvPr>
          <p:cNvSpPr>
            <a:spLocks xmlns:a="http://schemas.openxmlformats.org/drawingml/2006/main" noGrp="1"/>
          </p:cNvSpPr>
          <p:nvPr/>
        </p:nvSpPr>
        <p:spPr>
          <a:xfrm xmlns:a="http://schemas.openxmlformats.org/drawingml/2006/main">
            <a:off x="7000875" y="37814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Training data and behavior can drift</a:t>
            </a:r>
          </a:p>
        </p:txBody>
      </p:sp>
      <p:sp>
        <p:nvSpPr>
          <p:cNvPr id="24" name="">
            <a:extLst xmlns:a="http://schemas.openxmlformats.org/drawingml/2006/main">
              <a:ext uri="{FF2B5EF4-FFF2-40B4-BE49-F238E27FC236}">
                <a16:creationId xmlns:a16="http://schemas.microsoft.com/office/drawing/2014/main" id="{5C747B86-B0DC-4A6E-8BA2-375525A64492}"/>
              </a:ext>
            </a:extLst>
          </p:cNvPr>
          <p:cNvSpPr>
            <a:spLocks xmlns:a="http://schemas.openxmlformats.org/drawingml/2006/main" noGrp="1"/>
          </p:cNvSpPr>
          <p:nvPr/>
        </p:nvSpPr>
        <p:spPr>
          <a:xfrm xmlns:a="http://schemas.openxmlformats.org/drawingml/2006/main">
            <a:off x="6715125" y="43338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E3C85C00-7DEC-4C2A-A379-9E3CB6E0E340}"/>
              </a:ext>
            </a:extLst>
          </p:cNvPr>
          <p:cNvSpPr>
            <a:spLocks xmlns:a="http://schemas.openxmlformats.org/drawingml/2006/main" noGrp="1"/>
          </p:cNvSpPr>
          <p:nvPr/>
        </p:nvSpPr>
        <p:spPr>
          <a:xfrm xmlns:a="http://schemas.openxmlformats.org/drawingml/2006/main">
            <a:off x="7000875" y="43053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Harder to explain one prediction</a:t>
            </a:r>
          </a:p>
        </p:txBody>
      </p:sp>
      <p:sp>
        <p:nvSpPr>
          <p:cNvPr id="26" name="">
            <a:extLst xmlns:a="http://schemas.openxmlformats.org/drawingml/2006/main">
              <a:ext uri="{FF2B5EF4-FFF2-40B4-BE49-F238E27FC236}">
                <a16:creationId xmlns:a16="http://schemas.microsoft.com/office/drawing/2014/main" id="{AE23D738-C352-4890-AEDC-4F87C4B19F0D}"/>
              </a:ext>
            </a:extLst>
          </p:cNvPr>
          <p:cNvSpPr>
            <a:spLocks xmlns:a="http://schemas.openxmlformats.org/drawingml/2006/main" noGrp="1"/>
          </p:cNvSpPr>
          <p:nvPr/>
        </p:nvSpPr>
        <p:spPr>
          <a:xfrm xmlns:a="http://schemas.openxmlformats.org/drawingml/2006/main">
            <a:off x="6715125" y="48577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7"/>
          </a:bodyPr>
          <a:lstStyle xmlns:a="http://schemas.openxmlformats.org/drawingml/2006/main"/>
          <a:p xmlns:a="http://schemas.openxmlformats.org/drawingml/2006/main">
            <a:pPr algn="l">
              <a:defRPr sz="1500" b="1">
                <a:solidFill>
                  <a:srgbClr val="2864DC"/>
                </a:solidFill>
                <a:latin typeface="Helvetica Neue"/>
                <a:ea typeface="Helvetica Neue"/>
                <a:cs typeface="Helvetica Neue"/>
              </a:defRPr>
            </a:pPr>
            <a:r>
              <a:rPr sz="1500" b="1">
                <a:solidFill>
                  <a:srgbClr val="2864DC"/>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9B6EC1D2-4DF3-4E13-BAD3-09D6BFD9F9AA}"/>
              </a:ext>
            </a:extLst>
          </p:cNvPr>
          <p:cNvSpPr>
            <a:spLocks xmlns:a="http://schemas.openxmlformats.org/drawingml/2006/main" noGrp="1"/>
          </p:cNvSpPr>
          <p:nvPr/>
        </p:nvSpPr>
        <p:spPr>
          <a:xfrm xmlns:a="http://schemas.openxmlformats.org/drawingml/2006/main">
            <a:off x="7000875" y="48291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4213D"/>
                </a:solidFill>
                <a:latin typeface="Helvetica Neue"/>
                <a:ea typeface="Helvetica Neue"/>
                <a:cs typeface="Helvetica Neue"/>
              </a:defRPr>
            </a:pPr>
            <a:r>
              <a:rPr sz="1425" b="0">
                <a:solidFill>
                  <a:srgbClr val="14213D"/>
                </a:solidFill>
                <a:latin typeface="Helvetica Neue"/>
                <a:ea typeface="Helvetica Neue"/>
                <a:cs typeface="Helvetica Neue"/>
              </a:rPr>
              <a:t>One percentage hides uncertainty</a:t>
            </a:r>
          </a:p>
        </p:txBody>
      </p:sp>
      <p:sp>
        <p:nvSpPr>
          <p:cNvPr id="28" name="">
            <a:extLst xmlns:a="http://schemas.openxmlformats.org/drawingml/2006/main">
              <a:ext uri="{FF2B5EF4-FFF2-40B4-BE49-F238E27FC236}">
                <a16:creationId xmlns:a16="http://schemas.microsoft.com/office/drawing/2014/main" id="{1A8561D5-7F40-449A-AAA0-0B2E171E126C}"/>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08</a:t>
            </a:r>
          </a:p>
        </p:txBody>
      </p:sp>
    </p:spTree>
    <p:extLst>
      <p:ext uri="{BB962C8B-B14F-4D97-AF65-F5344CB8AC3E}">
        <p14:creationId xmlns:p14="http://schemas.microsoft.com/office/powerpoint/2010/main" val="719666792"/>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F0A1A67-727E-4916-8777-0C7168D25E5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E76F51"/>
                </a:solidFill>
                <a:latin typeface="Helvetica Neue"/>
                <a:ea typeface="Helvetica Neue"/>
                <a:cs typeface="Helvetica Neue"/>
              </a:defRPr>
            </a:pPr>
            <a:r>
              <a:rPr sz="1050" b="1">
                <a:solidFill>
                  <a:srgbClr val="E76F51"/>
                </a:solidFill>
                <a:latin typeface="Helvetica Neue"/>
                <a:ea typeface="Helvetica Neue"/>
                <a:cs typeface="Helvetica Neue"/>
              </a:rPr>
              <a:t>OPERATING LIFECYCLE</a:t>
            </a:r>
          </a:p>
        </p:txBody>
      </p:sp>
      <p:sp>
        <p:nvSpPr>
          <p:cNvPr id="2" name="">
            <a:extLst xmlns:a="http://schemas.openxmlformats.org/drawingml/2006/main">
              <a:ext uri="{FF2B5EF4-FFF2-40B4-BE49-F238E27FC236}">
                <a16:creationId xmlns:a16="http://schemas.microsoft.com/office/drawing/2014/main" id="{FAA00CC0-D29C-4152-89D8-6C988D06090F}"/>
              </a:ext>
            </a:extLst>
          </p:cNvPr>
          <p:cNvSpPr>
            <a:spLocks xmlns:a="http://schemas.openxmlformats.org/drawingml/2006/main" noGrp="1"/>
          </p:cNvSpPr>
          <p:nvPr/>
        </p:nvSpPr>
        <p:spPr>
          <a:xfrm xmlns:a="http://schemas.openxmlformats.org/drawingml/2006/main">
            <a:off x="685800" y="609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13D"/>
                </a:solidFill>
                <a:latin typeface="Helvetica Neue"/>
                <a:ea typeface="Helvetica Neue"/>
                <a:cs typeface="Helvetica Neue"/>
              </a:defRPr>
            </a:pPr>
            <a:r>
              <a:rPr sz="2850" b="1">
                <a:solidFill>
                  <a:srgbClr val="14213D"/>
                </a:solidFill>
                <a:latin typeface="Helvetica Neue"/>
                <a:ea typeface="Helvetica Neue"/>
                <a:cs typeface="Helvetica Neue"/>
              </a:rPr>
              <a:t>The model needs active ownership after launch</a:t>
            </a:r>
          </a:p>
        </p:txBody>
      </p:sp>
      <p:sp>
        <p:nvSpPr>
          <p:cNvPr id="3" name="">
            <a:extLst xmlns:a="http://schemas.openxmlformats.org/drawingml/2006/main">
              <a:ext uri="{FF2B5EF4-FFF2-40B4-BE49-F238E27FC236}">
                <a16:creationId xmlns:a16="http://schemas.microsoft.com/office/drawing/2014/main" id="{DF36C598-CE67-4B5B-9E55-1D67D0F08602}"/>
              </a:ext>
            </a:extLst>
          </p:cNvPr>
          <p:cNvSpPr>
            <a:spLocks xmlns:a="http://schemas.openxmlformats.org/drawingml/2006/main" noGrp="1"/>
          </p:cNvSpPr>
          <p:nvPr/>
        </p:nvSpPr>
        <p:spPr>
          <a:xfrm xmlns:a="http://schemas.openxmlformats.org/drawingml/2006/main">
            <a:off x="685800" y="1657350"/>
            <a:ext cx="685800" cy="47625"/>
          </a:xfrm>
          <a:prstGeom xmlns:a="http://schemas.openxmlformats.org/drawingml/2006/main" prst="rect">
            <a:avLst/>
          </a:prstGeom>
          <a:solidFill xmlns:a="http://schemas.openxmlformats.org/drawingml/2006/main">
            <a:srgbClr val="E76F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4E8698-E92A-4F5A-9670-41A8E6183771}"/>
              </a:ext>
            </a:extLst>
          </p:cNvPr>
          <p:cNvSpPr>
            <a:spLocks xmlns:a="http://schemas.openxmlformats.org/drawingml/2006/main" noGrp="1"/>
          </p:cNvSpPr>
          <p:nvPr/>
        </p:nvSpPr>
        <p:spPr>
          <a:xfrm xmlns:a="http://schemas.openxmlformats.org/drawingml/2006/main">
            <a:off x="685800" y="1857375"/>
            <a:ext cx="1066800" cy="323850"/>
          </a:xfrm>
          <a:prstGeom xmlns:a="http://schemas.openxmlformats.org/drawingml/2006/main" prst="roundRect">
            <a:avLst>
              <a:gd name="adj" fmla="val 23529"/>
            </a:avLst>
          </a:prstGeom>
          <a:solidFill xmlns:a="http://schemas.openxmlformats.org/drawingml/2006/main">
            <a:srgbClr val="E76F5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7F07AA-4268-4C95-B85B-652F54998F97}"/>
              </a:ext>
            </a:extLst>
          </p:cNvPr>
          <p:cNvSpPr>
            <a:spLocks xmlns:a="http://schemas.openxmlformats.org/drawingml/2006/main" noGrp="1"/>
          </p:cNvSpPr>
          <p:nvPr/>
        </p:nvSpPr>
        <p:spPr>
          <a:xfrm xmlns:a="http://schemas.openxmlformats.org/drawingml/2006/main">
            <a:off x="781050" y="1876425"/>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BUILD</a:t>
            </a:r>
          </a:p>
        </p:txBody>
      </p:sp>
      <p:sp>
        <p:nvSpPr>
          <p:cNvPr id="6" name="">
            <a:extLst xmlns:a="http://schemas.openxmlformats.org/drawingml/2006/main">
              <a:ext uri="{FF2B5EF4-FFF2-40B4-BE49-F238E27FC236}">
                <a16:creationId xmlns:a16="http://schemas.microsoft.com/office/drawing/2014/main" id="{950581CA-F825-4452-AD65-B5E19F883BC7}"/>
              </a:ext>
            </a:extLst>
          </p:cNvPr>
          <p:cNvSpPr>
            <a:spLocks xmlns:a="http://schemas.openxmlformats.org/drawingml/2006/main" noGrp="1"/>
          </p:cNvSpPr>
          <p:nvPr/>
        </p:nvSpPr>
        <p:spPr>
          <a:xfrm xmlns:a="http://schemas.openxmlformats.org/drawingml/2006/main">
            <a:off x="2095500" y="18383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E76F51"/>
                </a:solidFill>
                <a:latin typeface="Helvetica Neue"/>
                <a:ea typeface="Helvetica Neue"/>
                <a:cs typeface="Helvetica Neue"/>
              </a:defRPr>
            </a:pPr>
            <a:r>
              <a:rPr sz="1350" b="1">
                <a:solidFill>
                  <a:srgbClr val="E76F51"/>
                </a:solidFill>
                <a:latin typeface="Helvetica Neue"/>
                <a:ea typeface="Helvetica Neue"/>
                <a:cs typeface="Helvetica Neue"/>
              </a:rPr>
              <a:t>Version parser + score</a:t>
            </a:r>
          </a:p>
        </p:txBody>
      </p:sp>
      <p:sp>
        <p:nvSpPr>
          <p:cNvPr id="7" name="">
            <a:extLst xmlns:a="http://schemas.openxmlformats.org/drawingml/2006/main">
              <a:ext uri="{FF2B5EF4-FFF2-40B4-BE49-F238E27FC236}">
                <a16:creationId xmlns:a16="http://schemas.microsoft.com/office/drawing/2014/main" id="{99B87A1F-CFB7-41BA-9808-E1796FE5206A}"/>
              </a:ext>
            </a:extLst>
          </p:cNvPr>
          <p:cNvSpPr>
            <a:spLocks xmlns:a="http://schemas.openxmlformats.org/drawingml/2006/main" noGrp="1"/>
          </p:cNvSpPr>
          <p:nvPr/>
        </p:nvSpPr>
        <p:spPr>
          <a:xfrm xmlns:a="http://schemas.openxmlformats.org/drawingml/2006/main">
            <a:off x="6572250" y="18383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2864DC"/>
                </a:solidFill>
                <a:latin typeface="Helvetica Neue"/>
                <a:ea typeface="Helvetica Neue"/>
                <a:cs typeface="Helvetica Neue"/>
              </a:defRPr>
            </a:pPr>
            <a:r>
              <a:rPr sz="1350" b="1">
                <a:solidFill>
                  <a:srgbClr val="2864DC"/>
                </a:solidFill>
                <a:latin typeface="Helvetica Neue"/>
                <a:ea typeface="Helvetica Neue"/>
                <a:cs typeface="Helvetica Neue"/>
              </a:rPr>
              <a:t>Version features + train artifact</a:t>
            </a:r>
          </a:p>
        </p:txBody>
      </p:sp>
      <p:sp>
        <p:nvSpPr>
          <p:cNvPr id="8" name="">
            <a:extLst xmlns:a="http://schemas.openxmlformats.org/drawingml/2006/main">
              <a:ext uri="{FF2B5EF4-FFF2-40B4-BE49-F238E27FC236}">
                <a16:creationId xmlns:a16="http://schemas.microsoft.com/office/drawing/2014/main" id="{60199BC1-D0BB-4F46-B7A3-A6FF7B23AABA}"/>
              </a:ext>
            </a:extLst>
          </p:cNvPr>
          <p:cNvSpPr>
            <a:spLocks xmlns:a="http://schemas.openxmlformats.org/drawingml/2006/main" noGrp="1"/>
          </p:cNvSpPr>
          <p:nvPr/>
        </p:nvSpPr>
        <p:spPr>
          <a:xfrm xmlns:a="http://schemas.openxmlformats.org/drawingml/2006/main">
            <a:off x="1181100" y="2238375"/>
            <a:ext cx="38100" cy="457200"/>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2D9565-0958-4713-9948-F88F338FA57A}"/>
              </a:ext>
            </a:extLst>
          </p:cNvPr>
          <p:cNvSpPr>
            <a:spLocks xmlns:a="http://schemas.openxmlformats.org/drawingml/2006/main" noGrp="1"/>
          </p:cNvSpPr>
          <p:nvPr/>
        </p:nvSpPr>
        <p:spPr>
          <a:xfrm xmlns:a="http://schemas.openxmlformats.org/drawingml/2006/main">
            <a:off x="685800" y="2695575"/>
            <a:ext cx="1066800" cy="323850"/>
          </a:xfrm>
          <a:prstGeom xmlns:a="http://schemas.openxmlformats.org/drawingml/2006/main" prst="roundRect">
            <a:avLst>
              <a:gd name="adj" fmla="val 23529"/>
            </a:avLst>
          </a:prstGeom>
          <a:solidFill xmlns:a="http://schemas.openxmlformats.org/drawingml/2006/main">
            <a:srgbClr val="14213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F1D6C8-F483-4113-855C-65C5928F2431}"/>
              </a:ext>
            </a:extLst>
          </p:cNvPr>
          <p:cNvSpPr>
            <a:spLocks xmlns:a="http://schemas.openxmlformats.org/drawingml/2006/main" noGrp="1"/>
          </p:cNvSpPr>
          <p:nvPr/>
        </p:nvSpPr>
        <p:spPr>
          <a:xfrm xmlns:a="http://schemas.openxmlformats.org/drawingml/2006/main">
            <a:off x="781050" y="2714625"/>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DEPLOY</a:t>
            </a:r>
          </a:p>
        </p:txBody>
      </p:sp>
      <p:sp>
        <p:nvSpPr>
          <p:cNvPr id="11" name="">
            <a:extLst xmlns:a="http://schemas.openxmlformats.org/drawingml/2006/main">
              <a:ext uri="{FF2B5EF4-FFF2-40B4-BE49-F238E27FC236}">
                <a16:creationId xmlns:a16="http://schemas.microsoft.com/office/drawing/2014/main" id="{D9D9B22D-288C-4441-A97D-B42609D61C23}"/>
              </a:ext>
            </a:extLst>
          </p:cNvPr>
          <p:cNvSpPr>
            <a:spLocks xmlns:a="http://schemas.openxmlformats.org/drawingml/2006/main" noGrp="1"/>
          </p:cNvSpPr>
          <p:nvPr/>
        </p:nvSpPr>
        <p:spPr>
          <a:xfrm xmlns:a="http://schemas.openxmlformats.org/drawingml/2006/main">
            <a:off x="2095500" y="26765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76F51"/>
                </a:solidFill>
                <a:latin typeface="Helvetica Neue"/>
                <a:ea typeface="Helvetica Neue"/>
                <a:cs typeface="Helvetica Neue"/>
              </a:defRPr>
            </a:pPr>
            <a:r>
              <a:rPr sz="1350" b="0">
                <a:solidFill>
                  <a:srgbClr val="E76F51"/>
                </a:solidFill>
                <a:latin typeface="Helvetica Neue"/>
                <a:ea typeface="Helvetica Neue"/>
                <a:cs typeface="Helvetica Neue"/>
              </a:rPr>
              <a:t>Ship one small algorithm</a:t>
            </a:r>
          </a:p>
        </p:txBody>
      </p:sp>
      <p:sp>
        <p:nvSpPr>
          <p:cNvPr id="12" name="">
            <a:extLst xmlns:a="http://schemas.openxmlformats.org/drawingml/2006/main">
              <a:ext uri="{FF2B5EF4-FFF2-40B4-BE49-F238E27FC236}">
                <a16:creationId xmlns:a16="http://schemas.microsoft.com/office/drawing/2014/main" id="{01313F7A-4B4C-4412-A7AE-56E5E8C3870B}"/>
              </a:ext>
            </a:extLst>
          </p:cNvPr>
          <p:cNvSpPr>
            <a:spLocks xmlns:a="http://schemas.openxmlformats.org/drawingml/2006/main" noGrp="1"/>
          </p:cNvSpPr>
          <p:nvPr/>
        </p:nvSpPr>
        <p:spPr>
          <a:xfrm xmlns:a="http://schemas.openxmlformats.org/drawingml/2006/main">
            <a:off x="6572250" y="26765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864DC"/>
                </a:solidFill>
                <a:latin typeface="Helvetica Neue"/>
                <a:ea typeface="Helvetica Neue"/>
                <a:cs typeface="Helvetica Neue"/>
              </a:defRPr>
            </a:pPr>
            <a:r>
              <a:rPr sz="1350" b="0">
                <a:solidFill>
                  <a:srgbClr val="2864DC"/>
                </a:solidFill>
                <a:latin typeface="Helvetica Neue"/>
                <a:ea typeface="Helvetica Neue"/>
                <a:cs typeface="Helvetica Neue"/>
              </a:rPr>
              <a:t>Ship code + model + dependencies</a:t>
            </a:r>
          </a:p>
        </p:txBody>
      </p:sp>
      <p:sp>
        <p:nvSpPr>
          <p:cNvPr id="13" name="">
            <a:extLst xmlns:a="http://schemas.openxmlformats.org/drawingml/2006/main">
              <a:ext uri="{FF2B5EF4-FFF2-40B4-BE49-F238E27FC236}">
                <a16:creationId xmlns:a16="http://schemas.microsoft.com/office/drawing/2014/main" id="{E68C84E7-4FB1-4021-A1DE-F7C0A2B64579}"/>
              </a:ext>
            </a:extLst>
          </p:cNvPr>
          <p:cNvSpPr>
            <a:spLocks xmlns:a="http://schemas.openxmlformats.org/drawingml/2006/main" noGrp="1"/>
          </p:cNvSpPr>
          <p:nvPr/>
        </p:nvSpPr>
        <p:spPr>
          <a:xfrm xmlns:a="http://schemas.openxmlformats.org/drawingml/2006/main">
            <a:off x="1181100" y="3076575"/>
            <a:ext cx="38100" cy="457200"/>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8F8E7C-6473-4DD7-900C-5986D85CF619}"/>
              </a:ext>
            </a:extLst>
          </p:cNvPr>
          <p:cNvSpPr>
            <a:spLocks xmlns:a="http://schemas.openxmlformats.org/drawingml/2006/main" noGrp="1"/>
          </p:cNvSpPr>
          <p:nvPr/>
        </p:nvSpPr>
        <p:spPr>
          <a:xfrm xmlns:a="http://schemas.openxmlformats.org/drawingml/2006/main">
            <a:off x="685800" y="3533775"/>
            <a:ext cx="1066800" cy="323850"/>
          </a:xfrm>
          <a:prstGeom xmlns:a="http://schemas.openxmlformats.org/drawingml/2006/main" prst="roundRect">
            <a:avLst>
              <a:gd name="adj" fmla="val 23529"/>
            </a:avLst>
          </a:prstGeom>
          <a:solidFill xmlns:a="http://schemas.openxmlformats.org/drawingml/2006/main">
            <a:srgbClr val="1421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47D9F3-616E-4256-9339-2228AA5A4764}"/>
              </a:ext>
            </a:extLst>
          </p:cNvPr>
          <p:cNvSpPr>
            <a:spLocks xmlns:a="http://schemas.openxmlformats.org/drawingml/2006/main" noGrp="1"/>
          </p:cNvSpPr>
          <p:nvPr/>
        </p:nvSpPr>
        <p:spPr>
          <a:xfrm xmlns:a="http://schemas.openxmlformats.org/drawingml/2006/main">
            <a:off x="781050" y="3552825"/>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RUN</a:t>
            </a:r>
          </a:p>
        </p:txBody>
      </p:sp>
      <p:sp>
        <p:nvSpPr>
          <p:cNvPr id="16" name="">
            <a:extLst xmlns:a="http://schemas.openxmlformats.org/drawingml/2006/main">
              <a:ext uri="{FF2B5EF4-FFF2-40B4-BE49-F238E27FC236}">
                <a16:creationId xmlns:a16="http://schemas.microsoft.com/office/drawing/2014/main" id="{3E353C87-4507-4DFD-A663-3F71B38BC2F2}"/>
              </a:ext>
            </a:extLst>
          </p:cNvPr>
          <p:cNvSpPr>
            <a:spLocks xmlns:a="http://schemas.openxmlformats.org/drawingml/2006/main" noGrp="1"/>
          </p:cNvSpPr>
          <p:nvPr/>
        </p:nvSpPr>
        <p:spPr>
          <a:xfrm xmlns:a="http://schemas.openxmlformats.org/drawingml/2006/main">
            <a:off x="2095500" y="35147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76F51"/>
                </a:solidFill>
                <a:latin typeface="Helvetica Neue"/>
                <a:ea typeface="Helvetica Neue"/>
                <a:cs typeface="Helvetica Neue"/>
              </a:defRPr>
            </a:pPr>
            <a:r>
              <a:rPr sz="1350" b="0">
                <a:solidFill>
                  <a:srgbClr val="E76F51"/>
                </a:solidFill>
                <a:latin typeface="Helvetica Neue"/>
                <a:ea typeface="Helvetica Neue"/>
                <a:cs typeface="Helvetica Neue"/>
              </a:rPr>
              <a:t>Parse and count lines</a:t>
            </a:r>
          </a:p>
        </p:txBody>
      </p:sp>
      <p:sp>
        <p:nvSpPr>
          <p:cNvPr id="17" name="">
            <a:extLst xmlns:a="http://schemas.openxmlformats.org/drawingml/2006/main">
              <a:ext uri="{FF2B5EF4-FFF2-40B4-BE49-F238E27FC236}">
                <a16:creationId xmlns:a16="http://schemas.microsoft.com/office/drawing/2014/main" id="{0F378C3D-1E4C-4C11-A940-64A89C930D61}"/>
              </a:ext>
            </a:extLst>
          </p:cNvPr>
          <p:cNvSpPr>
            <a:spLocks xmlns:a="http://schemas.openxmlformats.org/drawingml/2006/main" noGrp="1"/>
          </p:cNvSpPr>
          <p:nvPr/>
        </p:nvSpPr>
        <p:spPr>
          <a:xfrm xmlns:a="http://schemas.openxmlformats.org/drawingml/2006/main">
            <a:off x="6572250" y="35147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864DC"/>
                </a:solidFill>
                <a:latin typeface="Helvetica Neue"/>
                <a:ea typeface="Helvetica Neue"/>
                <a:cs typeface="Helvetica Neue"/>
              </a:defRPr>
            </a:pPr>
            <a:r>
              <a:rPr sz="1350" b="0">
                <a:solidFill>
                  <a:srgbClr val="2864DC"/>
                </a:solidFill>
                <a:latin typeface="Helvetica Neue"/>
                <a:ea typeface="Helvetica Neue"/>
                <a:cs typeface="Helvetica Neue"/>
              </a:rPr>
              <a:t>Extract features + load ensemble</a:t>
            </a:r>
          </a:p>
        </p:txBody>
      </p:sp>
      <p:sp>
        <p:nvSpPr>
          <p:cNvPr id="18" name="">
            <a:extLst xmlns:a="http://schemas.openxmlformats.org/drawingml/2006/main">
              <a:ext uri="{FF2B5EF4-FFF2-40B4-BE49-F238E27FC236}">
                <a16:creationId xmlns:a16="http://schemas.microsoft.com/office/drawing/2014/main" id="{E02B728C-19EF-4145-828C-5BBA3C141D0A}"/>
              </a:ext>
            </a:extLst>
          </p:cNvPr>
          <p:cNvSpPr>
            <a:spLocks xmlns:a="http://schemas.openxmlformats.org/drawingml/2006/main" noGrp="1"/>
          </p:cNvSpPr>
          <p:nvPr/>
        </p:nvSpPr>
        <p:spPr>
          <a:xfrm xmlns:a="http://schemas.openxmlformats.org/drawingml/2006/main">
            <a:off x="1181100" y="3914775"/>
            <a:ext cx="38100" cy="457200"/>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F2B00F1-BDB5-4C3D-ADE1-D0EF7B04F5C8}"/>
              </a:ext>
            </a:extLst>
          </p:cNvPr>
          <p:cNvSpPr>
            <a:spLocks xmlns:a="http://schemas.openxmlformats.org/drawingml/2006/main" noGrp="1"/>
          </p:cNvSpPr>
          <p:nvPr/>
        </p:nvSpPr>
        <p:spPr>
          <a:xfrm xmlns:a="http://schemas.openxmlformats.org/drawingml/2006/main">
            <a:off x="685800" y="4371975"/>
            <a:ext cx="1066800" cy="323850"/>
          </a:xfrm>
          <a:prstGeom xmlns:a="http://schemas.openxmlformats.org/drawingml/2006/main" prst="roundRect">
            <a:avLst>
              <a:gd name="adj" fmla="val 23529"/>
            </a:avLst>
          </a:prstGeom>
          <a:solidFill xmlns:a="http://schemas.openxmlformats.org/drawingml/2006/main">
            <a:srgbClr val="1421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24EE8C3-CC37-4987-ABDA-A05EE3487CBF}"/>
              </a:ext>
            </a:extLst>
          </p:cNvPr>
          <p:cNvSpPr>
            <a:spLocks xmlns:a="http://schemas.openxmlformats.org/drawingml/2006/main" noGrp="1"/>
          </p:cNvSpPr>
          <p:nvPr/>
        </p:nvSpPr>
        <p:spPr>
          <a:xfrm xmlns:a="http://schemas.openxmlformats.org/drawingml/2006/main">
            <a:off x="781050" y="4391025"/>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MONITOR</a:t>
            </a:r>
          </a:p>
        </p:txBody>
      </p:sp>
      <p:sp>
        <p:nvSpPr>
          <p:cNvPr id="21" name="">
            <a:extLst xmlns:a="http://schemas.openxmlformats.org/drawingml/2006/main">
              <a:ext uri="{FF2B5EF4-FFF2-40B4-BE49-F238E27FC236}">
                <a16:creationId xmlns:a16="http://schemas.microsoft.com/office/drawing/2014/main" id="{38ABA477-0117-4844-AEDB-9DFA444E8364}"/>
              </a:ext>
            </a:extLst>
          </p:cNvPr>
          <p:cNvSpPr>
            <a:spLocks xmlns:a="http://schemas.openxmlformats.org/drawingml/2006/main" noGrp="1"/>
          </p:cNvSpPr>
          <p:nvPr/>
        </p:nvSpPr>
        <p:spPr>
          <a:xfrm xmlns:a="http://schemas.openxmlformats.org/drawingml/2006/main">
            <a:off x="2095500" y="43529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76F51"/>
                </a:solidFill>
                <a:latin typeface="Helvetica Neue"/>
                <a:ea typeface="Helvetica Neue"/>
                <a:cs typeface="Helvetica Neue"/>
              </a:defRPr>
            </a:pPr>
            <a:r>
              <a:rPr sz="1350" b="0">
                <a:solidFill>
                  <a:srgbClr val="E76F51"/>
                </a:solidFill>
                <a:latin typeface="Helvetica Neue"/>
                <a:ea typeface="Helvetica Neue"/>
                <a:cs typeface="Helvetica Neue"/>
              </a:rPr>
              <a:t>Track parser failures</a:t>
            </a:r>
          </a:p>
        </p:txBody>
      </p:sp>
      <p:sp>
        <p:nvSpPr>
          <p:cNvPr id="22" name="">
            <a:extLst xmlns:a="http://schemas.openxmlformats.org/drawingml/2006/main">
              <a:ext uri="{FF2B5EF4-FFF2-40B4-BE49-F238E27FC236}">
                <a16:creationId xmlns:a16="http://schemas.microsoft.com/office/drawing/2014/main" id="{CCB52527-A047-4800-84BD-D6AA323EE121}"/>
              </a:ext>
            </a:extLst>
          </p:cNvPr>
          <p:cNvSpPr>
            <a:spLocks xmlns:a="http://schemas.openxmlformats.org/drawingml/2006/main" noGrp="1"/>
          </p:cNvSpPr>
          <p:nvPr/>
        </p:nvSpPr>
        <p:spPr>
          <a:xfrm xmlns:a="http://schemas.openxmlformats.org/drawingml/2006/main">
            <a:off x="6572250" y="43529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864DC"/>
                </a:solidFill>
                <a:latin typeface="Helvetica Neue"/>
                <a:ea typeface="Helvetica Neue"/>
                <a:cs typeface="Helvetica Neue"/>
              </a:defRPr>
            </a:pPr>
            <a:r>
              <a:rPr sz="1350" b="0">
                <a:solidFill>
                  <a:srgbClr val="2864DC"/>
                </a:solidFill>
                <a:latin typeface="Helvetica Neue"/>
                <a:ea typeface="Helvetica Neue"/>
                <a:cs typeface="Helvetica Neue"/>
              </a:rPr>
              <a:t>Track drift, errors, confidence</a:t>
            </a:r>
          </a:p>
        </p:txBody>
      </p:sp>
      <p:sp>
        <p:nvSpPr>
          <p:cNvPr id="23" name="">
            <a:extLst xmlns:a="http://schemas.openxmlformats.org/drawingml/2006/main">
              <a:ext uri="{FF2B5EF4-FFF2-40B4-BE49-F238E27FC236}">
                <a16:creationId xmlns:a16="http://schemas.microsoft.com/office/drawing/2014/main" id="{97D6E09D-8930-4C3B-8299-70BB9516D1DD}"/>
              </a:ext>
            </a:extLst>
          </p:cNvPr>
          <p:cNvSpPr>
            <a:spLocks xmlns:a="http://schemas.openxmlformats.org/drawingml/2006/main" noGrp="1"/>
          </p:cNvSpPr>
          <p:nvPr/>
        </p:nvSpPr>
        <p:spPr>
          <a:xfrm xmlns:a="http://schemas.openxmlformats.org/drawingml/2006/main">
            <a:off x="1181100" y="4752975"/>
            <a:ext cx="38100" cy="457200"/>
          </a:xfrm>
          <a:prstGeom xmlns:a="http://schemas.openxmlformats.org/drawingml/2006/main" prst="rect">
            <a:avLst/>
          </a:prstGeom>
          <a:solidFill xmlns:a="http://schemas.openxmlformats.org/drawingml/2006/main">
            <a:srgbClr val="D8D2C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8F2BF18-072E-4993-9A50-FC42A59638A2}"/>
              </a:ext>
            </a:extLst>
          </p:cNvPr>
          <p:cNvSpPr>
            <a:spLocks xmlns:a="http://schemas.openxmlformats.org/drawingml/2006/main" noGrp="1"/>
          </p:cNvSpPr>
          <p:nvPr/>
        </p:nvSpPr>
        <p:spPr>
          <a:xfrm xmlns:a="http://schemas.openxmlformats.org/drawingml/2006/main">
            <a:off x="685800" y="5210175"/>
            <a:ext cx="1066800" cy="323850"/>
          </a:xfrm>
          <a:prstGeom xmlns:a="http://schemas.openxmlformats.org/drawingml/2006/main" prst="roundRect">
            <a:avLst>
              <a:gd name="adj" fmla="val 23529"/>
            </a:avLst>
          </a:prstGeom>
          <a:solidFill xmlns:a="http://schemas.openxmlformats.org/drawingml/2006/main">
            <a:srgbClr val="14213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55B6427-80A0-4AB1-8E29-CCE993B6A888}"/>
              </a:ext>
            </a:extLst>
          </p:cNvPr>
          <p:cNvSpPr>
            <a:spLocks xmlns:a="http://schemas.openxmlformats.org/drawingml/2006/main" noGrp="1"/>
          </p:cNvSpPr>
          <p:nvPr/>
        </p:nvSpPr>
        <p:spPr>
          <a:xfrm xmlns:a="http://schemas.openxmlformats.org/drawingml/2006/main">
            <a:off x="781050" y="5229225"/>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IMPROVE</a:t>
            </a:r>
          </a:p>
        </p:txBody>
      </p:sp>
      <p:sp>
        <p:nvSpPr>
          <p:cNvPr id="26" name="">
            <a:extLst xmlns:a="http://schemas.openxmlformats.org/drawingml/2006/main">
              <a:ext uri="{FF2B5EF4-FFF2-40B4-BE49-F238E27FC236}">
                <a16:creationId xmlns:a16="http://schemas.microsoft.com/office/drawing/2014/main" id="{8570785D-1138-477C-9D64-1170B1D5B0A1}"/>
              </a:ext>
            </a:extLst>
          </p:cNvPr>
          <p:cNvSpPr>
            <a:spLocks xmlns:a="http://schemas.openxmlformats.org/drawingml/2006/main" noGrp="1"/>
          </p:cNvSpPr>
          <p:nvPr/>
        </p:nvSpPr>
        <p:spPr>
          <a:xfrm xmlns:a="http://schemas.openxmlformats.org/drawingml/2006/main">
            <a:off x="2095500" y="51911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76F51"/>
                </a:solidFill>
                <a:latin typeface="Helvetica Neue"/>
                <a:ea typeface="Helvetica Neue"/>
                <a:cs typeface="Helvetica Neue"/>
              </a:defRPr>
            </a:pPr>
            <a:r>
              <a:rPr sz="1350" b="0">
                <a:solidFill>
                  <a:srgbClr val="E76F51"/>
                </a:solidFill>
                <a:latin typeface="Helvetica Neue"/>
                <a:ea typeface="Helvetica Neue"/>
                <a:cs typeface="Helvetica Neue"/>
              </a:rPr>
              <a:t>Add format edge cases</a:t>
            </a:r>
          </a:p>
        </p:txBody>
      </p:sp>
      <p:sp>
        <p:nvSpPr>
          <p:cNvPr id="27" name="">
            <a:extLst xmlns:a="http://schemas.openxmlformats.org/drawingml/2006/main">
              <a:ext uri="{FF2B5EF4-FFF2-40B4-BE49-F238E27FC236}">
                <a16:creationId xmlns:a16="http://schemas.microsoft.com/office/drawing/2014/main" id="{C2A1EA3F-BECE-4ABC-98A4-883079681BD5}"/>
              </a:ext>
            </a:extLst>
          </p:cNvPr>
          <p:cNvSpPr>
            <a:spLocks xmlns:a="http://schemas.openxmlformats.org/drawingml/2006/main" noGrp="1"/>
          </p:cNvSpPr>
          <p:nvPr/>
        </p:nvSpPr>
        <p:spPr>
          <a:xfrm xmlns:a="http://schemas.openxmlformats.org/drawingml/2006/main">
            <a:off x="6572250" y="51911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864DC"/>
                </a:solidFill>
                <a:latin typeface="Helvetica Neue"/>
                <a:ea typeface="Helvetica Neue"/>
                <a:cs typeface="Helvetica Neue"/>
              </a:defRPr>
            </a:pPr>
            <a:r>
              <a:rPr sz="1350" b="0">
                <a:solidFill>
                  <a:srgbClr val="2864DC"/>
                </a:solidFill>
                <a:latin typeface="Helvetica Neue"/>
                <a:ea typeface="Helvetica Neue"/>
                <a:cs typeface="Helvetica Neue"/>
              </a:rPr>
              <a:t>Relabel, retrain, revalidate</a:t>
            </a:r>
          </a:p>
        </p:txBody>
      </p:sp>
      <p:sp>
        <p:nvSpPr>
          <p:cNvPr id="28" name="">
            <a:extLst xmlns:a="http://schemas.openxmlformats.org/drawingml/2006/main">
              <a:ext uri="{FF2B5EF4-FFF2-40B4-BE49-F238E27FC236}">
                <a16:creationId xmlns:a16="http://schemas.microsoft.com/office/drawing/2014/main" id="{C0C34AF7-7C18-461C-A147-47D00B73B7E3}"/>
              </a:ext>
            </a:extLst>
          </p:cNvPr>
          <p:cNvSpPr>
            <a:spLocks xmlns:a="http://schemas.openxmlformats.org/drawingml/2006/main" noGrp="1"/>
          </p:cNvSpPr>
          <p:nvPr/>
        </p:nvSpPr>
        <p:spPr>
          <a:xfrm xmlns:a="http://schemas.openxmlformats.org/drawingml/2006/main">
            <a:off x="2095500" y="60483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Rudimentary exact</a:t>
            </a:r>
          </a:p>
        </p:txBody>
      </p:sp>
      <p:sp>
        <p:nvSpPr>
          <p:cNvPr id="29" name="">
            <a:extLst xmlns:a="http://schemas.openxmlformats.org/drawingml/2006/main">
              <a:ext uri="{FF2B5EF4-FFF2-40B4-BE49-F238E27FC236}">
                <a16:creationId xmlns:a16="http://schemas.microsoft.com/office/drawing/2014/main" id="{517EF1F7-DCCB-4E88-BF07-6C9A260A2C23}"/>
              </a:ext>
            </a:extLst>
          </p:cNvPr>
          <p:cNvSpPr>
            <a:spLocks xmlns:a="http://schemas.openxmlformats.org/drawingml/2006/main" noGrp="1"/>
          </p:cNvSpPr>
          <p:nvPr/>
        </p:nvSpPr>
        <p:spPr>
          <a:xfrm xmlns:a="http://schemas.openxmlformats.org/drawingml/2006/main">
            <a:off x="6572250" y="60483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2864DC"/>
                </a:solidFill>
                <a:latin typeface="Helvetica Neue"/>
                <a:ea typeface="Helvetica Neue"/>
                <a:cs typeface="Helvetica Neue"/>
              </a:defRPr>
            </a:pPr>
            <a:r>
              <a:rPr sz="1125" b="1">
                <a:solidFill>
                  <a:srgbClr val="2864DC"/>
                </a:solidFill>
                <a:latin typeface="Helvetica Neue"/>
                <a:ea typeface="Helvetica Neue"/>
                <a:cs typeface="Helvetica Neue"/>
              </a:rPr>
              <a:t>Percentage model</a:t>
            </a:r>
          </a:p>
        </p:txBody>
      </p:sp>
      <p:sp>
        <p:nvSpPr>
          <p:cNvPr id="30" name="">
            <a:extLst xmlns:a="http://schemas.openxmlformats.org/drawingml/2006/main">
              <a:ext uri="{FF2B5EF4-FFF2-40B4-BE49-F238E27FC236}">
                <a16:creationId xmlns:a16="http://schemas.microsoft.com/office/drawing/2014/main" id="{1124EC50-B62D-48D5-A3DB-21478F988EB3}"/>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09</a:t>
            </a:r>
          </a:p>
        </p:txBody>
      </p:sp>
    </p:spTree>
    <p:extLst>
      <p:ext uri="{BB962C8B-B14F-4D97-AF65-F5344CB8AC3E}">
        <p14:creationId xmlns:p14="http://schemas.microsoft.com/office/powerpoint/2010/main" val="1494148126"/>
      </p:ext>
    </p:extLst>
  </p:cSld>
</p:sld>
</file>

<file path=ppt/slides/slide10.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E97FDB-EAE0-409F-86C6-CAC33800D7FA}"/>
              </a:ext>
            </a:extLst>
          </p:cNvPr>
          <p:cNvSpPr>
            <a:spLocks xmlns:a="http://schemas.openxmlformats.org/drawingml/2006/main" noGrp="1"/>
          </p:cNvSpPr>
          <p:nvPr/>
        </p:nvSpPr>
        <p:spPr>
          <a:xfrm xmlns:a="http://schemas.openxmlformats.org/drawingml/2006/main">
            <a:off x="685800" y="4000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F3C969"/>
                </a:solidFill>
                <a:latin typeface="Helvetica Neue"/>
                <a:ea typeface="Helvetica Neue"/>
                <a:cs typeface="Helvetica Neue"/>
              </a:defRPr>
            </a:pPr>
            <a:r>
              <a:rPr sz="1050" b="1">
                <a:solidFill>
                  <a:srgbClr val="F3C969"/>
                </a:solidFill>
                <a:latin typeface="Helvetica Neue"/>
                <a:ea typeface="Helvetica Neue"/>
                <a:cs typeface="Helvetica Neue"/>
              </a:rPr>
              <a:t>RECOMMENDATION</a:t>
            </a:r>
          </a:p>
        </p:txBody>
      </p:sp>
      <p:sp>
        <p:nvSpPr>
          <p:cNvPr id="2" name="">
            <a:extLst xmlns:a="http://schemas.openxmlformats.org/drawingml/2006/main">
              <a:ext uri="{FF2B5EF4-FFF2-40B4-BE49-F238E27FC236}">
                <a16:creationId xmlns:a16="http://schemas.microsoft.com/office/drawing/2014/main" id="{8D7E6FFC-9084-4B32-A2BF-E1B3BEBE0694}"/>
              </a:ext>
            </a:extLst>
          </p:cNvPr>
          <p:cNvSpPr>
            <a:spLocks xmlns:a="http://schemas.openxmlformats.org/drawingml/2006/main" noGrp="1"/>
          </p:cNvSpPr>
          <p:nvPr/>
        </p:nvSpPr>
        <p:spPr>
          <a:xfrm xmlns:a="http://schemas.openxmlformats.org/drawingml/2006/main">
            <a:off x="685800" y="781050"/>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Store both. Decide with one.</a:t>
            </a:r>
          </a:p>
        </p:txBody>
      </p:sp>
      <p:sp>
        <p:nvSpPr>
          <p:cNvPr id="3" name="">
            <a:extLst xmlns:a="http://schemas.openxmlformats.org/drawingml/2006/main">
              <a:ext uri="{FF2B5EF4-FFF2-40B4-BE49-F238E27FC236}">
                <a16:creationId xmlns:a16="http://schemas.microsoft.com/office/drawing/2014/main" id="{D0F9FDCD-3D07-4543-BCC7-36FDE8DC832C}"/>
              </a:ext>
            </a:extLst>
          </p:cNvPr>
          <p:cNvSpPr>
            <a:spLocks xmlns:a="http://schemas.openxmlformats.org/drawingml/2006/main" noGrp="1"/>
          </p:cNvSpPr>
          <p:nvPr/>
        </p:nvSpPr>
        <p:spPr>
          <a:xfrm xmlns:a="http://schemas.openxmlformats.org/drawingml/2006/main">
            <a:off x="742950" y="1857375"/>
            <a:ext cx="10706100" cy="1047750"/>
          </a:xfrm>
          <a:prstGeom xmlns:a="http://schemas.openxmlformats.org/drawingml/2006/main" prst="roundRect">
            <a:avLst>
              <a:gd name="adj" fmla="val 7273"/>
            </a:avLst>
          </a:prstGeom>
          <a:solidFill xmlns:a="http://schemas.openxmlformats.org/drawingml/2006/main">
            <a:srgbClr val="218B7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568FED-A537-44A8-BDB0-AE08E3DA0229}"/>
              </a:ext>
            </a:extLst>
          </p:cNvPr>
          <p:cNvSpPr>
            <a:spLocks xmlns:a="http://schemas.openxmlformats.org/drawingml/2006/main" noGrp="1"/>
          </p:cNvSpPr>
          <p:nvPr/>
        </p:nvSpPr>
        <p:spPr>
          <a:xfrm xmlns:a="http://schemas.openxmlformats.org/drawingml/2006/main">
            <a:off x="1028700" y="20478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PRIMARY OUTPUT</a:t>
            </a:r>
          </a:p>
        </p:txBody>
      </p:sp>
      <p:sp>
        <p:nvSpPr>
          <p:cNvPr id="5" name="">
            <a:extLst xmlns:a="http://schemas.openxmlformats.org/drawingml/2006/main">
              <a:ext uri="{FF2B5EF4-FFF2-40B4-BE49-F238E27FC236}">
                <a16:creationId xmlns:a16="http://schemas.microsoft.com/office/drawing/2014/main" id="{2E002013-6591-4B87-BFE1-818148651966}"/>
              </a:ext>
            </a:extLst>
          </p:cNvPr>
          <p:cNvSpPr>
            <a:spLocks xmlns:a="http://schemas.openxmlformats.org/drawingml/2006/main" noGrp="1"/>
          </p:cNvSpPr>
          <p:nvPr/>
        </p:nvSpPr>
        <p:spPr>
          <a:xfrm xmlns:a="http://schemas.openxmlformats.org/drawingml/2006/main">
            <a:off x="1028700" y="2333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Percentage model score</a:t>
            </a:r>
          </a:p>
        </p:txBody>
      </p:sp>
      <p:sp>
        <p:nvSpPr>
          <p:cNvPr id="6" name="">
            <a:extLst xmlns:a="http://schemas.openxmlformats.org/drawingml/2006/main">
              <a:ext uri="{FF2B5EF4-FFF2-40B4-BE49-F238E27FC236}">
                <a16:creationId xmlns:a16="http://schemas.microsoft.com/office/drawing/2014/main" id="{05AADB18-C4E6-4D24-8FC9-8CAC64E39313}"/>
              </a:ext>
            </a:extLst>
          </p:cNvPr>
          <p:cNvSpPr>
            <a:spLocks xmlns:a="http://schemas.openxmlformats.org/drawingml/2006/main" noGrp="1"/>
          </p:cNvSpPr>
          <p:nvPr/>
        </p:nvSpPr>
        <p:spPr>
          <a:xfrm xmlns:a="http://schemas.openxmlformats.org/drawingml/2006/main">
            <a:off x="6286500" y="22479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Best available estimate of how much landed</a:t>
            </a:r>
          </a:p>
        </p:txBody>
      </p:sp>
      <p:sp>
        <p:nvSpPr>
          <p:cNvPr id="7" name="">
            <a:extLst xmlns:a="http://schemas.openxmlformats.org/drawingml/2006/main">
              <a:ext uri="{FF2B5EF4-FFF2-40B4-BE49-F238E27FC236}">
                <a16:creationId xmlns:a16="http://schemas.microsoft.com/office/drawing/2014/main" id="{BB297B7F-C548-4BDA-9170-C02F6E8D340F}"/>
              </a:ext>
            </a:extLst>
          </p:cNvPr>
          <p:cNvSpPr>
            <a:spLocks xmlns:a="http://schemas.openxmlformats.org/drawingml/2006/main" noGrp="1"/>
          </p:cNvSpPr>
          <p:nvPr/>
        </p:nvSpPr>
        <p:spPr>
          <a:xfrm xmlns:a="http://schemas.openxmlformats.org/drawingml/2006/main">
            <a:off x="742950" y="3190875"/>
            <a:ext cx="10706100" cy="1047750"/>
          </a:xfrm>
          <a:prstGeom xmlns:a="http://schemas.openxmlformats.org/drawingml/2006/main" prst="roundRect">
            <a:avLst>
              <a:gd name="adj" fmla="val 7273"/>
            </a:avLst>
          </a:prstGeom>
          <a:solidFill xmlns:a="http://schemas.openxmlformats.org/drawingml/2006/main">
            <a:srgbClr val="E76F5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C4A759-3C4B-4A3C-ACB4-40EA43418827}"/>
              </a:ext>
            </a:extLst>
          </p:cNvPr>
          <p:cNvSpPr>
            <a:spLocks xmlns:a="http://schemas.openxmlformats.org/drawingml/2006/main" noGrp="1"/>
          </p:cNvSpPr>
          <p:nvPr/>
        </p:nvSpPr>
        <p:spPr>
          <a:xfrm xmlns:a="http://schemas.openxmlformats.org/drawingml/2006/main">
            <a:off x="1028700" y="338137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DIAGNOSTIC OUTPUT</a:t>
            </a:r>
          </a:p>
        </p:txBody>
      </p:sp>
      <p:sp>
        <p:nvSpPr>
          <p:cNvPr id="9" name="">
            <a:extLst xmlns:a="http://schemas.openxmlformats.org/drawingml/2006/main">
              <a:ext uri="{FF2B5EF4-FFF2-40B4-BE49-F238E27FC236}">
                <a16:creationId xmlns:a16="http://schemas.microsoft.com/office/drawing/2014/main" id="{BB69C90C-245D-491F-9B49-24DB4507DD1C}"/>
              </a:ext>
            </a:extLst>
          </p:cNvPr>
          <p:cNvSpPr>
            <a:spLocks xmlns:a="http://schemas.openxmlformats.org/drawingml/2006/main" noGrp="1"/>
          </p:cNvSpPr>
          <p:nvPr/>
        </p:nvSpPr>
        <p:spPr>
          <a:xfrm xmlns:a="http://schemas.openxmlformats.org/drawingml/2006/main">
            <a:off x="1028700" y="3667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Exact-match score</a:t>
            </a:r>
          </a:p>
        </p:txBody>
      </p:sp>
      <p:sp>
        <p:nvSpPr>
          <p:cNvPr id="10" name="">
            <a:extLst xmlns:a="http://schemas.openxmlformats.org/drawingml/2006/main">
              <a:ext uri="{FF2B5EF4-FFF2-40B4-BE49-F238E27FC236}">
                <a16:creationId xmlns:a16="http://schemas.microsoft.com/office/drawing/2014/main" id="{664C9B83-C685-4C8D-B087-DF82A68C7CD0}"/>
              </a:ext>
            </a:extLst>
          </p:cNvPr>
          <p:cNvSpPr>
            <a:spLocks xmlns:a="http://schemas.openxmlformats.org/drawingml/2006/main" noGrp="1"/>
          </p:cNvSpPr>
          <p:nvPr/>
        </p:nvSpPr>
        <p:spPr>
          <a:xfrm xmlns:a="http://schemas.openxmlformats.org/drawingml/2006/main">
            <a:off x="6286500" y="35814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Fast audit signal and disagreement trigger</a:t>
            </a:r>
          </a:p>
        </p:txBody>
      </p:sp>
      <p:sp>
        <p:nvSpPr>
          <p:cNvPr id="11" name="">
            <a:extLst xmlns:a="http://schemas.openxmlformats.org/drawingml/2006/main">
              <a:ext uri="{FF2B5EF4-FFF2-40B4-BE49-F238E27FC236}">
                <a16:creationId xmlns:a16="http://schemas.microsoft.com/office/drawing/2014/main" id="{D78979B7-E277-49A0-889D-DCE00735E575}"/>
              </a:ext>
            </a:extLst>
          </p:cNvPr>
          <p:cNvSpPr>
            <a:spLocks xmlns:a="http://schemas.openxmlformats.org/drawingml/2006/main" noGrp="1"/>
          </p:cNvSpPr>
          <p:nvPr/>
        </p:nvSpPr>
        <p:spPr>
          <a:xfrm xmlns:a="http://schemas.openxmlformats.org/drawingml/2006/main">
            <a:off x="762000" y="4762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F3C969"/>
                </a:solidFill>
                <a:latin typeface="Helvetica Neue"/>
                <a:ea typeface="Helvetica Neue"/>
                <a:cs typeface="Helvetica Neue"/>
              </a:defRPr>
            </a:pPr>
            <a:r>
              <a:rPr sz="1200" b="1">
                <a:solidFill>
                  <a:srgbClr val="F3C969"/>
                </a:solidFill>
                <a:latin typeface="Helvetica Neue"/>
                <a:ea typeface="Helvetica Neue"/>
                <a:cs typeface="Helvetica Neue"/>
              </a:rPr>
              <a:t>BEFORE BROAD ROLLOUT</a:t>
            </a:r>
          </a:p>
        </p:txBody>
      </p:sp>
      <p:sp>
        <p:nvSpPr>
          <p:cNvPr id="12" name="">
            <a:extLst xmlns:a="http://schemas.openxmlformats.org/drawingml/2006/main">
              <a:ext uri="{FF2B5EF4-FFF2-40B4-BE49-F238E27FC236}">
                <a16:creationId xmlns:a16="http://schemas.microsoft.com/office/drawing/2014/main" id="{3355BFC7-1076-43DB-A9AE-0A22D3FFA9E4}"/>
              </a:ext>
            </a:extLst>
          </p:cNvPr>
          <p:cNvSpPr>
            <a:spLocks xmlns:a="http://schemas.openxmlformats.org/drawingml/2006/main" noGrp="1"/>
          </p:cNvSpPr>
          <p:nvPr/>
        </p:nvSpPr>
        <p:spPr>
          <a:xfrm xmlns:a="http://schemas.openxmlformats.org/drawingml/2006/main">
            <a:off x="762000" y="509587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Add confidence or abstention  •  Freeze a human benchmark  •  Alert on model/exact disagreement</a:t>
            </a:r>
          </a:p>
        </p:txBody>
      </p:sp>
      <p:sp>
        <p:nvSpPr>
          <p:cNvPr id="13" name="">
            <a:extLst xmlns:a="http://schemas.openxmlformats.org/drawingml/2006/main">
              <a:ext uri="{FF2B5EF4-FFF2-40B4-BE49-F238E27FC236}">
                <a16:creationId xmlns:a16="http://schemas.microsoft.com/office/drawing/2014/main" id="{192F8B81-2F7A-4208-BD06-BEB2770F9FA7}"/>
              </a:ext>
            </a:extLst>
          </p:cNvPr>
          <p:cNvSpPr>
            <a:spLocks xmlns:a="http://schemas.openxmlformats.org/drawingml/2006/main" noGrp="1"/>
          </p:cNvSpPr>
          <p:nvPr/>
        </p:nvSpPr>
        <p:spPr>
          <a:xfrm xmlns:a="http://schemas.openxmlformats.org/drawingml/2006/main">
            <a:off x="762000" y="60960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F3C969"/>
                </a:solidFill>
                <a:latin typeface="Helvetica Neue"/>
                <a:ea typeface="Helvetica Neue"/>
                <a:cs typeface="Helvetica Neue"/>
              </a:defRPr>
            </a:pPr>
            <a:r>
              <a:rPr sz="1350" b="1">
                <a:solidFill>
                  <a:srgbClr val="F3C969"/>
                </a:solidFill>
                <a:latin typeface="Helvetica Neue"/>
                <a:ea typeface="Helvetica Neue"/>
                <a:cs typeface="Helvetica Neue"/>
              </a:rPr>
              <a:t>Decision: do not replace the percentage model with PIPELINE3-1376 exact scoring.</a:t>
            </a:r>
          </a:p>
        </p:txBody>
      </p:sp>
      <p:sp>
        <p:nvSpPr>
          <p:cNvPr id="14" name="">
            <a:extLst xmlns:a="http://schemas.openxmlformats.org/drawingml/2006/main">
              <a:ext uri="{FF2B5EF4-FFF2-40B4-BE49-F238E27FC236}">
                <a16:creationId xmlns:a16="http://schemas.microsoft.com/office/drawing/2014/main" id="{FCE34A66-435F-4004-90C9-67AAF3C922E2}"/>
              </a:ext>
            </a:extLst>
          </p:cNvPr>
          <p:cNvSpPr>
            <a:spLocks xmlns:a="http://schemas.openxmlformats.org/drawingml/2006/main" noGrp="1"/>
          </p:cNvSpPr>
          <p:nvPr/>
        </p:nvSpPr>
        <p:spPr>
          <a:xfrm xmlns:a="http://schemas.openxmlformats.org/drawingml/2006/main">
            <a:off x="11239500" y="64770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1">
                <a:solidFill>
                  <a:srgbClr val="5E6775"/>
                </a:solidFill>
                <a:latin typeface="Helvetica Neue"/>
                <a:ea typeface="Helvetica Neue"/>
                <a:cs typeface="Helvetica Neue"/>
              </a:defRPr>
            </a:pPr>
            <a:r>
              <a:rPr sz="900" b="1">
                <a:solidFill>
                  <a:srgbClr val="5E6775"/>
                </a:solidFill>
                <a:latin typeface="Helvetica Neue"/>
                <a:ea typeface="Helvetica Neue"/>
                <a:cs typeface="Helvetica Neue"/>
              </a:rPr>
              <a:t>10</a:t>
            </a:r>
          </a:p>
        </p:txBody>
      </p:sp>
    </p:spTree>
    <p:extLst>
      <p:ext uri="{BB962C8B-B14F-4D97-AF65-F5344CB8AC3E}">
        <p14:creationId xmlns:p14="http://schemas.microsoft.com/office/powerpoint/2010/main" val="904710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2026-09-10T06:33:49.8010000Z</dcterms:created>
  <dcterms:modified xsi:type="dcterms:W3CDTF">2026-09-10T06:33:49.8010000Z</dcterms:modified>
</coreProperties>
</file>