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108ddb4f0b4287" /><Relationship Type="http://schemas.openxmlformats.org/officeDocument/2006/relationships/extended-properties" Target="/docProps/app.xml" Id="R0483e9914bc84cf1" /><Relationship Type="http://schemas.openxmlformats.org/officeDocument/2006/relationships/officeDocument" Target="/ppt/presentation.xml" Id="R1ce09e03aed94e18" /></Relationships>
</file>

<file path=ppt/presentation.xml><?xml version="1.0" encoding="utf-8"?>
<p:presentation xmlns:p="http://schemas.openxmlformats.org/presentationml/2006/main">
  <p:sldMasterIdLst>
    <p:sldMasterId xmlns:r="http://schemas.openxmlformats.org/officeDocument/2006/relationships" id="2147483648" r:id="R58e63bfe1cc34f43"/>
  </p:sldMasterIdLst>
  <p:notesMasterIdLst>
    <p:notesMasterId xmlns:r="http://schemas.openxmlformats.org/officeDocument/2006/relationships" r:id="Ra4588597fd484aeb"/>
  </p:notesMasterIdLst>
  <p:sldIdLst>
    <p:sldId xmlns:r="http://schemas.openxmlformats.org/officeDocument/2006/relationships" id="256" r:id="Re11c4646e17c45e2"/>
    <p:sldId xmlns:r="http://schemas.openxmlformats.org/officeDocument/2006/relationships" id="257" r:id="R7e32bfd02975405c"/>
    <p:sldId xmlns:r="http://schemas.openxmlformats.org/officeDocument/2006/relationships" id="258" r:id="R4a848fcd765d46fa"/>
    <p:sldId xmlns:r="http://schemas.openxmlformats.org/officeDocument/2006/relationships" id="259" r:id="Rafe59d22ca744520"/>
    <p:sldId xmlns:r="http://schemas.openxmlformats.org/officeDocument/2006/relationships" id="260" r:id="R8037f3a724ad4ad0"/>
    <p:sldId xmlns:r="http://schemas.openxmlformats.org/officeDocument/2006/relationships" id="261" r:id="Rede7770c8fa14847"/>
    <p:sldId xmlns:r="http://schemas.openxmlformats.org/officeDocument/2006/relationships" id="262" r:id="R8d4118946afc4494"/>
    <p:sldId xmlns:r="http://schemas.openxmlformats.org/officeDocument/2006/relationships" id="263" r:id="Rdd480fb872a74246"/>
    <p:sldId xmlns:r="http://schemas.openxmlformats.org/officeDocument/2006/relationships" id="264" r:id="R63ab0e4b0a4047ee"/>
    <p:sldId xmlns:r="http://schemas.openxmlformats.org/officeDocument/2006/relationships" id="265" r:id="R70a419c1318d45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1e95bc02704d0a" /><Relationship Type="http://schemas.openxmlformats.org/officeDocument/2006/relationships/slideMaster" Target="/ppt/slideMasters/slideMaster1.xml" Id="R58e63bfe1cc34f43" /><Relationship Type="http://schemas.openxmlformats.org/officeDocument/2006/relationships/notesMaster" Target="/ppt/notesMasters/notesMaster1.xml" Id="Ra4588597fd484aeb" /><Relationship Type="http://schemas.openxmlformats.org/officeDocument/2006/relationships/presProps" Target="/ppt/presProps.xml" Id="R07f2180f6bd24b69" /><Relationship Type="http://schemas.openxmlformats.org/officeDocument/2006/relationships/tableStyles" Target="/ppt/tableStyles.xml" Id="R9b317ea27324488f" /><Relationship Type="http://schemas.openxmlformats.org/officeDocument/2006/relationships/slide" Target="/ppt/slides/slide1.xml" Id="Re11c4646e17c45e2" /><Relationship Type="http://schemas.openxmlformats.org/officeDocument/2006/relationships/slide" Target="/ppt/slides/slide2.xml" Id="R7e32bfd02975405c" /><Relationship Type="http://schemas.openxmlformats.org/officeDocument/2006/relationships/slide" Target="/ppt/slides/slide3.xml" Id="R4a848fcd765d46fa" /><Relationship Type="http://schemas.openxmlformats.org/officeDocument/2006/relationships/slide" Target="/ppt/slides/slide4.xml" Id="Rafe59d22ca744520" /><Relationship Type="http://schemas.openxmlformats.org/officeDocument/2006/relationships/slide" Target="/ppt/slides/slide5.xml" Id="R8037f3a724ad4ad0" /><Relationship Type="http://schemas.openxmlformats.org/officeDocument/2006/relationships/slide" Target="/ppt/slides/slide6.xml" Id="Rede7770c8fa14847" /><Relationship Type="http://schemas.openxmlformats.org/officeDocument/2006/relationships/slide" Target="/ppt/slides/slide7.xml" Id="R8d4118946afc4494" /><Relationship Type="http://schemas.openxmlformats.org/officeDocument/2006/relationships/slide" Target="/ppt/slides/slide8.xml" Id="Rdd480fb872a74246" /><Relationship Type="http://schemas.openxmlformats.org/officeDocument/2006/relationships/slide" Target="/ppt/slides/slide9.xml" Id="R63ab0e4b0a4047ee" /><Relationship Type="http://schemas.openxmlformats.org/officeDocument/2006/relationships/slide" Target="/ppt/slides/slide10.xml" Id="R70a419c1318d45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7b63cf8b4e45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c99ef5236247fa" /><Relationship Type="http://schemas.openxmlformats.org/officeDocument/2006/relationships/notesMaster" Target="/ppt/notesMasters/notesMaster1.xml" Id="Rd7d6d32c5b1c40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106ab5b4544d0" /><Relationship Type="http://schemas.openxmlformats.org/officeDocument/2006/relationships/notesMaster" Target="/ppt/notesMasters/notesMaster1.xml" Id="R99d2f1ca73ba4d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e6c5820f644864" /><Relationship Type="http://schemas.openxmlformats.org/officeDocument/2006/relationships/notesMaster" Target="/ppt/notesMasters/notesMaster1.xml" Id="R1f2508fc6eb840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40ba9835d44ee4" /><Relationship Type="http://schemas.openxmlformats.org/officeDocument/2006/relationships/notesMaster" Target="/ppt/notesMasters/notesMaster1.xml" Id="R16289cacc1554b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0522f9c0f34903" /><Relationship Type="http://schemas.openxmlformats.org/officeDocument/2006/relationships/notesMaster" Target="/ppt/notesMasters/notesMaster1.xml" Id="R263e100a446f4d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1c466ee9c94c3b" /><Relationship Type="http://schemas.openxmlformats.org/officeDocument/2006/relationships/notesMaster" Target="/ppt/notesMasters/notesMaster1.xml" Id="Raa43697347ff43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9c9ea581884c1c" /><Relationship Type="http://schemas.openxmlformats.org/officeDocument/2006/relationships/notesMaster" Target="/ppt/notesMasters/notesMaster1.xml" Id="R0e950c01cc984d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8e8aeb6ae948a3" /><Relationship Type="http://schemas.openxmlformats.org/officeDocument/2006/relationships/notesMaster" Target="/ppt/notesMasters/notesMaster1.xml" Id="R93e8d6dca6a044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c1c756507a4c6f" /><Relationship Type="http://schemas.openxmlformats.org/officeDocument/2006/relationships/notesMaster" Target="/ppt/notesMasters/notesMaster1.xml" Id="Red9b02b80c824d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328b23a35f48b3" /><Relationship Type="http://schemas.openxmlformats.org/officeDocument/2006/relationships/notesMaster" Target="/ppt/notesMasters/notesMaster1.xml" Id="R8c5619ddb52540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question: should the user-facing percentage come from the learned model or from an aggregated Diff Precision/Recall score? The aggregate is the equal-weight mean of token F1, file F1, and line F1. The six original precision and recall values remain available for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one-number comparison. Aggregate Diff P/R has an MAE of 62.03 points because recall falls when the final pull request contains substantial extra work. The model has an MAE of 9.74. Both are percentages, but they describe different things: balanced whole-diff similarity versus estimated draft survival.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held-out in plain language. These examples were separated before model selection. Grouping by pull request reduces leakage because suggestions from one PR often share the same final diff. Be transparent about the weak-label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methodology exactly. Each level gets precision and recall, then its harmonic mean F1. The aggregate is the simple average of the three F1 values. Equal weighting is important because a micro-average would let the much larger number of tokens dominate files 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F1 is the standard harmonic mean of precision and recall. It becomes high only when both are high. We calculate F1 separately for token, file, and line overlap, then average those three percentages equally.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component is present. Random Forest is the 50 percent anchor because it is stable on a small tabular dataset, captures nonlinear interactions, and had the best component RMSE on the holdout. The two-stage model gets 30 percent because it first separates 0, partial, and 100 percent cases, then estimates the partial cases; it had the best within-five-points rate among the components. CatBoost MAE gets 20 percent because it handles categorical context directly and its absolute-error objective is less influenced by outliers; it had the best within-ten rate and zero serious errors on the holdout. The weights came from repeated PR-grouped out-of-fold validation, not manual preference.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means mean absolute error. For every example, subtract the reference percentage from the predicted percentage, ignore the plus or minus sign, add all absolute errors, and divide by the number of examples. If three errors are 5, 10, and 15 points, MAE is 10 points. On 70 held-out examples, aggregate Diff P/R has MAE 62.03 and the model has MAE 9.74. The aggregate is not broken; it measures balanced whole-diff similarity, and unrelated final work lowers recall and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per-level F1 values are approximately 76 for tokens, 100 for files, and 67 for lines. Their equal-weight average is 81 percent. The model and reference are 100 percent. This is a useful demonstration that aggregate F1 measures balanced whole-diff overlap rather than draft survival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aggregate Diff P/R is cheap, reproducible, and explainable, but its balanced nature penalizes extra final work. The model is operationally heavier but matches the coverage target much better. Keep both and monitor disagreement.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layers. model_percentage is the primary coverage estimate. aggregate_diff_f1 is the single comparable balanced-overlap percentage. The six component precision and recall values explain the aggregate. Store versions, warnings, and evidence for reproducibility.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521eb079048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b4505526b54bcc" /><Relationship Type="http://schemas.openxmlformats.org/officeDocument/2006/relationships/slideLayout" Target="/ppt/slideLayouts/slideLayout1.xml" Id="R78deff4e19c94e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deff4e19c94e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3c70f5628540db" /><Relationship Type="http://schemas.openxmlformats.org/officeDocument/2006/relationships/notesSlide" Target="/ppt/notesSlides/notesSlide1.xml" Id="R1d670790955445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9e843aef9b4dcc" /><Relationship Type="http://schemas.openxmlformats.org/officeDocument/2006/relationships/notesSlide" Target="/ppt/notesSlides/notesSlide2.xml" Id="R0e90decdd27741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292a7b2d0246e0" /><Relationship Type="http://schemas.openxmlformats.org/officeDocument/2006/relationships/notesSlide" Target="/ppt/notesSlides/notesSlide3.xml" Id="R5cbab243030543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0bad95035a4f2d" /><Relationship Type="http://schemas.openxmlformats.org/officeDocument/2006/relationships/notesSlide" Target="/ppt/notesSlides/notesSlide4.xml" Id="R926a69f29d3d49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547971423444a7" /><Relationship Type="http://schemas.openxmlformats.org/officeDocument/2006/relationships/notesSlide" Target="/ppt/notesSlides/notesSlide5.xml" Id="R91c07590ae9f4c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2f666cbd0d4406" /><Relationship Type="http://schemas.openxmlformats.org/officeDocument/2006/relationships/notesSlide" Target="/ppt/notesSlides/notesSlide6.xml" Id="R69cf418b593e4c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74c9d78c9b498d" /><Relationship Type="http://schemas.openxmlformats.org/officeDocument/2006/relationships/notesSlide" Target="/ppt/notesSlides/notesSlide7.xml" Id="R03723b0a436649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9b6714e2384a2f" /><Relationship Type="http://schemas.openxmlformats.org/officeDocument/2006/relationships/notesSlide" Target="/ppt/notesSlides/notesSlide8.xml" Id="Rb836a6c5545049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39756c41f148b9" /><Relationship Type="http://schemas.openxmlformats.org/officeDocument/2006/relationships/notesSlide" Target="/ppt/notesSlides/notesSlide9.xml" Id="R14795d3a071c4d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d43b86f4ee4385" /><Relationship Type="http://schemas.openxmlformats.org/officeDocument/2006/relationships/notesSlide" Target="/ppt/notesSlides/notesSlide10.xml" Id="R64e17a3894084b81" /></Relationships>
</file>

<file path=ppt/slides/slide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E31488-926A-446F-AFC6-B57CD425B8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296BCA-B77A-4790-AC33-DF8A94C80148}"/>
              </a:ext>
            </a:extLst>
          </p:cNvPr>
          <p:cNvSpPr>
            <a:spLocks xmlns:a="http://schemas.openxmlformats.org/drawingml/2006/main" noGrp="1"/>
          </p:cNvSpPr>
          <p:nvPr/>
        </p:nvSpPr>
        <p:spPr>
          <a:xfrm xmlns:a="http://schemas.openxmlformats.org/drawingml/2006/main">
            <a:off x="742950" y="685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METHOD COMPARISON</a:t>
            </a:r>
          </a:p>
        </p:txBody>
      </p:sp>
      <p:sp>
        <p:nvSpPr>
          <p:cNvPr id="3" name="">
            <a:extLst xmlns:a="http://schemas.openxmlformats.org/drawingml/2006/main">
              <a:ext uri="{FF2B5EF4-FFF2-40B4-BE49-F238E27FC236}">
                <a16:creationId xmlns:a16="http://schemas.microsoft.com/office/drawing/2014/main" id="{5C12355B-A36A-4C18-B763-1378D87482C3}"/>
              </a:ext>
            </a:extLst>
          </p:cNvPr>
          <p:cNvSpPr>
            <a:spLocks xmlns:a="http://schemas.openxmlformats.org/drawingml/2006/main" noGrp="1"/>
          </p:cNvSpPr>
          <p:nvPr/>
        </p:nvSpPr>
        <p:spPr>
          <a:xfrm xmlns:a="http://schemas.openxmlformats.org/drawingml/2006/main">
            <a:off x="742950" y="12858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14213D"/>
                </a:solidFill>
                <a:latin typeface="Helvetica Neue"/>
                <a:ea typeface="Helvetica Neue"/>
                <a:cs typeface="Helvetica Neue"/>
              </a:defRPr>
            </a:pPr>
            <a:r>
              <a:rPr sz="3600" b="1">
                <a:solidFill>
                  <a:srgbClr val="14213D"/>
                </a:solidFill>
                <a:latin typeface="Helvetica Neue"/>
                <a:ea typeface="Helvetica Neue"/>
                <a:cs typeface="Helvetica Neue"/>
              </a:rPr>
              <a:t>Aggregate Diff P/R</a:t>
            </a:r>
          </a:p>
          <a:p xmlns:a="http://schemas.openxmlformats.org/drawingml/2006/main">
            <a:pPr algn="l">
              <a:defRPr sz="3600" b="1">
                <a:solidFill>
                  <a:srgbClr val="14213D"/>
                </a:solidFill>
                <a:latin typeface="Helvetica Neue"/>
                <a:ea typeface="Helvetica Neue"/>
                <a:cs typeface="Helvetica Neue"/>
              </a:defRPr>
            </a:pPr>
            <a:r>
              <a:rPr sz="3600" b="1">
                <a:solidFill>
                  <a:srgbClr val="14213D"/>
                </a:solidFill>
                <a:latin typeface="Helvetica Neue"/>
                <a:ea typeface="Helvetica Neue"/>
                <a:cs typeface="Helvetica Neue"/>
              </a:rPr>
              <a:t>or percentage model?</a:t>
            </a:r>
          </a:p>
        </p:txBody>
      </p:sp>
      <p:sp>
        <p:nvSpPr>
          <p:cNvPr id="4" name="">
            <a:extLst xmlns:a="http://schemas.openxmlformats.org/drawingml/2006/main">
              <a:ext uri="{FF2B5EF4-FFF2-40B4-BE49-F238E27FC236}">
                <a16:creationId xmlns:a16="http://schemas.microsoft.com/office/drawing/2014/main" id="{7B38AAF2-6E61-4F6B-A45C-8C074D972250}"/>
              </a:ext>
            </a:extLst>
          </p:cNvPr>
          <p:cNvSpPr>
            <a:spLocks xmlns:a="http://schemas.openxmlformats.org/drawingml/2006/main" noGrp="1"/>
          </p:cNvSpPr>
          <p:nvPr/>
        </p:nvSpPr>
        <p:spPr>
          <a:xfrm xmlns:a="http://schemas.openxmlformats.org/drawingml/2006/main">
            <a:off x="762000" y="295275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E6775"/>
                </a:solidFill>
                <a:latin typeface="Helvetica Neue"/>
                <a:ea typeface="Helvetica Neue"/>
                <a:cs typeface="Helvetica Neue"/>
              </a:defRPr>
            </a:pPr>
            <a:r>
              <a:rPr sz="1650" b="0">
                <a:solidFill>
                  <a:srgbClr val="5E6775"/>
                </a:solidFill>
                <a:latin typeface="Helvetica Neue"/>
                <a:ea typeface="Helvetica Neue"/>
                <a:cs typeface="Helvetica Neue"/>
              </a:rPr>
              <a:t>A held-out comparison using one percentage from each method</a:t>
            </a:r>
          </a:p>
        </p:txBody>
      </p:sp>
      <p:sp>
        <p:nvSpPr>
          <p:cNvPr id="5" name="">
            <a:extLst xmlns:a="http://schemas.openxmlformats.org/drawingml/2006/main">
              <a:ext uri="{FF2B5EF4-FFF2-40B4-BE49-F238E27FC236}">
                <a16:creationId xmlns:a16="http://schemas.microsoft.com/office/drawing/2014/main" id="{5681836B-1225-4190-88BA-470133E751BC}"/>
              </a:ext>
            </a:extLst>
          </p:cNvPr>
          <p:cNvSpPr>
            <a:spLocks xmlns:a="http://schemas.openxmlformats.org/drawingml/2006/main" noGrp="1"/>
          </p:cNvSpPr>
          <p:nvPr/>
        </p:nvSpPr>
        <p:spPr>
          <a:xfrm xmlns:a="http://schemas.openxmlformats.org/drawingml/2006/main">
            <a:off x="8334375" y="1047750"/>
            <a:ext cx="2476500" cy="2476500"/>
          </a:xfrm>
          <a:prstGeom xmlns:a="http://schemas.openxmlformats.org/drawingml/2006/main" prst="roundRect">
            <a:avLst>
              <a:gd name="adj" fmla="val 3077"/>
            </a:avLst>
          </a:prstGeom>
          <a:solidFill xmlns:a="http://schemas.openxmlformats.org/drawingml/2006/main">
            <a:srgbClr val="DDE8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9012B3-A9DB-44EF-8795-BAA676AC2794}"/>
              </a:ext>
            </a:extLst>
          </p:cNvPr>
          <p:cNvSpPr>
            <a:spLocks xmlns:a="http://schemas.openxmlformats.org/drawingml/2006/main" noGrp="1"/>
          </p:cNvSpPr>
          <p:nvPr/>
        </p:nvSpPr>
        <p:spPr>
          <a:xfrm xmlns:a="http://schemas.openxmlformats.org/drawingml/2006/main">
            <a:off x="8524875" y="14763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2864DC"/>
                </a:solidFill>
                <a:latin typeface="Helvetica Neue"/>
                <a:ea typeface="Helvetica Neue"/>
                <a:cs typeface="Helvetica Neue"/>
              </a:defRPr>
            </a:pPr>
            <a:r>
              <a:rPr sz="4050" b="1">
                <a:solidFill>
                  <a:srgbClr val="2864DC"/>
                </a:solidFill>
                <a:latin typeface="Helvetica Neue"/>
                <a:ea typeface="Helvetica Neue"/>
                <a:cs typeface="Helvetica Neue"/>
              </a:rPr>
              <a:t>F1</a:t>
            </a:r>
          </a:p>
        </p:txBody>
      </p:sp>
      <p:sp>
        <p:nvSpPr>
          <p:cNvPr id="7" name="">
            <a:extLst xmlns:a="http://schemas.openxmlformats.org/drawingml/2006/main">
              <a:ext uri="{FF2B5EF4-FFF2-40B4-BE49-F238E27FC236}">
                <a16:creationId xmlns:a16="http://schemas.microsoft.com/office/drawing/2014/main" id="{F6C527AF-9CA2-487C-8964-C25ABA32D388}"/>
              </a:ext>
            </a:extLst>
          </p:cNvPr>
          <p:cNvSpPr>
            <a:spLocks xmlns:a="http://schemas.openxmlformats.org/drawingml/2006/main" noGrp="1"/>
          </p:cNvSpPr>
          <p:nvPr/>
        </p:nvSpPr>
        <p:spPr>
          <a:xfrm xmlns:a="http://schemas.openxmlformats.org/drawingml/2006/main">
            <a:off x="8667750" y="2333625"/>
            <a:ext cx="1809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52"/>
          </a:bodyPr>
          <a:lstStyle xmlns:a="http://schemas.openxmlformats.org/drawingml/2006/main"/>
          <a:p xmlns:a="http://schemas.openxmlformats.org/drawingml/2006/main">
            <a:pPr algn="ctr">
              <a:defRPr sz="1425" b="1">
                <a:solidFill>
                  <a:srgbClr val="14213D"/>
                </a:solidFill>
                <a:latin typeface="Helvetica Neue"/>
                <a:ea typeface="Helvetica Neue"/>
                <a:cs typeface="Helvetica Neue"/>
              </a:defRPr>
            </a:pPr>
            <a:r>
              <a:rPr sz="1425" b="1">
                <a:solidFill>
                  <a:srgbClr val="14213D"/>
                </a:solidFill>
                <a:latin typeface="Helvetica Neue"/>
                <a:ea typeface="Helvetica Neue"/>
                <a:cs typeface="Helvetica Neue"/>
              </a:rPr>
              <a:t>one aggregate score</a:t>
            </a:r>
          </a:p>
          <a:p xmlns:a="http://schemas.openxmlformats.org/drawingml/2006/main">
            <a:pPr algn="ctr">
              <a:defRPr sz="1425" b="1">
                <a:solidFill>
                  <a:srgbClr val="14213D"/>
                </a:solidFill>
                <a:latin typeface="Helvetica Neue"/>
                <a:ea typeface="Helvetica Neue"/>
                <a:cs typeface="Helvetica Neue"/>
              </a:defRPr>
            </a:pPr>
            <a:r>
              <a:rPr sz="1425" b="1">
                <a:solidFill>
                  <a:srgbClr val="14213D"/>
                </a:solidFill>
                <a:latin typeface="Helvetica Neue"/>
                <a:ea typeface="Helvetica Neue"/>
                <a:cs typeface="Helvetica Neue"/>
              </a:rPr>
              <a:t>plus six diagnostics</a:t>
            </a:r>
          </a:p>
        </p:txBody>
      </p:sp>
      <p:sp>
        <p:nvSpPr>
          <p:cNvPr id="8" name="">
            <a:extLst xmlns:a="http://schemas.openxmlformats.org/drawingml/2006/main">
              <a:ext uri="{FF2B5EF4-FFF2-40B4-BE49-F238E27FC236}">
                <a16:creationId xmlns:a16="http://schemas.microsoft.com/office/drawing/2014/main" id="{14B1D834-0E91-4C1F-8156-CCD82E0F441E}"/>
              </a:ext>
            </a:extLst>
          </p:cNvPr>
          <p:cNvSpPr>
            <a:spLocks xmlns:a="http://schemas.openxmlformats.org/drawingml/2006/main" noGrp="1"/>
          </p:cNvSpPr>
          <p:nvPr/>
        </p:nvSpPr>
        <p:spPr>
          <a:xfrm xmlns:a="http://schemas.openxmlformats.org/drawingml/2006/main">
            <a:off x="762000" y="6000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70 held-out examples  •  19 pull requests  •  September 2026</a:t>
            </a:r>
          </a:p>
        </p:txBody>
      </p:sp>
      <p:sp>
        <p:nvSpPr>
          <p:cNvPr id="9" name="">
            <a:extLst xmlns:a="http://schemas.openxmlformats.org/drawingml/2006/main">
              <a:ext uri="{FF2B5EF4-FFF2-40B4-BE49-F238E27FC236}">
                <a16:creationId xmlns:a16="http://schemas.microsoft.com/office/drawing/2014/main" id="{4D8DACE5-14E8-420B-9BC9-8631E89965CC}"/>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01</a:t>
            </a:r>
          </a:p>
        </p:txBody>
      </p:sp>
    </p:spTree>
    <p:extLst>
      <p:ext uri="{BB962C8B-B14F-4D97-AF65-F5344CB8AC3E}">
        <p14:creationId xmlns:p14="http://schemas.microsoft.com/office/powerpoint/2010/main" val="419410539"/>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EFA9575-3CB1-4444-ABC4-74ED7D4FAA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DECISION</a:t>
            </a:r>
          </a:p>
        </p:txBody>
      </p:sp>
      <p:sp>
        <p:nvSpPr>
          <p:cNvPr id="2" name="">
            <a:extLst xmlns:a="http://schemas.openxmlformats.org/drawingml/2006/main">
              <a:ext uri="{FF2B5EF4-FFF2-40B4-BE49-F238E27FC236}">
                <a16:creationId xmlns:a16="http://schemas.microsoft.com/office/drawing/2014/main" id="{C1030B36-A344-41F7-8486-3380B09653B2}"/>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Use the model for the primary percentage</a:t>
            </a:r>
          </a:p>
        </p:txBody>
      </p:sp>
      <p:sp>
        <p:nvSpPr>
          <p:cNvPr id="3" name="">
            <a:extLst xmlns:a="http://schemas.openxmlformats.org/drawingml/2006/main">
              <a:ext uri="{FF2B5EF4-FFF2-40B4-BE49-F238E27FC236}">
                <a16:creationId xmlns:a16="http://schemas.microsoft.com/office/drawing/2014/main" id="{B365F7E1-CD90-4FC5-9DB9-68557247FC36}"/>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Keep aggregate Diff P/R and all six component values as diagnostics.</a:t>
            </a:r>
          </a:p>
        </p:txBody>
      </p:sp>
      <p:sp>
        <p:nvSpPr>
          <p:cNvPr id="4" name="">
            <a:extLst xmlns:a="http://schemas.openxmlformats.org/drawingml/2006/main">
              <a:ext uri="{FF2B5EF4-FFF2-40B4-BE49-F238E27FC236}">
                <a16:creationId xmlns:a16="http://schemas.microsoft.com/office/drawing/2014/main" id="{7AF43ADF-8969-414B-A179-8ADF3F0AA06A}"/>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0E0812-6621-4544-BAD8-76BCAA05EC94}"/>
              </a:ext>
            </a:extLst>
          </p:cNvPr>
          <p:cNvSpPr>
            <a:spLocks xmlns:a="http://schemas.openxmlformats.org/drawingml/2006/main" noGrp="1"/>
          </p:cNvSpPr>
          <p:nvPr/>
        </p:nvSpPr>
        <p:spPr>
          <a:xfrm xmlns:a="http://schemas.openxmlformats.org/drawingml/2006/main">
            <a:off x="838200"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AVERAGE MISS</a:t>
            </a:r>
          </a:p>
        </p:txBody>
      </p:sp>
      <p:sp>
        <p:nvSpPr>
          <p:cNvPr id="6" name="">
            <a:extLst xmlns:a="http://schemas.openxmlformats.org/drawingml/2006/main">
              <a:ext uri="{FF2B5EF4-FFF2-40B4-BE49-F238E27FC236}">
                <a16:creationId xmlns:a16="http://schemas.microsoft.com/office/drawing/2014/main" id="{5545FC1C-DCF1-44B4-B761-B746B91E85E1}"/>
              </a:ext>
            </a:extLst>
          </p:cNvPr>
          <p:cNvSpPr>
            <a:spLocks xmlns:a="http://schemas.openxmlformats.org/drawingml/2006/main" noGrp="1"/>
          </p:cNvSpPr>
          <p:nvPr/>
        </p:nvSpPr>
        <p:spPr>
          <a:xfrm xmlns:a="http://schemas.openxmlformats.org/drawingml/2006/main">
            <a:off x="838200"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218B75"/>
                </a:solidFill>
                <a:latin typeface="Helvetica Neue"/>
                <a:ea typeface="Helvetica Neue"/>
                <a:cs typeface="Helvetica Neue"/>
              </a:defRPr>
            </a:pPr>
            <a:r>
              <a:rPr sz="2850" b="1">
                <a:solidFill>
                  <a:srgbClr val="218B75"/>
                </a:solidFill>
                <a:latin typeface="Helvetica Neue"/>
                <a:ea typeface="Helvetica Neue"/>
                <a:cs typeface="Helvetica Neue"/>
              </a:rPr>
              <a:t>9.74 points</a:t>
            </a:r>
          </a:p>
        </p:txBody>
      </p:sp>
      <p:sp>
        <p:nvSpPr>
          <p:cNvPr id="7" name="">
            <a:extLst xmlns:a="http://schemas.openxmlformats.org/drawingml/2006/main">
              <a:ext uri="{FF2B5EF4-FFF2-40B4-BE49-F238E27FC236}">
                <a16:creationId xmlns:a16="http://schemas.microsoft.com/office/drawing/2014/main" id="{F2CC1076-A74D-466C-8C7F-958D96D07399}"/>
              </a:ext>
            </a:extLst>
          </p:cNvPr>
          <p:cNvSpPr>
            <a:spLocks xmlns:a="http://schemas.openxmlformats.org/drawingml/2006/main" noGrp="1"/>
          </p:cNvSpPr>
          <p:nvPr/>
        </p:nvSpPr>
        <p:spPr>
          <a:xfrm xmlns:a="http://schemas.openxmlformats.org/drawingml/2006/main">
            <a:off x="838200"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Model vs. 62.03 for aggregate Diff P/R</a:t>
            </a:r>
          </a:p>
        </p:txBody>
      </p:sp>
      <p:sp>
        <p:nvSpPr>
          <p:cNvPr id="8" name="">
            <a:extLst xmlns:a="http://schemas.openxmlformats.org/drawingml/2006/main">
              <a:ext uri="{FF2B5EF4-FFF2-40B4-BE49-F238E27FC236}">
                <a16:creationId xmlns:a16="http://schemas.microsoft.com/office/drawing/2014/main" id="{CC3E74D8-009B-4ABF-9C79-B441F3A81584}"/>
              </a:ext>
            </a:extLst>
          </p:cNvPr>
          <p:cNvSpPr>
            <a:spLocks xmlns:a="http://schemas.openxmlformats.org/drawingml/2006/main" noGrp="1"/>
          </p:cNvSpPr>
          <p:nvPr/>
        </p:nvSpPr>
        <p:spPr>
          <a:xfrm xmlns:a="http://schemas.openxmlformats.org/drawingml/2006/main">
            <a:off x="4619625"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WITHIN 10</a:t>
            </a:r>
          </a:p>
        </p:txBody>
      </p:sp>
      <p:sp>
        <p:nvSpPr>
          <p:cNvPr id="9" name="">
            <a:extLst xmlns:a="http://schemas.openxmlformats.org/drawingml/2006/main">
              <a:ext uri="{FF2B5EF4-FFF2-40B4-BE49-F238E27FC236}">
                <a16:creationId xmlns:a16="http://schemas.microsoft.com/office/drawing/2014/main" id="{BAB8CBB0-D982-4043-BF3A-9892FA82144F}"/>
              </a:ext>
            </a:extLst>
          </p:cNvPr>
          <p:cNvSpPr>
            <a:spLocks xmlns:a="http://schemas.openxmlformats.org/drawingml/2006/main" noGrp="1"/>
          </p:cNvSpPr>
          <p:nvPr/>
        </p:nvSpPr>
        <p:spPr>
          <a:xfrm xmlns:a="http://schemas.openxmlformats.org/drawingml/2006/main">
            <a:off x="4619625"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2864DC"/>
                </a:solidFill>
                <a:latin typeface="Helvetica Neue"/>
                <a:ea typeface="Helvetica Neue"/>
                <a:cs typeface="Helvetica Neue"/>
              </a:defRPr>
            </a:pPr>
            <a:r>
              <a:rPr sz="2850" b="1">
                <a:solidFill>
                  <a:srgbClr val="2864DC"/>
                </a:solidFill>
                <a:latin typeface="Helvetica Neue"/>
                <a:ea typeface="Helvetica Neue"/>
                <a:cs typeface="Helvetica Neue"/>
              </a:rPr>
              <a:t>74.3%</a:t>
            </a:r>
          </a:p>
        </p:txBody>
      </p:sp>
      <p:sp>
        <p:nvSpPr>
          <p:cNvPr id="10" name="">
            <a:extLst xmlns:a="http://schemas.openxmlformats.org/drawingml/2006/main">
              <a:ext uri="{FF2B5EF4-FFF2-40B4-BE49-F238E27FC236}">
                <a16:creationId xmlns:a16="http://schemas.microsoft.com/office/drawing/2014/main" id="{FF0165D9-3B56-4D31-A2E6-6B54CE9F3898}"/>
              </a:ext>
            </a:extLst>
          </p:cNvPr>
          <p:cNvSpPr>
            <a:spLocks xmlns:a="http://schemas.openxmlformats.org/drawingml/2006/main" noGrp="1"/>
          </p:cNvSpPr>
          <p:nvPr/>
        </p:nvSpPr>
        <p:spPr>
          <a:xfrm xmlns:a="http://schemas.openxmlformats.org/drawingml/2006/main">
            <a:off x="4619625"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Model vs. 10.0% for aggregate Diff P/R</a:t>
            </a:r>
          </a:p>
        </p:txBody>
      </p:sp>
      <p:sp>
        <p:nvSpPr>
          <p:cNvPr id="11" name="">
            <a:extLst xmlns:a="http://schemas.openxmlformats.org/drawingml/2006/main">
              <a:ext uri="{FF2B5EF4-FFF2-40B4-BE49-F238E27FC236}">
                <a16:creationId xmlns:a16="http://schemas.microsoft.com/office/drawing/2014/main" id="{9B16E152-A761-4D55-8F31-19849CC3EA3C}"/>
              </a:ext>
            </a:extLst>
          </p:cNvPr>
          <p:cNvSpPr>
            <a:spLocks xmlns:a="http://schemas.openxmlformats.org/drawingml/2006/main" noGrp="1"/>
          </p:cNvSpPr>
          <p:nvPr/>
        </p:nvSpPr>
        <p:spPr>
          <a:xfrm xmlns:a="http://schemas.openxmlformats.org/drawingml/2006/main">
            <a:off x="8401050"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SERIOUS MISSES</a:t>
            </a:r>
          </a:p>
        </p:txBody>
      </p:sp>
      <p:sp>
        <p:nvSpPr>
          <p:cNvPr id="12" name="">
            <a:extLst xmlns:a="http://schemas.openxmlformats.org/drawingml/2006/main">
              <a:ext uri="{FF2B5EF4-FFF2-40B4-BE49-F238E27FC236}">
                <a16:creationId xmlns:a16="http://schemas.microsoft.com/office/drawing/2014/main" id="{57F37634-B36A-4B4C-B5F5-0CE3430D5AF9}"/>
              </a:ext>
            </a:extLst>
          </p:cNvPr>
          <p:cNvSpPr>
            <a:spLocks xmlns:a="http://schemas.openxmlformats.org/drawingml/2006/main" noGrp="1"/>
          </p:cNvSpPr>
          <p:nvPr/>
        </p:nvSpPr>
        <p:spPr>
          <a:xfrm xmlns:a="http://schemas.openxmlformats.org/drawingml/2006/main">
            <a:off x="8401050"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E76F51"/>
                </a:solidFill>
                <a:latin typeface="Helvetica Neue"/>
                <a:ea typeface="Helvetica Neue"/>
                <a:cs typeface="Helvetica Neue"/>
              </a:defRPr>
            </a:pPr>
            <a:r>
              <a:rPr sz="2850" b="1">
                <a:solidFill>
                  <a:srgbClr val="E76F51"/>
                </a:solidFill>
                <a:latin typeface="Helvetica Neue"/>
                <a:ea typeface="Helvetica Neue"/>
                <a:cs typeface="Helvetica Neue"/>
              </a:rPr>
              <a:t>1.4%</a:t>
            </a:r>
          </a:p>
        </p:txBody>
      </p:sp>
      <p:sp>
        <p:nvSpPr>
          <p:cNvPr id="13" name="">
            <a:extLst xmlns:a="http://schemas.openxmlformats.org/drawingml/2006/main">
              <a:ext uri="{FF2B5EF4-FFF2-40B4-BE49-F238E27FC236}">
                <a16:creationId xmlns:a16="http://schemas.microsoft.com/office/drawing/2014/main" id="{E21376EB-AEEA-42B5-A207-C7378F135A2D}"/>
              </a:ext>
            </a:extLst>
          </p:cNvPr>
          <p:cNvSpPr>
            <a:spLocks xmlns:a="http://schemas.openxmlformats.org/drawingml/2006/main" noGrp="1"/>
          </p:cNvSpPr>
          <p:nvPr/>
        </p:nvSpPr>
        <p:spPr>
          <a:xfrm xmlns:a="http://schemas.openxmlformats.org/drawingml/2006/main">
            <a:off x="8401050"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Model vs. 58.6% for aggregate Diff P/R</a:t>
            </a:r>
          </a:p>
        </p:txBody>
      </p:sp>
      <p:sp>
        <p:nvSpPr>
          <p:cNvPr id="14" name="">
            <a:extLst xmlns:a="http://schemas.openxmlformats.org/drawingml/2006/main">
              <a:ext uri="{FF2B5EF4-FFF2-40B4-BE49-F238E27FC236}">
                <a16:creationId xmlns:a16="http://schemas.microsoft.com/office/drawing/2014/main" id="{7F21603D-62B9-41A6-807D-D74C74DDE248}"/>
              </a:ext>
            </a:extLst>
          </p:cNvPr>
          <p:cNvSpPr>
            <a:spLocks xmlns:a="http://schemas.openxmlformats.org/drawingml/2006/main" noGrp="1"/>
          </p:cNvSpPr>
          <p:nvPr/>
        </p:nvSpPr>
        <p:spPr>
          <a:xfrm xmlns:a="http://schemas.openxmlformats.org/drawingml/2006/main">
            <a:off x="704850" y="4095750"/>
            <a:ext cx="10782300" cy="1428750"/>
          </a:xfrm>
          <a:prstGeom xmlns:a="http://schemas.openxmlformats.org/drawingml/2006/main" prst="roundRect">
            <a:avLst>
              <a:gd name="adj" fmla="val 5333"/>
            </a:avLst>
          </a:prstGeom>
          <a:solidFill xmlns:a="http://schemas.openxmlformats.org/drawingml/2006/main">
            <a:srgbClr val="1421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06A951-F8BF-4B9D-B8F7-8BA3BB96D14A}"/>
              </a:ext>
            </a:extLst>
          </p:cNvPr>
          <p:cNvSpPr>
            <a:spLocks xmlns:a="http://schemas.openxmlformats.org/drawingml/2006/main" noGrp="1"/>
          </p:cNvSpPr>
          <p:nvPr/>
        </p:nvSpPr>
        <p:spPr>
          <a:xfrm xmlns:a="http://schemas.openxmlformats.org/drawingml/2006/main">
            <a:off x="1009650" y="4305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F3C969"/>
                </a:solidFill>
                <a:latin typeface="Helvetica Neue"/>
                <a:ea typeface="Helvetica Neue"/>
                <a:cs typeface="Helvetica Neue"/>
              </a:defRPr>
            </a:pPr>
            <a:r>
              <a:rPr sz="1275" b="1">
                <a:solidFill>
                  <a:srgbClr val="F3C969"/>
                </a:solidFill>
                <a:latin typeface="Helvetica Neue"/>
                <a:ea typeface="Helvetica Neue"/>
                <a:cs typeface="Helvetica Neue"/>
              </a:rPr>
              <a:t>BOTTOM LINE</a:t>
            </a:r>
          </a:p>
        </p:txBody>
      </p:sp>
      <p:sp>
        <p:nvSpPr>
          <p:cNvPr id="16" name="">
            <a:extLst xmlns:a="http://schemas.openxmlformats.org/drawingml/2006/main">
              <a:ext uri="{FF2B5EF4-FFF2-40B4-BE49-F238E27FC236}">
                <a16:creationId xmlns:a16="http://schemas.microsoft.com/office/drawing/2014/main" id="{BD0E648D-FE16-4373-9481-BCB3E051DEE7}"/>
              </a:ext>
            </a:extLst>
          </p:cNvPr>
          <p:cNvSpPr>
            <a:spLocks xmlns:a="http://schemas.openxmlformats.org/drawingml/2006/main" noGrp="1"/>
          </p:cNvSpPr>
          <p:nvPr/>
        </p:nvSpPr>
        <p:spPr>
          <a:xfrm xmlns:a="http://schemas.openxmlformats.org/drawingml/2006/main">
            <a:off x="1009650" y="464820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691"/>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The aggregate is comparable as a 0-100 number, but it measures balanced whole-diff similarity—not draft survival alone.</a:t>
            </a:r>
          </a:p>
        </p:txBody>
      </p:sp>
      <p:sp>
        <p:nvSpPr>
          <p:cNvPr id="17" name="">
            <a:extLst xmlns:a="http://schemas.openxmlformats.org/drawingml/2006/main">
              <a:ext uri="{FF2B5EF4-FFF2-40B4-BE49-F238E27FC236}">
                <a16:creationId xmlns:a16="http://schemas.microsoft.com/office/drawing/2014/main" id="{9EC8B261-512B-4656-9A38-EB0F6388B368}"/>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02</a:t>
            </a:r>
          </a:p>
        </p:txBody>
      </p:sp>
    </p:spTree>
    <p:extLst>
      <p:ext uri="{BB962C8B-B14F-4D97-AF65-F5344CB8AC3E}">
        <p14:creationId xmlns:p14="http://schemas.microsoft.com/office/powerpoint/2010/main" val="784484151"/>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B6845E-38E8-4F72-AC38-0F2025ADE49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EVIDENCE</a:t>
            </a:r>
          </a:p>
        </p:txBody>
      </p:sp>
      <p:sp>
        <p:nvSpPr>
          <p:cNvPr id="2" name="">
            <a:extLst xmlns:a="http://schemas.openxmlformats.org/drawingml/2006/main">
              <a:ext uri="{FF2B5EF4-FFF2-40B4-BE49-F238E27FC236}">
                <a16:creationId xmlns:a16="http://schemas.microsoft.com/office/drawing/2014/main" id="{F768F747-8815-44FF-B9BD-2695A336A610}"/>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comparison uses an untouched grouped holdout</a:t>
            </a:r>
          </a:p>
        </p:txBody>
      </p:sp>
      <p:sp>
        <p:nvSpPr>
          <p:cNvPr id="3" name="">
            <a:extLst xmlns:a="http://schemas.openxmlformats.org/drawingml/2006/main">
              <a:ext uri="{FF2B5EF4-FFF2-40B4-BE49-F238E27FC236}">
                <a16:creationId xmlns:a16="http://schemas.microsoft.com/office/drawing/2014/main" id="{87AFB4DC-A767-4B5C-9EF0-164FA2C63B96}"/>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247B39-C738-45EA-845C-FDC9FB07B92E}"/>
              </a:ext>
            </a:extLst>
          </p:cNvPr>
          <p:cNvSpPr>
            <a:spLocks xmlns:a="http://schemas.openxmlformats.org/drawingml/2006/main" noGrp="1"/>
          </p:cNvSpPr>
          <p:nvPr/>
        </p:nvSpPr>
        <p:spPr>
          <a:xfrm xmlns:a="http://schemas.openxmlformats.org/drawingml/2006/main">
            <a:off x="857250"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EEE4D58-4E28-4D85-84FA-B6F5D7997326}"/>
              </a:ext>
            </a:extLst>
          </p:cNvPr>
          <p:cNvSpPr>
            <a:spLocks xmlns:a="http://schemas.openxmlformats.org/drawingml/2006/main" noGrp="1"/>
          </p:cNvSpPr>
          <p:nvPr/>
        </p:nvSpPr>
        <p:spPr>
          <a:xfrm xmlns:a="http://schemas.openxmlformats.org/drawingml/2006/main">
            <a:off x="1095375"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14213D"/>
                </a:solidFill>
                <a:latin typeface="Helvetica Neue"/>
                <a:ea typeface="Helvetica Neue"/>
                <a:cs typeface="Helvetica Neue"/>
              </a:defRPr>
            </a:pPr>
            <a:r>
              <a:rPr sz="3600" b="1">
                <a:solidFill>
                  <a:srgbClr val="14213D"/>
                </a:solidFill>
                <a:latin typeface="Helvetica Neue"/>
                <a:ea typeface="Helvetica Neue"/>
                <a:cs typeface="Helvetica Neue"/>
              </a:rPr>
              <a:t>279</a:t>
            </a:r>
          </a:p>
        </p:txBody>
      </p:sp>
      <p:sp>
        <p:nvSpPr>
          <p:cNvPr id="6" name="">
            <a:extLst xmlns:a="http://schemas.openxmlformats.org/drawingml/2006/main">
              <a:ext uri="{FF2B5EF4-FFF2-40B4-BE49-F238E27FC236}">
                <a16:creationId xmlns:a16="http://schemas.microsoft.com/office/drawing/2014/main" id="{F12A75C9-DA8B-4578-ACC2-E9C9CFE27683}"/>
              </a:ext>
            </a:extLst>
          </p:cNvPr>
          <p:cNvSpPr>
            <a:spLocks xmlns:a="http://schemas.openxmlformats.org/drawingml/2006/main" noGrp="1"/>
          </p:cNvSpPr>
          <p:nvPr/>
        </p:nvSpPr>
        <p:spPr>
          <a:xfrm xmlns:a="http://schemas.openxmlformats.org/drawingml/2006/main">
            <a:off x="1095375"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internal examples</a:t>
            </a:r>
          </a:p>
        </p:txBody>
      </p:sp>
      <p:sp>
        <p:nvSpPr>
          <p:cNvPr id="7" name="">
            <a:extLst xmlns:a="http://schemas.openxmlformats.org/drawingml/2006/main">
              <a:ext uri="{FF2B5EF4-FFF2-40B4-BE49-F238E27FC236}">
                <a16:creationId xmlns:a16="http://schemas.microsoft.com/office/drawing/2014/main" id="{087FD68A-6874-4193-ABA5-1FC396E38B9A}"/>
              </a:ext>
            </a:extLst>
          </p:cNvPr>
          <p:cNvSpPr>
            <a:spLocks xmlns:a="http://schemas.openxmlformats.org/drawingml/2006/main" noGrp="1"/>
          </p:cNvSpPr>
          <p:nvPr/>
        </p:nvSpPr>
        <p:spPr>
          <a:xfrm xmlns:a="http://schemas.openxmlformats.org/drawingml/2006/main">
            <a:off x="4905375"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85AE76-1607-44B6-AA1F-C5E34979ECF0}"/>
              </a:ext>
            </a:extLst>
          </p:cNvPr>
          <p:cNvSpPr>
            <a:spLocks xmlns:a="http://schemas.openxmlformats.org/drawingml/2006/main" noGrp="1"/>
          </p:cNvSpPr>
          <p:nvPr/>
        </p:nvSpPr>
        <p:spPr>
          <a:xfrm xmlns:a="http://schemas.openxmlformats.org/drawingml/2006/main">
            <a:off x="5143500"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2864DC"/>
                </a:solidFill>
                <a:latin typeface="Helvetica Neue"/>
                <a:ea typeface="Helvetica Neue"/>
                <a:cs typeface="Helvetica Neue"/>
              </a:defRPr>
            </a:pPr>
            <a:r>
              <a:rPr sz="3600" b="1">
                <a:solidFill>
                  <a:srgbClr val="2864DC"/>
                </a:solidFill>
                <a:latin typeface="Helvetica Neue"/>
                <a:ea typeface="Helvetica Neue"/>
                <a:cs typeface="Helvetica Neue"/>
              </a:rPr>
              <a:t>70</a:t>
            </a:r>
          </a:p>
        </p:txBody>
      </p:sp>
      <p:sp>
        <p:nvSpPr>
          <p:cNvPr id="9" name="">
            <a:extLst xmlns:a="http://schemas.openxmlformats.org/drawingml/2006/main">
              <a:ext uri="{FF2B5EF4-FFF2-40B4-BE49-F238E27FC236}">
                <a16:creationId xmlns:a16="http://schemas.microsoft.com/office/drawing/2014/main" id="{406845C1-BF38-45FD-81AE-81E78CC5F3CB}"/>
              </a:ext>
            </a:extLst>
          </p:cNvPr>
          <p:cNvSpPr>
            <a:spLocks xmlns:a="http://schemas.openxmlformats.org/drawingml/2006/main" noGrp="1"/>
          </p:cNvSpPr>
          <p:nvPr/>
        </p:nvSpPr>
        <p:spPr>
          <a:xfrm xmlns:a="http://schemas.openxmlformats.org/drawingml/2006/main">
            <a:off x="5143500"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held-out examples</a:t>
            </a:r>
          </a:p>
        </p:txBody>
      </p:sp>
      <p:sp>
        <p:nvSpPr>
          <p:cNvPr id="10" name="">
            <a:extLst xmlns:a="http://schemas.openxmlformats.org/drawingml/2006/main">
              <a:ext uri="{FF2B5EF4-FFF2-40B4-BE49-F238E27FC236}">
                <a16:creationId xmlns:a16="http://schemas.microsoft.com/office/drawing/2014/main" id="{3CC32D31-508E-4ADE-82F0-2E36456C15BE}"/>
              </a:ext>
            </a:extLst>
          </p:cNvPr>
          <p:cNvSpPr>
            <a:spLocks xmlns:a="http://schemas.openxmlformats.org/drawingml/2006/main" noGrp="1"/>
          </p:cNvSpPr>
          <p:nvPr/>
        </p:nvSpPr>
        <p:spPr>
          <a:xfrm xmlns:a="http://schemas.openxmlformats.org/drawingml/2006/main">
            <a:off x="8953500"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84E66B-7A58-4FDC-8BDD-5A661DF1C8A2}"/>
              </a:ext>
            </a:extLst>
          </p:cNvPr>
          <p:cNvSpPr>
            <a:spLocks xmlns:a="http://schemas.openxmlformats.org/drawingml/2006/main" noGrp="1"/>
          </p:cNvSpPr>
          <p:nvPr/>
        </p:nvSpPr>
        <p:spPr>
          <a:xfrm xmlns:a="http://schemas.openxmlformats.org/drawingml/2006/main">
            <a:off x="9191625"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E76F51"/>
                </a:solidFill>
                <a:latin typeface="Helvetica Neue"/>
                <a:ea typeface="Helvetica Neue"/>
                <a:cs typeface="Helvetica Neue"/>
              </a:defRPr>
            </a:pPr>
            <a:r>
              <a:rPr sz="3600" b="1">
                <a:solidFill>
                  <a:srgbClr val="E76F51"/>
                </a:solidFill>
                <a:latin typeface="Helvetica Neue"/>
                <a:ea typeface="Helvetica Neue"/>
                <a:cs typeface="Helvetica Neue"/>
              </a:rPr>
              <a:t>19</a:t>
            </a:r>
          </a:p>
        </p:txBody>
      </p:sp>
      <p:sp>
        <p:nvSpPr>
          <p:cNvPr id="12" name="">
            <a:extLst xmlns:a="http://schemas.openxmlformats.org/drawingml/2006/main">
              <a:ext uri="{FF2B5EF4-FFF2-40B4-BE49-F238E27FC236}">
                <a16:creationId xmlns:a16="http://schemas.microsoft.com/office/drawing/2014/main" id="{660252B8-F4D1-4EDB-A67C-AC939F5A81F5}"/>
              </a:ext>
            </a:extLst>
          </p:cNvPr>
          <p:cNvSpPr>
            <a:spLocks xmlns:a="http://schemas.openxmlformats.org/drawingml/2006/main" noGrp="1"/>
          </p:cNvSpPr>
          <p:nvPr/>
        </p:nvSpPr>
        <p:spPr>
          <a:xfrm xmlns:a="http://schemas.openxmlformats.org/drawingml/2006/main">
            <a:off x="9191625"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8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separate pull requests</a:t>
            </a:r>
          </a:p>
        </p:txBody>
      </p:sp>
      <p:sp>
        <p:nvSpPr>
          <p:cNvPr id="13" name="">
            <a:extLst xmlns:a="http://schemas.openxmlformats.org/drawingml/2006/main">
              <a:ext uri="{FF2B5EF4-FFF2-40B4-BE49-F238E27FC236}">
                <a16:creationId xmlns:a16="http://schemas.microsoft.com/office/drawing/2014/main" id="{8170EB1A-AD76-4CDF-B601-F59B2916D526}"/>
              </a:ext>
            </a:extLst>
          </p:cNvPr>
          <p:cNvSpPr>
            <a:spLocks xmlns:a="http://schemas.openxmlformats.org/drawingml/2006/main" noGrp="1"/>
          </p:cNvSpPr>
          <p:nvPr/>
        </p:nvSpPr>
        <p:spPr>
          <a:xfrm xmlns:a="http://schemas.openxmlformats.org/drawingml/2006/main">
            <a:off x="3238500" y="3124200"/>
            <a:ext cx="1666875" cy="476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1CF1541-558E-45BF-9514-6F7C6B9AA148}"/>
              </a:ext>
            </a:extLst>
          </p:cNvPr>
          <p:cNvSpPr>
            <a:spLocks xmlns:a="http://schemas.openxmlformats.org/drawingml/2006/main" noGrp="1"/>
          </p:cNvSpPr>
          <p:nvPr/>
        </p:nvSpPr>
        <p:spPr>
          <a:xfrm xmlns:a="http://schemas.openxmlformats.org/drawingml/2006/main">
            <a:off x="7286625" y="3124200"/>
            <a:ext cx="1666875" cy="476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E32E80C-53B7-44E2-86D6-CEC4E3D53E34}"/>
              </a:ext>
            </a:extLst>
          </p:cNvPr>
          <p:cNvSpPr>
            <a:spLocks xmlns:a="http://schemas.openxmlformats.org/drawingml/2006/main" noGrp="1"/>
          </p:cNvSpPr>
          <p:nvPr/>
        </p:nvSpPr>
        <p:spPr>
          <a:xfrm xmlns:a="http://schemas.openxmlformats.org/drawingml/2006/main">
            <a:off x="1562100" y="47625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Examples from the same pull request stay together.</a:t>
            </a:r>
          </a:p>
        </p:txBody>
      </p:sp>
      <p:sp>
        <p:nvSpPr>
          <p:cNvPr id="16" name="">
            <a:extLst xmlns:a="http://schemas.openxmlformats.org/drawingml/2006/main">
              <a:ext uri="{FF2B5EF4-FFF2-40B4-BE49-F238E27FC236}">
                <a16:creationId xmlns:a16="http://schemas.microsoft.com/office/drawing/2014/main" id="{2685F369-8574-46ED-86E8-956EE9EB62CD}"/>
              </a:ext>
            </a:extLst>
          </p:cNvPr>
          <p:cNvSpPr>
            <a:spLocks xmlns:a="http://schemas.openxmlformats.org/drawingml/2006/main" noGrp="1"/>
          </p:cNvSpPr>
          <p:nvPr/>
        </p:nvSpPr>
        <p:spPr>
          <a:xfrm xmlns:a="http://schemas.openxmlformats.org/drawingml/2006/main">
            <a:off x="1562100" y="542925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E76F51"/>
                </a:solidFill>
                <a:latin typeface="Helvetica Neue"/>
                <a:ea typeface="Helvetica Neue"/>
                <a:cs typeface="Helvetica Neue"/>
              </a:defRPr>
            </a:pPr>
            <a:r>
              <a:rPr sz="1350" b="1">
                <a:solidFill>
                  <a:srgbClr val="E76F51"/>
                </a:solidFill>
                <a:latin typeface="Helvetica Neue"/>
                <a:ea typeface="Helvetica Neue"/>
                <a:cs typeface="Helvetica Neue"/>
              </a:rPr>
              <a:t>Caveat: the reference percentages are LLM-assisted weak labels, not an independent human gold standard.</a:t>
            </a:r>
          </a:p>
        </p:txBody>
      </p:sp>
      <p:sp>
        <p:nvSpPr>
          <p:cNvPr id="17" name="">
            <a:extLst xmlns:a="http://schemas.openxmlformats.org/drawingml/2006/main">
              <a:ext uri="{FF2B5EF4-FFF2-40B4-BE49-F238E27FC236}">
                <a16:creationId xmlns:a16="http://schemas.microsoft.com/office/drawing/2014/main" id="{14D861BE-388C-42EC-B6F9-755F4ACBF646}"/>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03</a:t>
            </a:r>
          </a:p>
        </p:txBody>
      </p:sp>
    </p:spTree>
    <p:extLst>
      <p:ext uri="{BB962C8B-B14F-4D97-AF65-F5344CB8AC3E}">
        <p14:creationId xmlns:p14="http://schemas.microsoft.com/office/powerpoint/2010/main" val="822466574"/>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B89CAC-9BB4-4E55-9F1E-9709ACBC79C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DIFF PRECISION/RECALL</a:t>
            </a:r>
          </a:p>
        </p:txBody>
      </p:sp>
      <p:sp>
        <p:nvSpPr>
          <p:cNvPr id="2" name="">
            <a:extLst xmlns:a="http://schemas.openxmlformats.org/drawingml/2006/main">
              <a:ext uri="{FF2B5EF4-FFF2-40B4-BE49-F238E27FC236}">
                <a16:creationId xmlns:a16="http://schemas.microsoft.com/office/drawing/2014/main" id="{66981F8E-EADD-4F69-BB83-0BD787DE28E7}"/>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draft and final diff are compared at three levels</a:t>
            </a:r>
          </a:p>
        </p:txBody>
      </p:sp>
      <p:sp>
        <p:nvSpPr>
          <p:cNvPr id="3" name="">
            <a:extLst xmlns:a="http://schemas.openxmlformats.org/drawingml/2006/main">
              <a:ext uri="{FF2B5EF4-FFF2-40B4-BE49-F238E27FC236}">
                <a16:creationId xmlns:a16="http://schemas.microsoft.com/office/drawing/2014/main" id="{5316CE39-1BBE-4C33-86C7-77F3F06F91CB}"/>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Each level produces precision, recall, and F1.</a:t>
            </a:r>
          </a:p>
        </p:txBody>
      </p:sp>
      <p:sp>
        <p:nvSpPr>
          <p:cNvPr id="4" name="">
            <a:extLst xmlns:a="http://schemas.openxmlformats.org/drawingml/2006/main">
              <a:ext uri="{FF2B5EF4-FFF2-40B4-BE49-F238E27FC236}">
                <a16:creationId xmlns:a16="http://schemas.microsoft.com/office/drawing/2014/main" id="{AF7A79E6-D683-4445-9083-3CEB16B1251C}"/>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41CD44-33F9-4FDD-A9E7-E4208A9061F9}"/>
              </a:ext>
            </a:extLst>
          </p:cNvPr>
          <p:cNvSpPr>
            <a:spLocks xmlns:a="http://schemas.openxmlformats.org/drawingml/2006/main" noGrp="1"/>
          </p:cNvSpPr>
          <p:nvPr/>
        </p:nvSpPr>
        <p:spPr>
          <a:xfrm xmlns:a="http://schemas.openxmlformats.org/drawingml/2006/main">
            <a:off x="714375" y="2190750"/>
            <a:ext cx="3238500" cy="2238375"/>
          </a:xfrm>
          <a:prstGeom xmlns:a="http://schemas.openxmlformats.org/drawingml/2006/main" prst="roundRect">
            <a:avLst>
              <a:gd name="adj" fmla="val 3404"/>
            </a:avLst>
          </a:prstGeom>
          <a:solidFill xmlns:a="http://schemas.openxmlformats.org/drawingml/2006/main">
            <a:srgbClr val="F6F0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786EC5-E405-4FDF-9D0F-C09AE2EE0F6B}"/>
              </a:ext>
            </a:extLst>
          </p:cNvPr>
          <p:cNvSpPr>
            <a:spLocks xmlns:a="http://schemas.openxmlformats.org/drawingml/2006/main" noGrp="1"/>
          </p:cNvSpPr>
          <p:nvPr/>
        </p:nvSpPr>
        <p:spPr>
          <a:xfrm xmlns:a="http://schemas.openxmlformats.org/drawingml/2006/main">
            <a:off x="923925" y="2381250"/>
            <a:ext cx="381000" cy="323850"/>
          </a:xfrm>
          <a:prstGeom xmlns:a="http://schemas.openxmlformats.org/drawingml/2006/main" prst="roundRect">
            <a:avLst>
              <a:gd name="adj" fmla="val 23529"/>
            </a:avLst>
          </a:prstGeom>
          <a:solidFill xmlns:a="http://schemas.openxmlformats.org/drawingml/2006/main">
            <a:srgbClr val="2864D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48D6E6-5ED0-4F4B-90C4-10EC6DADE5A2}"/>
              </a:ext>
            </a:extLst>
          </p:cNvPr>
          <p:cNvSpPr>
            <a:spLocks xmlns:a="http://schemas.openxmlformats.org/drawingml/2006/main" noGrp="1"/>
          </p:cNvSpPr>
          <p:nvPr/>
        </p:nvSpPr>
        <p:spPr>
          <a:xfrm xmlns:a="http://schemas.openxmlformats.org/drawingml/2006/main">
            <a:off x="1019175" y="24003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A62592E-686A-4A97-AB84-D1241F5C3964}"/>
              </a:ext>
            </a:extLst>
          </p:cNvPr>
          <p:cNvSpPr>
            <a:spLocks xmlns:a="http://schemas.openxmlformats.org/drawingml/2006/main" noGrp="1"/>
          </p:cNvSpPr>
          <p:nvPr/>
        </p:nvSpPr>
        <p:spPr>
          <a:xfrm xmlns:a="http://schemas.openxmlformats.org/drawingml/2006/main">
            <a:off x="923925" y="28765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4213D"/>
                </a:solidFill>
                <a:latin typeface="Helvetica Neue"/>
                <a:ea typeface="Helvetica Neue"/>
                <a:cs typeface="Helvetica Neue"/>
              </a:defRPr>
            </a:pPr>
            <a:r>
              <a:rPr sz="1575" b="1">
                <a:solidFill>
                  <a:srgbClr val="14213D"/>
                </a:solidFill>
                <a:latin typeface="Helvetica Neue"/>
                <a:ea typeface="Helvetica Neue"/>
                <a:cs typeface="Helvetica Neue"/>
              </a:rPr>
              <a:t>WORD TOKENS</a:t>
            </a:r>
          </a:p>
        </p:txBody>
      </p:sp>
      <p:sp>
        <p:nvSpPr>
          <p:cNvPr id="9" name="">
            <a:extLst xmlns:a="http://schemas.openxmlformats.org/drawingml/2006/main">
              <a:ext uri="{FF2B5EF4-FFF2-40B4-BE49-F238E27FC236}">
                <a16:creationId xmlns:a16="http://schemas.microsoft.com/office/drawing/2014/main" id="{9D11FCA3-8C45-4739-8006-06C84233835F}"/>
              </a:ext>
            </a:extLst>
          </p:cNvPr>
          <p:cNvSpPr>
            <a:spLocks xmlns:a="http://schemas.openxmlformats.org/drawingml/2006/main" noGrp="1"/>
          </p:cNvSpPr>
          <p:nvPr/>
        </p:nvSpPr>
        <p:spPr>
          <a:xfrm xmlns:a="http://schemas.openxmlformats.org/drawingml/2006/main">
            <a:off x="923925" y="331470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Overlap in the two raw unified diff strings</a:t>
            </a:r>
          </a:p>
        </p:txBody>
      </p:sp>
      <p:sp>
        <p:nvSpPr>
          <p:cNvPr id="10" name="">
            <a:extLst xmlns:a="http://schemas.openxmlformats.org/drawingml/2006/main">
              <a:ext uri="{FF2B5EF4-FFF2-40B4-BE49-F238E27FC236}">
                <a16:creationId xmlns:a16="http://schemas.microsoft.com/office/drawing/2014/main" id="{32743DDE-36C3-4C34-974D-AFFDDBA9A30C}"/>
              </a:ext>
            </a:extLst>
          </p:cNvPr>
          <p:cNvSpPr>
            <a:spLocks xmlns:a="http://schemas.openxmlformats.org/drawingml/2006/main" noGrp="1"/>
          </p:cNvSpPr>
          <p:nvPr/>
        </p:nvSpPr>
        <p:spPr>
          <a:xfrm xmlns:a="http://schemas.openxmlformats.org/drawingml/2006/main">
            <a:off x="4476750" y="2190750"/>
            <a:ext cx="3238500" cy="2238375"/>
          </a:xfrm>
          <a:prstGeom xmlns:a="http://schemas.openxmlformats.org/drawingml/2006/main" prst="roundRect">
            <a:avLst>
              <a:gd name="adj" fmla="val 3404"/>
            </a:avLst>
          </a:prstGeom>
          <a:solidFill xmlns:a="http://schemas.openxmlformats.org/drawingml/2006/main">
            <a:srgbClr val="F6F0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FD5140-18C5-473D-B72C-25E2E587403A}"/>
              </a:ext>
            </a:extLst>
          </p:cNvPr>
          <p:cNvSpPr>
            <a:spLocks xmlns:a="http://schemas.openxmlformats.org/drawingml/2006/main" noGrp="1"/>
          </p:cNvSpPr>
          <p:nvPr/>
        </p:nvSpPr>
        <p:spPr>
          <a:xfrm xmlns:a="http://schemas.openxmlformats.org/drawingml/2006/main">
            <a:off x="4686300" y="2381250"/>
            <a:ext cx="381000" cy="323850"/>
          </a:xfrm>
          <a:prstGeom xmlns:a="http://schemas.openxmlformats.org/drawingml/2006/main" prst="roundRect">
            <a:avLst>
              <a:gd name="adj" fmla="val 23529"/>
            </a:avLst>
          </a:prstGeom>
          <a:solidFill xmlns:a="http://schemas.openxmlformats.org/drawingml/2006/main">
            <a:srgbClr val="2864D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FF548D-4C73-421D-B50D-4ADB02FBBBC9}"/>
              </a:ext>
            </a:extLst>
          </p:cNvPr>
          <p:cNvSpPr>
            <a:spLocks xmlns:a="http://schemas.openxmlformats.org/drawingml/2006/main" noGrp="1"/>
          </p:cNvSpPr>
          <p:nvPr/>
        </p:nvSpPr>
        <p:spPr>
          <a:xfrm xmlns:a="http://schemas.openxmlformats.org/drawingml/2006/main">
            <a:off x="4781550" y="24003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C519C39F-EBF8-44AC-9C51-99390635A628}"/>
              </a:ext>
            </a:extLst>
          </p:cNvPr>
          <p:cNvSpPr>
            <a:spLocks xmlns:a="http://schemas.openxmlformats.org/drawingml/2006/main" noGrp="1"/>
          </p:cNvSpPr>
          <p:nvPr/>
        </p:nvSpPr>
        <p:spPr>
          <a:xfrm xmlns:a="http://schemas.openxmlformats.org/drawingml/2006/main">
            <a:off x="4686300" y="28765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4213D"/>
                </a:solidFill>
                <a:latin typeface="Helvetica Neue"/>
                <a:ea typeface="Helvetica Neue"/>
                <a:cs typeface="Helvetica Neue"/>
              </a:defRPr>
            </a:pPr>
            <a:r>
              <a:rPr sz="1575" b="1">
                <a:solidFill>
                  <a:srgbClr val="14213D"/>
                </a:solidFill>
                <a:latin typeface="Helvetica Neue"/>
                <a:ea typeface="Helvetica Neue"/>
                <a:cs typeface="Helvetica Neue"/>
              </a:rPr>
              <a:t>CHANGED FILES</a:t>
            </a:r>
          </a:p>
        </p:txBody>
      </p:sp>
      <p:sp>
        <p:nvSpPr>
          <p:cNvPr id="14" name="">
            <a:extLst xmlns:a="http://schemas.openxmlformats.org/drawingml/2006/main">
              <a:ext uri="{FF2B5EF4-FFF2-40B4-BE49-F238E27FC236}">
                <a16:creationId xmlns:a16="http://schemas.microsoft.com/office/drawing/2014/main" id="{BEA6177B-3D9F-4B16-A6F4-AD9033D0E398}"/>
              </a:ext>
            </a:extLst>
          </p:cNvPr>
          <p:cNvSpPr>
            <a:spLocks xmlns:a="http://schemas.openxmlformats.org/drawingml/2006/main" noGrp="1"/>
          </p:cNvSpPr>
          <p:nvPr/>
        </p:nvSpPr>
        <p:spPr>
          <a:xfrm xmlns:a="http://schemas.openxmlformats.org/drawingml/2006/main">
            <a:off x="4686300" y="331470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Overlap in the set of file paths</a:t>
            </a:r>
          </a:p>
        </p:txBody>
      </p:sp>
      <p:sp>
        <p:nvSpPr>
          <p:cNvPr id="15" name="">
            <a:extLst xmlns:a="http://schemas.openxmlformats.org/drawingml/2006/main">
              <a:ext uri="{FF2B5EF4-FFF2-40B4-BE49-F238E27FC236}">
                <a16:creationId xmlns:a16="http://schemas.microsoft.com/office/drawing/2014/main" id="{5D46FF93-C644-4128-B767-EDBA1C4CE3F6}"/>
              </a:ext>
            </a:extLst>
          </p:cNvPr>
          <p:cNvSpPr>
            <a:spLocks xmlns:a="http://schemas.openxmlformats.org/drawingml/2006/main" noGrp="1"/>
          </p:cNvSpPr>
          <p:nvPr/>
        </p:nvSpPr>
        <p:spPr>
          <a:xfrm xmlns:a="http://schemas.openxmlformats.org/drawingml/2006/main">
            <a:off x="8239125" y="2190750"/>
            <a:ext cx="3238500" cy="2238375"/>
          </a:xfrm>
          <a:prstGeom xmlns:a="http://schemas.openxmlformats.org/drawingml/2006/main" prst="roundRect">
            <a:avLst>
              <a:gd name="adj" fmla="val 3404"/>
            </a:avLst>
          </a:prstGeom>
          <a:solidFill xmlns:a="http://schemas.openxmlformats.org/drawingml/2006/main">
            <a:srgbClr val="F9DDD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913394-182F-40E1-9D1C-5990E2FFACD9}"/>
              </a:ext>
            </a:extLst>
          </p:cNvPr>
          <p:cNvSpPr>
            <a:spLocks xmlns:a="http://schemas.openxmlformats.org/drawingml/2006/main" noGrp="1"/>
          </p:cNvSpPr>
          <p:nvPr/>
        </p:nvSpPr>
        <p:spPr>
          <a:xfrm xmlns:a="http://schemas.openxmlformats.org/drawingml/2006/main">
            <a:off x="8448675" y="2381250"/>
            <a:ext cx="381000" cy="323850"/>
          </a:xfrm>
          <a:prstGeom xmlns:a="http://schemas.openxmlformats.org/drawingml/2006/main" prst="roundRect">
            <a:avLst>
              <a:gd name="adj" fmla="val 23529"/>
            </a:avLst>
          </a:prstGeom>
          <a:solidFill xmlns:a="http://schemas.openxmlformats.org/drawingml/2006/main">
            <a:srgbClr val="E76F5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9303AD-6280-4027-92E1-97CB2E4865DD}"/>
              </a:ext>
            </a:extLst>
          </p:cNvPr>
          <p:cNvSpPr>
            <a:spLocks xmlns:a="http://schemas.openxmlformats.org/drawingml/2006/main" noGrp="1"/>
          </p:cNvSpPr>
          <p:nvPr/>
        </p:nvSpPr>
        <p:spPr>
          <a:xfrm xmlns:a="http://schemas.openxmlformats.org/drawingml/2006/main">
            <a:off x="8543925" y="24003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547F2D69-2BC9-464C-9D11-8E0621550F7D}"/>
              </a:ext>
            </a:extLst>
          </p:cNvPr>
          <p:cNvSpPr>
            <a:spLocks xmlns:a="http://schemas.openxmlformats.org/drawingml/2006/main" noGrp="1"/>
          </p:cNvSpPr>
          <p:nvPr/>
        </p:nvSpPr>
        <p:spPr>
          <a:xfrm xmlns:a="http://schemas.openxmlformats.org/drawingml/2006/main">
            <a:off x="8448675" y="28765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4213D"/>
                </a:solidFill>
                <a:latin typeface="Helvetica Neue"/>
                <a:ea typeface="Helvetica Neue"/>
                <a:cs typeface="Helvetica Neue"/>
              </a:defRPr>
            </a:pPr>
            <a:r>
              <a:rPr sz="1575" b="1">
                <a:solidFill>
                  <a:srgbClr val="14213D"/>
                </a:solidFill>
                <a:latin typeface="Helvetica Neue"/>
                <a:ea typeface="Helvetica Neue"/>
                <a:cs typeface="Helvetica Neue"/>
              </a:rPr>
              <a:t>CHANGED LINES</a:t>
            </a:r>
          </a:p>
        </p:txBody>
      </p:sp>
      <p:sp>
        <p:nvSpPr>
          <p:cNvPr id="19" name="">
            <a:extLst xmlns:a="http://schemas.openxmlformats.org/drawingml/2006/main">
              <a:ext uri="{FF2B5EF4-FFF2-40B4-BE49-F238E27FC236}">
                <a16:creationId xmlns:a16="http://schemas.microsoft.com/office/drawing/2014/main" id="{EE320817-F799-4F76-9A7C-7CEE203D5FB7}"/>
              </a:ext>
            </a:extLst>
          </p:cNvPr>
          <p:cNvSpPr>
            <a:spLocks xmlns:a="http://schemas.openxmlformats.org/drawingml/2006/main" noGrp="1"/>
          </p:cNvSpPr>
          <p:nvPr/>
        </p:nvSpPr>
        <p:spPr>
          <a:xfrm xmlns:a="http://schemas.openxmlformats.org/drawingml/2006/main">
            <a:off x="8448675" y="331470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Overlap in added and removed lines after trim</a:t>
            </a:r>
          </a:p>
        </p:txBody>
      </p:sp>
      <p:sp>
        <p:nvSpPr>
          <p:cNvPr id="20" name="">
            <a:extLst xmlns:a="http://schemas.openxmlformats.org/drawingml/2006/main">
              <a:ext uri="{FF2B5EF4-FFF2-40B4-BE49-F238E27FC236}">
                <a16:creationId xmlns:a16="http://schemas.microsoft.com/office/drawing/2014/main" id="{97076C0D-B3AE-4F8E-8858-DB088B919977}"/>
              </a:ext>
            </a:extLst>
          </p:cNvPr>
          <p:cNvSpPr>
            <a:spLocks xmlns:a="http://schemas.openxmlformats.org/drawingml/2006/main" noGrp="1"/>
          </p:cNvSpPr>
          <p:nvPr/>
        </p:nvSpPr>
        <p:spPr>
          <a:xfrm xmlns:a="http://schemas.openxmlformats.org/drawingml/2006/main">
            <a:off x="1047750" y="49530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1950" b="1">
                <a:solidFill>
                  <a:srgbClr val="14213D"/>
                </a:solidFill>
                <a:latin typeface="Helvetica Neue"/>
                <a:ea typeface="Helvetica Neue"/>
                <a:cs typeface="Helvetica Neue"/>
              </a:defRPr>
            </a:pPr>
            <a:r>
              <a:rPr sz="1950" b="1">
                <a:solidFill>
                  <a:srgbClr val="14213D"/>
                </a:solidFill>
                <a:latin typeface="Helvetica Neue"/>
                <a:ea typeface="Helvetica Neue"/>
                <a:cs typeface="Helvetica Neue"/>
              </a:rPr>
              <a:t>Aggregate Diff P/R = mean(Token F1, File F1, Line F1)</a:t>
            </a:r>
          </a:p>
        </p:txBody>
      </p:sp>
      <p:sp>
        <p:nvSpPr>
          <p:cNvPr id="21" name="">
            <a:extLst xmlns:a="http://schemas.openxmlformats.org/drawingml/2006/main">
              <a:ext uri="{FF2B5EF4-FFF2-40B4-BE49-F238E27FC236}">
                <a16:creationId xmlns:a16="http://schemas.microsoft.com/office/drawing/2014/main" id="{20C46BB4-28FC-4566-B04C-5C067A986D8D}"/>
              </a:ext>
            </a:extLst>
          </p:cNvPr>
          <p:cNvSpPr>
            <a:spLocks xmlns:a="http://schemas.openxmlformats.org/drawingml/2006/main" noGrp="1"/>
          </p:cNvSpPr>
          <p:nvPr/>
        </p:nvSpPr>
        <p:spPr>
          <a:xfrm xmlns:a="http://schemas.openxmlformats.org/drawingml/2006/main">
            <a:off x="1047750" y="53911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E6775"/>
                </a:solidFill>
                <a:latin typeface="Helvetica Neue"/>
                <a:ea typeface="Helvetica Neue"/>
                <a:cs typeface="Helvetica Neue"/>
              </a:defRPr>
            </a:pPr>
            <a:r>
              <a:rPr sz="1425" b="0">
                <a:solidFill>
                  <a:srgbClr val="5E6775"/>
                </a:solidFill>
                <a:latin typeface="Helvetica Neue"/>
                <a:ea typeface="Helvetica Neue"/>
                <a:cs typeface="Helvetica Neue"/>
              </a:rPr>
              <a:t>Equal weighting prevents the much larger token count from dominating the result.</a:t>
            </a:r>
          </a:p>
        </p:txBody>
      </p:sp>
      <p:sp>
        <p:nvSpPr>
          <p:cNvPr id="22" name="">
            <a:extLst xmlns:a="http://schemas.openxmlformats.org/drawingml/2006/main">
              <a:ext uri="{FF2B5EF4-FFF2-40B4-BE49-F238E27FC236}">
                <a16:creationId xmlns:a16="http://schemas.microsoft.com/office/drawing/2014/main" id="{FF032C0F-CC83-40DE-9879-3536AA8F43A0}"/>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04</a:t>
            </a:r>
          </a:p>
        </p:txBody>
      </p:sp>
    </p:spTree>
    <p:extLst>
      <p:ext uri="{BB962C8B-B14F-4D97-AF65-F5344CB8AC3E}">
        <p14:creationId xmlns:p14="http://schemas.microsoft.com/office/powerpoint/2010/main" val="372264723"/>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04BBF98-D557-42D1-8CBF-71787E4EC9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MEANING</a:t>
            </a:r>
          </a:p>
        </p:txBody>
      </p:sp>
      <p:sp>
        <p:nvSpPr>
          <p:cNvPr id="2" name="">
            <a:extLst xmlns:a="http://schemas.openxmlformats.org/drawingml/2006/main">
              <a:ext uri="{FF2B5EF4-FFF2-40B4-BE49-F238E27FC236}">
                <a16:creationId xmlns:a16="http://schemas.microsoft.com/office/drawing/2014/main" id="{FA8DCC44-7E46-45AC-9215-AA8B3462CDAD}"/>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F1 balances precision and recall into one percentage</a:t>
            </a:r>
          </a:p>
        </p:txBody>
      </p:sp>
      <p:sp>
        <p:nvSpPr>
          <p:cNvPr id="3" name="">
            <a:extLst xmlns:a="http://schemas.openxmlformats.org/drawingml/2006/main">
              <a:ext uri="{FF2B5EF4-FFF2-40B4-BE49-F238E27FC236}">
                <a16:creationId xmlns:a16="http://schemas.microsoft.com/office/drawing/2014/main" id="{5565E0AB-70CC-4C6C-96EC-796CA840D2B7}"/>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0AB9C4-37CC-41A3-8055-7C83F13D4785}"/>
              </a:ext>
            </a:extLst>
          </p:cNvPr>
          <p:cNvSpPr>
            <a:spLocks xmlns:a="http://schemas.openxmlformats.org/drawingml/2006/main" noGrp="1"/>
          </p:cNvSpPr>
          <p:nvPr/>
        </p:nvSpPr>
        <p:spPr>
          <a:xfrm xmlns:a="http://schemas.openxmlformats.org/drawingml/2006/main">
            <a:off x="762000" y="2095500"/>
            <a:ext cx="3333750" cy="2619375"/>
          </a:xfrm>
          <a:prstGeom xmlns:a="http://schemas.openxmlformats.org/drawingml/2006/main" prst="roundRect">
            <a:avLst>
              <a:gd name="adj" fmla="val 2909"/>
            </a:avLst>
          </a:prstGeom>
          <a:solidFill xmlns:a="http://schemas.openxmlformats.org/drawingml/2006/main">
            <a:srgbClr val="F9DD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42926A-1702-420E-8900-F983ABC64730}"/>
              </a:ext>
            </a:extLst>
          </p:cNvPr>
          <p:cNvSpPr>
            <a:spLocks xmlns:a="http://schemas.openxmlformats.org/drawingml/2006/main" noGrp="1"/>
          </p:cNvSpPr>
          <p:nvPr/>
        </p:nvSpPr>
        <p:spPr>
          <a:xfrm xmlns:a="http://schemas.openxmlformats.org/drawingml/2006/main">
            <a:off x="1000125"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E76F51"/>
                </a:solidFill>
                <a:latin typeface="Helvetica Neue"/>
                <a:ea typeface="Helvetica Neue"/>
                <a:cs typeface="Helvetica Neue"/>
              </a:defRPr>
            </a:pPr>
            <a:r>
              <a:rPr sz="1350" b="1">
                <a:solidFill>
                  <a:srgbClr val="E76F51"/>
                </a:solidFill>
                <a:latin typeface="Helvetica Neue"/>
                <a:ea typeface="Helvetica Neue"/>
                <a:cs typeface="Helvetica Neue"/>
              </a:rPr>
              <a:t>PRECISION</a:t>
            </a:r>
          </a:p>
        </p:txBody>
      </p:sp>
      <p:sp>
        <p:nvSpPr>
          <p:cNvPr id="6" name="">
            <a:extLst xmlns:a="http://schemas.openxmlformats.org/drawingml/2006/main">
              <a:ext uri="{FF2B5EF4-FFF2-40B4-BE49-F238E27FC236}">
                <a16:creationId xmlns:a16="http://schemas.microsoft.com/office/drawing/2014/main" id="{85E33B62-AFF7-42C7-8F22-02E1B58396BC}"/>
              </a:ext>
            </a:extLst>
          </p:cNvPr>
          <p:cNvSpPr>
            <a:spLocks xmlns:a="http://schemas.openxmlformats.org/drawingml/2006/main" noGrp="1"/>
          </p:cNvSpPr>
          <p:nvPr/>
        </p:nvSpPr>
        <p:spPr>
          <a:xfrm xmlns:a="http://schemas.openxmlformats.org/drawingml/2006/main">
            <a:off x="1000125" y="27813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00"/>
          </a:bodyPr>
          <a:lstStyle xmlns:a="http://schemas.openxmlformats.org/drawingml/2006/main"/>
          <a:p xmlns:a="http://schemas.openxmlformats.org/drawingml/2006/main">
            <a:pPr algn="l">
              <a:defRPr sz="1875" b="1">
                <a:solidFill>
                  <a:srgbClr val="14213D"/>
                </a:solidFill>
                <a:latin typeface="Helvetica Neue"/>
                <a:ea typeface="Helvetica Neue"/>
                <a:cs typeface="Helvetica Neue"/>
              </a:defRPr>
            </a:pPr>
            <a:r>
              <a:rPr sz="1875" b="1">
                <a:solidFill>
                  <a:srgbClr val="14213D"/>
                </a:solidFill>
                <a:latin typeface="Helvetica Neue"/>
                <a:ea typeface="Helvetica Neue"/>
                <a:cs typeface="Helvetica Neue"/>
              </a:rPr>
              <a:t>How much of the draft was kept?</a:t>
            </a:r>
          </a:p>
        </p:txBody>
      </p:sp>
      <p:sp>
        <p:nvSpPr>
          <p:cNvPr id="7" name="">
            <a:extLst xmlns:a="http://schemas.openxmlformats.org/drawingml/2006/main">
              <a:ext uri="{FF2B5EF4-FFF2-40B4-BE49-F238E27FC236}">
                <a16:creationId xmlns:a16="http://schemas.microsoft.com/office/drawing/2014/main" id="{DFA81780-DABC-49C6-A19B-876ED13C25FF}"/>
              </a:ext>
            </a:extLst>
          </p:cNvPr>
          <p:cNvSpPr>
            <a:spLocks xmlns:a="http://schemas.openxmlformats.org/drawingml/2006/main" noGrp="1"/>
          </p:cNvSpPr>
          <p:nvPr/>
        </p:nvSpPr>
        <p:spPr>
          <a:xfrm xmlns:a="http://schemas.openxmlformats.org/drawingml/2006/main">
            <a:off x="1000125" y="3714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E76F51"/>
                </a:solidFill>
                <a:latin typeface="Helvetica Neue"/>
                <a:ea typeface="Helvetica Neue"/>
                <a:cs typeface="Helvetica Neue"/>
              </a:defRPr>
            </a:pPr>
            <a:r>
              <a:rPr sz="1575" b="1">
                <a:solidFill>
                  <a:srgbClr val="E76F51"/>
                </a:solidFill>
                <a:latin typeface="Helvetica Neue"/>
                <a:ea typeface="Helvetica Neue"/>
                <a:cs typeface="Helvetica Neue"/>
              </a:rPr>
              <a:t>overlap ÷ draft</a:t>
            </a:r>
          </a:p>
        </p:txBody>
      </p:sp>
      <p:sp>
        <p:nvSpPr>
          <p:cNvPr id="8" name="">
            <a:extLst xmlns:a="http://schemas.openxmlformats.org/drawingml/2006/main">
              <a:ext uri="{FF2B5EF4-FFF2-40B4-BE49-F238E27FC236}">
                <a16:creationId xmlns:a16="http://schemas.microsoft.com/office/drawing/2014/main" id="{AD7B16B6-F99F-4122-939A-F12BA4271DDA}"/>
              </a:ext>
            </a:extLst>
          </p:cNvPr>
          <p:cNvSpPr>
            <a:spLocks xmlns:a="http://schemas.openxmlformats.org/drawingml/2006/main" noGrp="1"/>
          </p:cNvSpPr>
          <p:nvPr/>
        </p:nvSpPr>
        <p:spPr>
          <a:xfrm xmlns:a="http://schemas.openxmlformats.org/drawingml/2006/main">
            <a:off x="4429125" y="2095500"/>
            <a:ext cx="3333750" cy="2619375"/>
          </a:xfrm>
          <a:prstGeom xmlns:a="http://schemas.openxmlformats.org/drawingml/2006/main" prst="roundRect">
            <a:avLst>
              <a:gd name="adj" fmla="val 2909"/>
            </a:avLst>
          </a:prstGeom>
          <a:solidFill xmlns:a="http://schemas.openxmlformats.org/drawingml/2006/main">
            <a:srgbClr val="DDE8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7E3CD3-EC5F-412F-819D-97770769D3CA}"/>
              </a:ext>
            </a:extLst>
          </p:cNvPr>
          <p:cNvSpPr>
            <a:spLocks xmlns:a="http://schemas.openxmlformats.org/drawingml/2006/main" noGrp="1"/>
          </p:cNvSpPr>
          <p:nvPr/>
        </p:nvSpPr>
        <p:spPr>
          <a:xfrm xmlns:a="http://schemas.openxmlformats.org/drawingml/2006/main">
            <a:off x="4667250"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864DC"/>
                </a:solidFill>
                <a:latin typeface="Helvetica Neue"/>
                <a:ea typeface="Helvetica Neue"/>
                <a:cs typeface="Helvetica Neue"/>
              </a:defRPr>
            </a:pPr>
            <a:r>
              <a:rPr sz="1350" b="1">
                <a:solidFill>
                  <a:srgbClr val="2864DC"/>
                </a:solidFill>
                <a:latin typeface="Helvetica Neue"/>
                <a:ea typeface="Helvetica Neue"/>
                <a:cs typeface="Helvetica Neue"/>
              </a:rPr>
              <a:t>RECALL</a:t>
            </a:r>
          </a:p>
        </p:txBody>
      </p:sp>
      <p:sp>
        <p:nvSpPr>
          <p:cNvPr id="10" name="">
            <a:extLst xmlns:a="http://schemas.openxmlformats.org/drawingml/2006/main">
              <a:ext uri="{FF2B5EF4-FFF2-40B4-BE49-F238E27FC236}">
                <a16:creationId xmlns:a16="http://schemas.microsoft.com/office/drawing/2014/main" id="{CF6CFCB9-A31D-444E-8CE1-E8C5C9B9C430}"/>
              </a:ext>
            </a:extLst>
          </p:cNvPr>
          <p:cNvSpPr>
            <a:spLocks xmlns:a="http://schemas.openxmlformats.org/drawingml/2006/main" noGrp="1"/>
          </p:cNvSpPr>
          <p:nvPr/>
        </p:nvSpPr>
        <p:spPr>
          <a:xfrm xmlns:a="http://schemas.openxmlformats.org/drawingml/2006/main">
            <a:off x="4667250" y="27813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782"/>
          </a:bodyPr>
          <a:lstStyle xmlns:a="http://schemas.openxmlformats.org/drawingml/2006/main"/>
          <a:p xmlns:a="http://schemas.openxmlformats.org/drawingml/2006/main">
            <a:pPr algn="l">
              <a:defRPr sz="1875" b="1">
                <a:solidFill>
                  <a:srgbClr val="14213D"/>
                </a:solidFill>
                <a:latin typeface="Helvetica Neue"/>
                <a:ea typeface="Helvetica Neue"/>
                <a:cs typeface="Helvetica Neue"/>
              </a:defRPr>
            </a:pPr>
            <a:r>
              <a:rPr sz="1875" b="1">
                <a:solidFill>
                  <a:srgbClr val="14213D"/>
                </a:solidFill>
                <a:latin typeface="Helvetica Neue"/>
                <a:ea typeface="Helvetica Neue"/>
                <a:cs typeface="Helvetica Neue"/>
              </a:rPr>
              <a:t>How much of the final was already in the draft?</a:t>
            </a:r>
          </a:p>
        </p:txBody>
      </p:sp>
      <p:sp>
        <p:nvSpPr>
          <p:cNvPr id="11" name="">
            <a:extLst xmlns:a="http://schemas.openxmlformats.org/drawingml/2006/main">
              <a:ext uri="{FF2B5EF4-FFF2-40B4-BE49-F238E27FC236}">
                <a16:creationId xmlns:a16="http://schemas.microsoft.com/office/drawing/2014/main" id="{E82A0FD0-4583-44AD-BEA2-E9555143BDD7}"/>
              </a:ext>
            </a:extLst>
          </p:cNvPr>
          <p:cNvSpPr>
            <a:spLocks xmlns:a="http://schemas.openxmlformats.org/drawingml/2006/main" noGrp="1"/>
          </p:cNvSpPr>
          <p:nvPr/>
        </p:nvSpPr>
        <p:spPr>
          <a:xfrm xmlns:a="http://schemas.openxmlformats.org/drawingml/2006/main">
            <a:off x="4667250" y="3714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2864DC"/>
                </a:solidFill>
                <a:latin typeface="Helvetica Neue"/>
                <a:ea typeface="Helvetica Neue"/>
                <a:cs typeface="Helvetica Neue"/>
              </a:defRPr>
            </a:pPr>
            <a:r>
              <a:rPr sz="1575" b="1">
                <a:solidFill>
                  <a:srgbClr val="2864DC"/>
                </a:solidFill>
                <a:latin typeface="Helvetica Neue"/>
                <a:ea typeface="Helvetica Neue"/>
                <a:cs typeface="Helvetica Neue"/>
              </a:rPr>
              <a:t>overlap ÷ final</a:t>
            </a:r>
          </a:p>
        </p:txBody>
      </p:sp>
      <p:sp>
        <p:nvSpPr>
          <p:cNvPr id="12" name="">
            <a:extLst xmlns:a="http://schemas.openxmlformats.org/drawingml/2006/main">
              <a:ext uri="{FF2B5EF4-FFF2-40B4-BE49-F238E27FC236}">
                <a16:creationId xmlns:a16="http://schemas.microsoft.com/office/drawing/2014/main" id="{8CDEA110-99E4-4C92-BC6B-CF0F54562233}"/>
              </a:ext>
            </a:extLst>
          </p:cNvPr>
          <p:cNvSpPr>
            <a:spLocks xmlns:a="http://schemas.openxmlformats.org/drawingml/2006/main" noGrp="1"/>
          </p:cNvSpPr>
          <p:nvPr/>
        </p:nvSpPr>
        <p:spPr>
          <a:xfrm xmlns:a="http://schemas.openxmlformats.org/drawingml/2006/main">
            <a:off x="8096250" y="2095500"/>
            <a:ext cx="3333750" cy="2619375"/>
          </a:xfrm>
          <a:prstGeom xmlns:a="http://schemas.openxmlformats.org/drawingml/2006/main" prst="roundRect">
            <a:avLst>
              <a:gd name="adj" fmla="val 2909"/>
            </a:avLst>
          </a:prstGeom>
          <a:solidFill xmlns:a="http://schemas.openxmlformats.org/drawingml/2006/main">
            <a:srgbClr val="D9EE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DA1D82-2511-42F8-8C23-53BBB25FF9AF}"/>
              </a:ext>
            </a:extLst>
          </p:cNvPr>
          <p:cNvSpPr>
            <a:spLocks xmlns:a="http://schemas.openxmlformats.org/drawingml/2006/main" noGrp="1"/>
          </p:cNvSpPr>
          <p:nvPr/>
        </p:nvSpPr>
        <p:spPr>
          <a:xfrm xmlns:a="http://schemas.openxmlformats.org/drawingml/2006/main">
            <a:off x="8334375"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18B75"/>
                </a:solidFill>
                <a:latin typeface="Helvetica Neue"/>
                <a:ea typeface="Helvetica Neue"/>
                <a:cs typeface="Helvetica Neue"/>
              </a:defRPr>
            </a:pPr>
            <a:r>
              <a:rPr sz="1350" b="1">
                <a:solidFill>
                  <a:srgbClr val="218B75"/>
                </a:solidFill>
                <a:latin typeface="Helvetica Neue"/>
                <a:ea typeface="Helvetica Neue"/>
                <a:cs typeface="Helvetica Neue"/>
              </a:rPr>
              <a:t>F1</a:t>
            </a:r>
          </a:p>
        </p:txBody>
      </p:sp>
      <p:sp>
        <p:nvSpPr>
          <p:cNvPr id="14" name="">
            <a:extLst xmlns:a="http://schemas.openxmlformats.org/drawingml/2006/main">
              <a:ext uri="{FF2B5EF4-FFF2-40B4-BE49-F238E27FC236}">
                <a16:creationId xmlns:a16="http://schemas.microsoft.com/office/drawing/2014/main" id="{7354B4CB-8B43-431A-8B19-C0952CFCFEAF}"/>
              </a:ext>
            </a:extLst>
          </p:cNvPr>
          <p:cNvSpPr>
            <a:spLocks xmlns:a="http://schemas.openxmlformats.org/drawingml/2006/main" noGrp="1"/>
          </p:cNvSpPr>
          <p:nvPr/>
        </p:nvSpPr>
        <p:spPr>
          <a:xfrm xmlns:a="http://schemas.openxmlformats.org/drawingml/2006/main">
            <a:off x="8334375" y="27813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00"/>
          </a:bodyPr>
          <a:lstStyle xmlns:a="http://schemas.openxmlformats.org/drawingml/2006/main"/>
          <a:p xmlns:a="http://schemas.openxmlformats.org/drawingml/2006/main">
            <a:pPr algn="l">
              <a:defRPr sz="1875" b="1">
                <a:solidFill>
                  <a:srgbClr val="14213D"/>
                </a:solidFill>
                <a:latin typeface="Helvetica Neue"/>
                <a:ea typeface="Helvetica Neue"/>
                <a:cs typeface="Helvetica Neue"/>
              </a:defRPr>
            </a:pPr>
            <a:r>
              <a:rPr sz="1875" b="1">
                <a:solidFill>
                  <a:srgbClr val="14213D"/>
                </a:solidFill>
                <a:latin typeface="Helvetica Neue"/>
                <a:ea typeface="Helvetica Neue"/>
                <a:cs typeface="Helvetica Neue"/>
              </a:rPr>
              <a:t>Balanced score for one level</a:t>
            </a:r>
          </a:p>
        </p:txBody>
      </p:sp>
      <p:sp>
        <p:nvSpPr>
          <p:cNvPr id="15" name="">
            <a:extLst xmlns:a="http://schemas.openxmlformats.org/drawingml/2006/main">
              <a:ext uri="{FF2B5EF4-FFF2-40B4-BE49-F238E27FC236}">
                <a16:creationId xmlns:a16="http://schemas.microsoft.com/office/drawing/2014/main" id="{D14E45B2-21A8-4171-A45A-F726FD0262CC}"/>
              </a:ext>
            </a:extLst>
          </p:cNvPr>
          <p:cNvSpPr>
            <a:spLocks xmlns:a="http://schemas.openxmlformats.org/drawingml/2006/main" noGrp="1"/>
          </p:cNvSpPr>
          <p:nvPr/>
        </p:nvSpPr>
        <p:spPr>
          <a:xfrm xmlns:a="http://schemas.openxmlformats.org/drawingml/2006/main">
            <a:off x="8334375" y="3714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218B75"/>
                </a:solidFill>
                <a:latin typeface="Helvetica Neue"/>
                <a:ea typeface="Helvetica Neue"/>
                <a:cs typeface="Helvetica Neue"/>
              </a:defRPr>
            </a:pPr>
            <a:r>
              <a:rPr sz="1575" b="1">
                <a:solidFill>
                  <a:srgbClr val="218B75"/>
                </a:solidFill>
                <a:latin typeface="Helvetica Neue"/>
                <a:ea typeface="Helvetica Neue"/>
                <a:cs typeface="Helvetica Neue"/>
              </a:rPr>
              <a:t>2 × P × R ÷ (P + R)</a:t>
            </a:r>
          </a:p>
        </p:txBody>
      </p:sp>
      <p:sp>
        <p:nvSpPr>
          <p:cNvPr id="16" name="">
            <a:extLst xmlns:a="http://schemas.openxmlformats.org/drawingml/2006/main">
              <a:ext uri="{FF2B5EF4-FFF2-40B4-BE49-F238E27FC236}">
                <a16:creationId xmlns:a16="http://schemas.microsoft.com/office/drawing/2014/main" id="{128C4EAA-AC0C-4B77-8C35-80DB603C2AA9}"/>
              </a:ext>
            </a:extLst>
          </p:cNvPr>
          <p:cNvSpPr>
            <a:spLocks xmlns:a="http://schemas.openxmlformats.org/drawingml/2006/main" noGrp="1"/>
          </p:cNvSpPr>
          <p:nvPr/>
        </p:nvSpPr>
        <p:spPr>
          <a:xfrm xmlns:a="http://schemas.openxmlformats.org/drawingml/2006/main">
            <a:off x="1143000" y="52863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4213D"/>
                </a:solidFill>
                <a:latin typeface="Helvetica Neue"/>
                <a:ea typeface="Helvetica Neue"/>
                <a:cs typeface="Helvetica Neue"/>
              </a:defRPr>
            </a:pPr>
            <a:r>
              <a:rPr sz="1800" b="1">
                <a:solidFill>
                  <a:srgbClr val="14213D"/>
                </a:solidFill>
                <a:latin typeface="Helvetica Neue"/>
                <a:ea typeface="Helvetica Neue"/>
                <a:cs typeface="Helvetica Neue"/>
              </a:rPr>
              <a:t>Aggregate = equal-weight mean of the three level F1 scores</a:t>
            </a:r>
          </a:p>
        </p:txBody>
      </p:sp>
      <p:sp>
        <p:nvSpPr>
          <p:cNvPr id="17" name="">
            <a:extLst xmlns:a="http://schemas.openxmlformats.org/drawingml/2006/main">
              <a:ext uri="{FF2B5EF4-FFF2-40B4-BE49-F238E27FC236}">
                <a16:creationId xmlns:a16="http://schemas.microsoft.com/office/drawing/2014/main" id="{5DB00517-B1F3-4232-BB0F-CC09B21C4343}"/>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05</a:t>
            </a:r>
          </a:p>
        </p:txBody>
      </p:sp>
    </p:spTree>
    <p:extLst>
      <p:ext uri="{BB962C8B-B14F-4D97-AF65-F5344CB8AC3E}">
        <p14:creationId xmlns:p14="http://schemas.microsoft.com/office/powerpoint/2010/main" val="207561814"/>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57A8896-637B-4614-9FB0-2485C8CF09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PERCENTAGE MODEL</a:t>
            </a:r>
          </a:p>
        </p:txBody>
      </p:sp>
      <p:sp>
        <p:nvSpPr>
          <p:cNvPr id="2" name="">
            <a:extLst xmlns:a="http://schemas.openxmlformats.org/drawingml/2006/main">
              <a:ext uri="{FF2B5EF4-FFF2-40B4-BE49-F238E27FC236}">
                <a16:creationId xmlns:a16="http://schemas.microsoft.com/office/drawing/2014/main" id="{3ABCFCE4-C250-46C2-9A3D-D1D3C0A2421E}"/>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Three specialists vote on one 0-100 percentage</a:t>
            </a:r>
          </a:p>
        </p:txBody>
      </p:sp>
      <p:sp>
        <p:nvSpPr>
          <p:cNvPr id="3" name="">
            <a:extLst xmlns:a="http://schemas.openxmlformats.org/drawingml/2006/main">
              <a:ext uri="{FF2B5EF4-FFF2-40B4-BE49-F238E27FC236}">
                <a16:creationId xmlns:a16="http://schemas.microsoft.com/office/drawing/2014/main" id="{172435B4-0798-431B-B6D7-FA19653543EE}"/>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Weights were selected with repeated pull-request-grouped validation.</a:t>
            </a:r>
          </a:p>
        </p:txBody>
      </p:sp>
      <p:sp>
        <p:nvSpPr>
          <p:cNvPr id="4" name="">
            <a:extLst xmlns:a="http://schemas.openxmlformats.org/drawingml/2006/main">
              <a:ext uri="{FF2B5EF4-FFF2-40B4-BE49-F238E27FC236}">
                <a16:creationId xmlns:a16="http://schemas.microsoft.com/office/drawing/2014/main" id="{967113D3-BC0E-4205-9FB9-D31611EE2A9B}"/>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9FD64C-07A2-450B-A132-4F1219072C8C}"/>
              </a:ext>
            </a:extLst>
          </p:cNvPr>
          <p:cNvSpPr>
            <a:spLocks xmlns:a="http://schemas.openxmlformats.org/drawingml/2006/main" noGrp="1"/>
          </p:cNvSpPr>
          <p:nvPr/>
        </p:nvSpPr>
        <p:spPr>
          <a:xfrm xmlns:a="http://schemas.openxmlformats.org/drawingml/2006/main">
            <a:off x="714375" y="2076450"/>
            <a:ext cx="3238500" cy="2238375"/>
          </a:xfrm>
          <a:prstGeom xmlns:a="http://schemas.openxmlformats.org/drawingml/2006/main" prst="roundRect">
            <a:avLst>
              <a:gd name="adj" fmla="val 3404"/>
            </a:avLst>
          </a:prstGeom>
          <a:solidFill xmlns:a="http://schemas.openxmlformats.org/drawingml/2006/main">
            <a:srgbClr val="DDE8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5EC792-E4CE-493E-A1AF-4CF08EF945EC}"/>
              </a:ext>
            </a:extLst>
          </p:cNvPr>
          <p:cNvSpPr>
            <a:spLocks xmlns:a="http://schemas.openxmlformats.org/drawingml/2006/main" noGrp="1"/>
          </p:cNvSpPr>
          <p:nvPr/>
        </p:nvSpPr>
        <p:spPr>
          <a:xfrm xmlns:a="http://schemas.openxmlformats.org/drawingml/2006/main">
            <a:off x="904875" y="23241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864DC"/>
                </a:solidFill>
                <a:latin typeface="Helvetica Neue"/>
                <a:ea typeface="Helvetica Neue"/>
                <a:cs typeface="Helvetica Neue"/>
              </a:defRPr>
            </a:pPr>
            <a:r>
              <a:rPr sz="1200" b="1">
                <a:solidFill>
                  <a:srgbClr val="2864DC"/>
                </a:solidFill>
                <a:latin typeface="Helvetica Neue"/>
                <a:ea typeface="Helvetica Neue"/>
                <a:cs typeface="Helvetica Neue"/>
              </a:rPr>
              <a:t>50% RANDOM FOREST</a:t>
            </a:r>
          </a:p>
        </p:txBody>
      </p:sp>
      <p:sp>
        <p:nvSpPr>
          <p:cNvPr id="7" name="">
            <a:extLst xmlns:a="http://schemas.openxmlformats.org/drawingml/2006/main">
              <a:ext uri="{FF2B5EF4-FFF2-40B4-BE49-F238E27FC236}">
                <a16:creationId xmlns:a16="http://schemas.microsoft.com/office/drawing/2014/main" id="{1B0FD739-BA9A-4685-A7A7-E15A1BA0D189}"/>
              </a:ext>
            </a:extLst>
          </p:cNvPr>
          <p:cNvSpPr>
            <a:spLocks xmlns:a="http://schemas.openxmlformats.org/drawingml/2006/main" noGrp="1"/>
          </p:cNvSpPr>
          <p:nvPr/>
        </p:nvSpPr>
        <p:spPr>
          <a:xfrm xmlns:a="http://schemas.openxmlformats.org/drawingml/2006/main">
            <a:off x="981075" y="2857500"/>
            <a:ext cx="2705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Stable nonlinear anchor</a:t>
            </a:r>
          </a:p>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Best component RMSE</a:t>
            </a:r>
          </a:p>
        </p:txBody>
      </p:sp>
      <p:sp>
        <p:nvSpPr>
          <p:cNvPr id="8" name="">
            <a:extLst xmlns:a="http://schemas.openxmlformats.org/drawingml/2006/main">
              <a:ext uri="{FF2B5EF4-FFF2-40B4-BE49-F238E27FC236}">
                <a16:creationId xmlns:a16="http://schemas.microsoft.com/office/drawing/2014/main" id="{21E8C565-46D0-4EE6-9149-6E8C21FECE6D}"/>
              </a:ext>
            </a:extLst>
          </p:cNvPr>
          <p:cNvSpPr>
            <a:spLocks xmlns:a="http://schemas.openxmlformats.org/drawingml/2006/main" noGrp="1"/>
          </p:cNvSpPr>
          <p:nvPr/>
        </p:nvSpPr>
        <p:spPr>
          <a:xfrm xmlns:a="http://schemas.openxmlformats.org/drawingml/2006/main">
            <a:off x="4476750" y="2076450"/>
            <a:ext cx="3238500" cy="2238375"/>
          </a:xfrm>
          <a:prstGeom xmlns:a="http://schemas.openxmlformats.org/drawingml/2006/main" prst="roundRect">
            <a:avLst>
              <a:gd name="adj" fmla="val 3404"/>
            </a:avLst>
          </a:prstGeom>
          <a:solidFill xmlns:a="http://schemas.openxmlformats.org/drawingml/2006/main">
            <a:srgbClr val="D9EEE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FD5768-4A4A-430C-8DB4-8657FB454736}"/>
              </a:ext>
            </a:extLst>
          </p:cNvPr>
          <p:cNvSpPr>
            <a:spLocks xmlns:a="http://schemas.openxmlformats.org/drawingml/2006/main" noGrp="1"/>
          </p:cNvSpPr>
          <p:nvPr/>
        </p:nvSpPr>
        <p:spPr>
          <a:xfrm xmlns:a="http://schemas.openxmlformats.org/drawingml/2006/main">
            <a:off x="4667250" y="23241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18B75"/>
                </a:solidFill>
                <a:latin typeface="Helvetica Neue"/>
                <a:ea typeface="Helvetica Neue"/>
                <a:cs typeface="Helvetica Neue"/>
              </a:defRPr>
            </a:pPr>
            <a:r>
              <a:rPr sz="1200" b="1">
                <a:solidFill>
                  <a:srgbClr val="218B75"/>
                </a:solidFill>
                <a:latin typeface="Helvetica Neue"/>
                <a:ea typeface="Helvetica Neue"/>
                <a:cs typeface="Helvetica Neue"/>
              </a:rPr>
              <a:t>30% TWO-STAGE</a:t>
            </a:r>
          </a:p>
        </p:txBody>
      </p:sp>
      <p:sp>
        <p:nvSpPr>
          <p:cNvPr id="10" name="">
            <a:extLst xmlns:a="http://schemas.openxmlformats.org/drawingml/2006/main">
              <a:ext uri="{FF2B5EF4-FFF2-40B4-BE49-F238E27FC236}">
                <a16:creationId xmlns:a16="http://schemas.microsoft.com/office/drawing/2014/main" id="{3B9FC6A7-0A59-494D-9DEB-81887FA272FF}"/>
              </a:ext>
            </a:extLst>
          </p:cNvPr>
          <p:cNvSpPr>
            <a:spLocks xmlns:a="http://schemas.openxmlformats.org/drawingml/2006/main" noGrp="1"/>
          </p:cNvSpPr>
          <p:nvPr/>
        </p:nvSpPr>
        <p:spPr>
          <a:xfrm xmlns:a="http://schemas.openxmlformats.org/drawingml/2006/main">
            <a:off x="4743450" y="2857500"/>
            <a:ext cx="2705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Separates 0, partial, 100</a:t>
            </a:r>
          </a:p>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Best within 5 points</a:t>
            </a:r>
          </a:p>
        </p:txBody>
      </p:sp>
      <p:sp>
        <p:nvSpPr>
          <p:cNvPr id="11" name="">
            <a:extLst xmlns:a="http://schemas.openxmlformats.org/drawingml/2006/main">
              <a:ext uri="{FF2B5EF4-FFF2-40B4-BE49-F238E27FC236}">
                <a16:creationId xmlns:a16="http://schemas.microsoft.com/office/drawing/2014/main" id="{E70A72F2-D54B-4172-A8E4-42EADE72C801}"/>
              </a:ext>
            </a:extLst>
          </p:cNvPr>
          <p:cNvSpPr>
            <a:spLocks xmlns:a="http://schemas.openxmlformats.org/drawingml/2006/main" noGrp="1"/>
          </p:cNvSpPr>
          <p:nvPr/>
        </p:nvSpPr>
        <p:spPr>
          <a:xfrm xmlns:a="http://schemas.openxmlformats.org/drawingml/2006/main">
            <a:off x="8239125" y="2076450"/>
            <a:ext cx="3238500" cy="2238375"/>
          </a:xfrm>
          <a:prstGeom xmlns:a="http://schemas.openxmlformats.org/drawingml/2006/main" prst="roundRect">
            <a:avLst>
              <a:gd name="adj" fmla="val 3404"/>
            </a:avLst>
          </a:prstGeom>
          <a:solidFill xmlns:a="http://schemas.openxmlformats.org/drawingml/2006/main">
            <a:srgbClr val="F9DDD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1BF0DB-DD23-48DD-BD71-1ED1E449FD31}"/>
              </a:ext>
            </a:extLst>
          </p:cNvPr>
          <p:cNvSpPr>
            <a:spLocks xmlns:a="http://schemas.openxmlformats.org/drawingml/2006/main" noGrp="1"/>
          </p:cNvSpPr>
          <p:nvPr/>
        </p:nvSpPr>
        <p:spPr>
          <a:xfrm xmlns:a="http://schemas.openxmlformats.org/drawingml/2006/main">
            <a:off x="8429625" y="23241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E76F51"/>
                </a:solidFill>
                <a:latin typeface="Helvetica Neue"/>
                <a:ea typeface="Helvetica Neue"/>
                <a:cs typeface="Helvetica Neue"/>
              </a:defRPr>
            </a:pPr>
            <a:r>
              <a:rPr sz="1200" b="1">
                <a:solidFill>
                  <a:srgbClr val="E76F51"/>
                </a:solidFill>
                <a:latin typeface="Helvetica Neue"/>
                <a:ea typeface="Helvetica Neue"/>
                <a:cs typeface="Helvetica Neue"/>
              </a:rPr>
              <a:t>20% CATBOOST MAE</a:t>
            </a:r>
          </a:p>
        </p:txBody>
      </p:sp>
      <p:sp>
        <p:nvSpPr>
          <p:cNvPr id="13" name="">
            <a:extLst xmlns:a="http://schemas.openxmlformats.org/drawingml/2006/main">
              <a:ext uri="{FF2B5EF4-FFF2-40B4-BE49-F238E27FC236}">
                <a16:creationId xmlns:a16="http://schemas.microsoft.com/office/drawing/2014/main" id="{F5876656-0FAF-4E86-8297-4DA17732C2C5}"/>
              </a:ext>
            </a:extLst>
          </p:cNvPr>
          <p:cNvSpPr>
            <a:spLocks xmlns:a="http://schemas.openxmlformats.org/drawingml/2006/main" noGrp="1"/>
          </p:cNvSpPr>
          <p:nvPr/>
        </p:nvSpPr>
        <p:spPr>
          <a:xfrm xmlns:a="http://schemas.openxmlformats.org/drawingml/2006/main">
            <a:off x="8505825" y="2857500"/>
            <a:ext cx="2705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Handles categories directly</a:t>
            </a:r>
          </a:p>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Best safety result</a:t>
            </a:r>
          </a:p>
        </p:txBody>
      </p:sp>
      <p:sp>
        <p:nvSpPr>
          <p:cNvPr id="14" name="">
            <a:extLst xmlns:a="http://schemas.openxmlformats.org/drawingml/2006/main">
              <a:ext uri="{FF2B5EF4-FFF2-40B4-BE49-F238E27FC236}">
                <a16:creationId xmlns:a16="http://schemas.microsoft.com/office/drawing/2014/main" id="{3ABF3063-E82E-4E07-A868-1E6A93B85FCD}"/>
              </a:ext>
            </a:extLst>
          </p:cNvPr>
          <p:cNvSpPr>
            <a:spLocks xmlns:a="http://schemas.openxmlformats.org/drawingml/2006/main" noGrp="1"/>
          </p:cNvSpPr>
          <p:nvPr/>
        </p:nvSpPr>
        <p:spPr>
          <a:xfrm xmlns:a="http://schemas.openxmlformats.org/drawingml/2006/main">
            <a:off x="857250" y="4714875"/>
            <a:ext cx="10477500" cy="1066800"/>
          </a:xfrm>
          <a:prstGeom xmlns:a="http://schemas.openxmlformats.org/drawingml/2006/main" prst="roundRect">
            <a:avLst>
              <a:gd name="adj" fmla="val 7143"/>
            </a:avLst>
          </a:prstGeom>
          <a:solidFill xmlns:a="http://schemas.openxmlformats.org/drawingml/2006/main">
            <a:srgbClr val="1421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7359F1C-A384-4014-9234-C69162F4930A}"/>
              </a:ext>
            </a:extLst>
          </p:cNvPr>
          <p:cNvSpPr>
            <a:spLocks xmlns:a="http://schemas.openxmlformats.org/drawingml/2006/main" noGrp="1"/>
          </p:cNvSpPr>
          <p:nvPr/>
        </p:nvSpPr>
        <p:spPr>
          <a:xfrm xmlns:a="http://schemas.openxmlformats.org/drawingml/2006/main">
            <a:off x="1104900" y="48768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F3C969"/>
                </a:solidFill>
                <a:latin typeface="Helvetica Neue"/>
                <a:ea typeface="Helvetica Neue"/>
                <a:cs typeface="Helvetica Neue"/>
              </a:defRPr>
            </a:pPr>
            <a:r>
              <a:rPr sz="1125" b="1">
                <a:solidFill>
                  <a:srgbClr val="F3C969"/>
                </a:solidFill>
                <a:latin typeface="Helvetica Neue"/>
                <a:ea typeface="Helvetica Neue"/>
                <a:cs typeface="Helvetica Neue"/>
              </a:rPr>
              <a:t>BLEND RULE</a:t>
            </a:r>
          </a:p>
        </p:txBody>
      </p:sp>
      <p:sp>
        <p:nvSpPr>
          <p:cNvPr id="16" name="">
            <a:extLst xmlns:a="http://schemas.openxmlformats.org/drawingml/2006/main">
              <a:ext uri="{FF2B5EF4-FFF2-40B4-BE49-F238E27FC236}">
                <a16:creationId xmlns:a16="http://schemas.microsoft.com/office/drawing/2014/main" id="{4CE140F5-B4D2-4935-9433-0CD0F4DCD348}"/>
              </a:ext>
            </a:extLst>
          </p:cNvPr>
          <p:cNvSpPr>
            <a:spLocks xmlns:a="http://schemas.openxmlformats.org/drawingml/2006/main" noGrp="1"/>
          </p:cNvSpPr>
          <p:nvPr/>
        </p:nvSpPr>
        <p:spPr>
          <a:xfrm xmlns:a="http://schemas.openxmlformats.org/drawingml/2006/main">
            <a:off x="1104900" y="52006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Weighted average; if components disagree by more than 20 points, use the stable baseline.</a:t>
            </a:r>
          </a:p>
        </p:txBody>
      </p:sp>
      <p:sp>
        <p:nvSpPr>
          <p:cNvPr id="17" name="">
            <a:extLst xmlns:a="http://schemas.openxmlformats.org/drawingml/2006/main">
              <a:ext uri="{FF2B5EF4-FFF2-40B4-BE49-F238E27FC236}">
                <a16:creationId xmlns:a16="http://schemas.microsoft.com/office/drawing/2014/main" id="{D592E9BB-6C22-4E0A-935E-51C0506E16A4}"/>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06</a:t>
            </a:r>
          </a:p>
        </p:txBody>
      </p:sp>
    </p:spTree>
    <p:extLst>
      <p:ext uri="{BB962C8B-B14F-4D97-AF65-F5344CB8AC3E}">
        <p14:creationId xmlns:p14="http://schemas.microsoft.com/office/powerpoint/2010/main" val="1529168257"/>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6BE316-4ACF-43E2-950E-FBA427A8DC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HELD-OUT RESULTS</a:t>
            </a:r>
          </a:p>
        </p:txBody>
      </p:sp>
      <p:sp>
        <p:nvSpPr>
          <p:cNvPr id="2" name="">
            <a:extLst xmlns:a="http://schemas.openxmlformats.org/drawingml/2006/main">
              <a:ext uri="{FF2B5EF4-FFF2-40B4-BE49-F238E27FC236}">
                <a16:creationId xmlns:a16="http://schemas.microsoft.com/office/drawing/2014/main" id="{A8F0E2A2-3CB4-45CC-A26A-A405D443811B}"/>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model is much closer to the coverage reference</a:t>
            </a:r>
          </a:p>
        </p:txBody>
      </p:sp>
      <p:sp>
        <p:nvSpPr>
          <p:cNvPr id="3" name="">
            <a:extLst xmlns:a="http://schemas.openxmlformats.org/drawingml/2006/main">
              <a:ext uri="{FF2B5EF4-FFF2-40B4-BE49-F238E27FC236}">
                <a16:creationId xmlns:a16="http://schemas.microsoft.com/office/drawing/2014/main" id="{E7DDA4FB-E9F3-4AA1-8FA0-C77C6BFAF9B6}"/>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Both methods return one 0-100 percentage. Lower MAE is better.</a:t>
            </a:r>
          </a:p>
        </p:txBody>
      </p:sp>
      <p:sp>
        <p:nvSpPr>
          <p:cNvPr id="4" name="">
            <a:extLst xmlns:a="http://schemas.openxmlformats.org/drawingml/2006/main">
              <a:ext uri="{FF2B5EF4-FFF2-40B4-BE49-F238E27FC236}">
                <a16:creationId xmlns:a16="http://schemas.microsoft.com/office/drawing/2014/main" id="{A5DE97AA-6642-4768-97B0-D7B45B98B22E}"/>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3717DD-87D6-4BF6-8AB3-00BF1D2D156A}"/>
              </a:ext>
            </a:extLst>
          </p:cNvPr>
          <p:cNvSpPr>
            <a:spLocks xmlns:a="http://schemas.openxmlformats.org/drawingml/2006/main" noGrp="1"/>
          </p:cNvSpPr>
          <p:nvPr/>
        </p:nvSpPr>
        <p:spPr>
          <a:xfrm xmlns:a="http://schemas.openxmlformats.org/drawingml/2006/main">
            <a:off x="857250" y="21907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4213D"/>
                </a:solidFill>
                <a:latin typeface="Helvetica Neue"/>
                <a:ea typeface="Helvetica Neue"/>
                <a:cs typeface="Helvetica Neue"/>
              </a:defRPr>
            </a:pPr>
            <a:r>
              <a:rPr sz="1350" b="1">
                <a:solidFill>
                  <a:srgbClr val="14213D"/>
                </a:solidFill>
                <a:latin typeface="Helvetica Neue"/>
                <a:ea typeface="Helvetica Neue"/>
                <a:cs typeface="Helvetica Neue"/>
              </a:rPr>
              <a:t>Aggregate Diff P/R</a:t>
            </a:r>
          </a:p>
        </p:txBody>
      </p:sp>
      <p:sp>
        <p:nvSpPr>
          <p:cNvPr id="6" name="">
            <a:extLst xmlns:a="http://schemas.openxmlformats.org/drawingml/2006/main">
              <a:ext uri="{FF2B5EF4-FFF2-40B4-BE49-F238E27FC236}">
                <a16:creationId xmlns:a16="http://schemas.microsoft.com/office/drawing/2014/main" id="{D8DC1B9C-D9CE-478E-95A1-DAF025C6DCB4}"/>
              </a:ext>
            </a:extLst>
          </p:cNvPr>
          <p:cNvSpPr>
            <a:spLocks xmlns:a="http://schemas.openxmlformats.org/drawingml/2006/main" noGrp="1"/>
          </p:cNvSpPr>
          <p:nvPr/>
        </p:nvSpPr>
        <p:spPr>
          <a:xfrm xmlns:a="http://schemas.openxmlformats.org/drawingml/2006/main">
            <a:off x="3333750" y="2190750"/>
            <a:ext cx="5486332" cy="361950"/>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C6D2AC7-9CEA-4956-A5A6-0F9FEF25A180}"/>
              </a:ext>
            </a:extLst>
          </p:cNvPr>
          <p:cNvSpPr>
            <a:spLocks xmlns:a="http://schemas.openxmlformats.org/drawingml/2006/main" noGrp="1"/>
          </p:cNvSpPr>
          <p:nvPr/>
        </p:nvSpPr>
        <p:spPr>
          <a:xfrm xmlns:a="http://schemas.openxmlformats.org/drawingml/2006/main">
            <a:off x="9810750" y="219075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62.03 pts</a:t>
            </a:r>
          </a:p>
        </p:txBody>
      </p:sp>
      <p:sp>
        <p:nvSpPr>
          <p:cNvPr id="8" name="">
            <a:extLst xmlns:a="http://schemas.openxmlformats.org/drawingml/2006/main">
              <a:ext uri="{FF2B5EF4-FFF2-40B4-BE49-F238E27FC236}">
                <a16:creationId xmlns:a16="http://schemas.microsoft.com/office/drawing/2014/main" id="{24D8D94D-295E-4151-8EE5-8044503F8B04}"/>
              </a:ext>
            </a:extLst>
          </p:cNvPr>
          <p:cNvSpPr>
            <a:spLocks xmlns:a="http://schemas.openxmlformats.org/drawingml/2006/main" noGrp="1"/>
          </p:cNvSpPr>
          <p:nvPr/>
        </p:nvSpPr>
        <p:spPr>
          <a:xfrm xmlns:a="http://schemas.openxmlformats.org/drawingml/2006/main">
            <a:off x="857250" y="30670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4213D"/>
                </a:solidFill>
                <a:latin typeface="Helvetica Neue"/>
                <a:ea typeface="Helvetica Neue"/>
                <a:cs typeface="Helvetica Neue"/>
              </a:defRPr>
            </a:pPr>
            <a:r>
              <a:rPr sz="1350" b="1">
                <a:solidFill>
                  <a:srgbClr val="14213D"/>
                </a:solidFill>
                <a:latin typeface="Helvetica Neue"/>
                <a:ea typeface="Helvetica Neue"/>
                <a:cs typeface="Helvetica Neue"/>
              </a:rPr>
              <a:t>Percentage model</a:t>
            </a:r>
          </a:p>
        </p:txBody>
      </p:sp>
      <p:sp>
        <p:nvSpPr>
          <p:cNvPr id="9" name="">
            <a:extLst xmlns:a="http://schemas.openxmlformats.org/drawingml/2006/main">
              <a:ext uri="{FF2B5EF4-FFF2-40B4-BE49-F238E27FC236}">
                <a16:creationId xmlns:a16="http://schemas.microsoft.com/office/drawing/2014/main" id="{20B05A95-027D-45D8-A97F-56355667B16B}"/>
              </a:ext>
            </a:extLst>
          </p:cNvPr>
          <p:cNvSpPr>
            <a:spLocks xmlns:a="http://schemas.openxmlformats.org/drawingml/2006/main" noGrp="1"/>
          </p:cNvSpPr>
          <p:nvPr/>
        </p:nvSpPr>
        <p:spPr>
          <a:xfrm xmlns:a="http://schemas.openxmlformats.org/drawingml/2006/main">
            <a:off x="3333750" y="3067050"/>
            <a:ext cx="861468" cy="361950"/>
          </a:xfrm>
          <a:prstGeom xmlns:a="http://schemas.openxmlformats.org/drawingml/2006/main" prst="rect">
            <a:avLst/>
          </a:prstGeom>
          <a:solidFill xmlns:a="http://schemas.openxmlformats.org/drawingml/2006/main">
            <a:srgbClr val="218B7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9DCD66-D87C-414A-A7A5-1B55A40EE6AD}"/>
              </a:ext>
            </a:extLst>
          </p:cNvPr>
          <p:cNvSpPr>
            <a:spLocks xmlns:a="http://schemas.openxmlformats.org/drawingml/2006/main" noGrp="1"/>
          </p:cNvSpPr>
          <p:nvPr/>
        </p:nvSpPr>
        <p:spPr>
          <a:xfrm xmlns:a="http://schemas.openxmlformats.org/drawingml/2006/main">
            <a:off x="9810750" y="306705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18B75"/>
                </a:solidFill>
                <a:latin typeface="Helvetica Neue"/>
                <a:ea typeface="Helvetica Neue"/>
                <a:cs typeface="Helvetica Neue"/>
              </a:defRPr>
            </a:pPr>
            <a:r>
              <a:rPr sz="1500" b="1">
                <a:solidFill>
                  <a:srgbClr val="218B75"/>
                </a:solidFill>
                <a:latin typeface="Helvetica Neue"/>
                <a:ea typeface="Helvetica Neue"/>
                <a:cs typeface="Helvetica Neue"/>
              </a:rPr>
              <a:t>9.74 pts</a:t>
            </a:r>
          </a:p>
        </p:txBody>
      </p:sp>
      <p:sp>
        <p:nvSpPr>
          <p:cNvPr id="11" name="">
            <a:extLst xmlns:a="http://schemas.openxmlformats.org/drawingml/2006/main">
              <a:ext uri="{FF2B5EF4-FFF2-40B4-BE49-F238E27FC236}">
                <a16:creationId xmlns:a16="http://schemas.microsoft.com/office/drawing/2014/main" id="{EBDD3FF7-D9E9-4CD8-840E-F3FC89BA37B1}"/>
              </a:ext>
            </a:extLst>
          </p:cNvPr>
          <p:cNvSpPr>
            <a:spLocks xmlns:a="http://schemas.openxmlformats.org/drawingml/2006/main" noGrp="1"/>
          </p:cNvSpPr>
          <p:nvPr/>
        </p:nvSpPr>
        <p:spPr>
          <a:xfrm xmlns:a="http://schemas.openxmlformats.org/drawingml/2006/main">
            <a:off x="781050" y="4095750"/>
            <a:ext cx="10629900" cy="1000125"/>
          </a:xfrm>
          <a:prstGeom xmlns:a="http://schemas.openxmlformats.org/drawingml/2006/main" prst="roundRect">
            <a:avLst>
              <a:gd name="adj" fmla="val 7619"/>
            </a:avLst>
          </a:prstGeom>
          <a:solidFill xmlns:a="http://schemas.openxmlformats.org/drawingml/2006/main">
            <a:srgbClr val="DDE8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3A43FB-1423-4DE6-98B8-9DAF041E3F6D}"/>
              </a:ext>
            </a:extLst>
          </p:cNvPr>
          <p:cNvSpPr>
            <a:spLocks xmlns:a="http://schemas.openxmlformats.org/drawingml/2006/main" noGrp="1"/>
          </p:cNvSpPr>
          <p:nvPr/>
        </p:nvSpPr>
        <p:spPr>
          <a:xfrm xmlns:a="http://schemas.openxmlformats.org/drawingml/2006/main">
            <a:off x="1028700" y="42481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l">
              <a:defRPr sz="1125" b="1">
                <a:solidFill>
                  <a:srgbClr val="2864DC"/>
                </a:solidFill>
                <a:latin typeface="Helvetica Neue"/>
                <a:ea typeface="Helvetica Neue"/>
                <a:cs typeface="Helvetica Neue"/>
              </a:defRPr>
            </a:pPr>
            <a:r>
              <a:rPr sz="1125" b="1">
                <a:solidFill>
                  <a:srgbClr val="2864DC"/>
                </a:solidFill>
                <a:latin typeface="Helvetica Neue"/>
                <a:ea typeface="Helvetica Neue"/>
                <a:cs typeface="Helvetica Neue"/>
              </a:rPr>
              <a:t>HOW MAE IS CALCULATED</a:t>
            </a:r>
          </a:p>
        </p:txBody>
      </p:sp>
      <p:sp>
        <p:nvSpPr>
          <p:cNvPr id="13" name="">
            <a:extLst xmlns:a="http://schemas.openxmlformats.org/drawingml/2006/main">
              <a:ext uri="{FF2B5EF4-FFF2-40B4-BE49-F238E27FC236}">
                <a16:creationId xmlns:a16="http://schemas.microsoft.com/office/drawing/2014/main" id="{B05BFF0C-8EAA-4155-8ABC-B05911034660}"/>
              </a:ext>
            </a:extLst>
          </p:cNvPr>
          <p:cNvSpPr>
            <a:spLocks xmlns:a="http://schemas.openxmlformats.org/drawingml/2006/main" noGrp="1"/>
          </p:cNvSpPr>
          <p:nvPr/>
        </p:nvSpPr>
        <p:spPr>
          <a:xfrm xmlns:a="http://schemas.openxmlformats.org/drawingml/2006/main">
            <a:off x="1028700" y="45529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4213D"/>
                </a:solidFill>
                <a:latin typeface="Helvetica Neue"/>
                <a:ea typeface="Helvetica Neue"/>
                <a:cs typeface="Helvetica Neue"/>
              </a:defRPr>
            </a:pPr>
            <a:r>
              <a:rPr sz="1575" b="1">
                <a:solidFill>
                  <a:srgbClr val="14213D"/>
                </a:solidFill>
                <a:latin typeface="Helvetica Neue"/>
                <a:ea typeface="Helvetica Neue"/>
                <a:cs typeface="Helvetica Neue"/>
              </a:rPr>
              <a:t>MAE = average |prediction − reference|   •   errors 5, 10, 15 → MAE 10 points</a:t>
            </a:r>
          </a:p>
        </p:txBody>
      </p:sp>
      <p:sp>
        <p:nvSpPr>
          <p:cNvPr id="14" name="">
            <a:extLst xmlns:a="http://schemas.openxmlformats.org/drawingml/2006/main">
              <a:ext uri="{FF2B5EF4-FFF2-40B4-BE49-F238E27FC236}">
                <a16:creationId xmlns:a16="http://schemas.microsoft.com/office/drawing/2014/main" id="{1738A40F-14FB-4E20-90C1-37F55FDA235B}"/>
              </a:ext>
            </a:extLst>
          </p:cNvPr>
          <p:cNvSpPr>
            <a:spLocks xmlns:a="http://schemas.openxmlformats.org/drawingml/2006/main" noGrp="1"/>
          </p:cNvSpPr>
          <p:nvPr/>
        </p:nvSpPr>
        <p:spPr>
          <a:xfrm xmlns:a="http://schemas.openxmlformats.org/drawingml/2006/main">
            <a:off x="1028700" y="533400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E76F51"/>
                </a:solidFill>
                <a:latin typeface="Helvetica Neue"/>
                <a:ea typeface="Helvetica Neue"/>
                <a:cs typeface="Helvetica Neue"/>
              </a:defRPr>
            </a:pPr>
            <a:r>
              <a:rPr sz="1350" b="1">
                <a:solidFill>
                  <a:srgbClr val="E76F51"/>
                </a:solidFill>
                <a:latin typeface="Helvetica Neue"/>
                <a:ea typeface="Helvetica Neue"/>
                <a:cs typeface="Helvetica Neue"/>
              </a:rPr>
              <a:t>Aggregate F1 is low here because extra final-PR work reduces recall.</a:t>
            </a:r>
          </a:p>
        </p:txBody>
      </p:sp>
      <p:sp>
        <p:nvSpPr>
          <p:cNvPr id="15" name="">
            <a:extLst xmlns:a="http://schemas.openxmlformats.org/drawingml/2006/main">
              <a:ext uri="{FF2B5EF4-FFF2-40B4-BE49-F238E27FC236}">
                <a16:creationId xmlns:a16="http://schemas.microsoft.com/office/drawing/2014/main" id="{846C5925-8A27-4996-9E86-7016ECE97BD2}"/>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07</a:t>
            </a:r>
          </a:p>
        </p:txBody>
      </p:sp>
    </p:spTree>
    <p:extLst>
      <p:ext uri="{BB962C8B-B14F-4D97-AF65-F5344CB8AC3E}">
        <p14:creationId xmlns:p14="http://schemas.microsoft.com/office/powerpoint/2010/main" val="384818818"/>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C976894-0748-426B-9599-4C1849F6F6A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REAL EXAMPLE</a:t>
            </a:r>
          </a:p>
        </p:txBody>
      </p:sp>
      <p:sp>
        <p:nvSpPr>
          <p:cNvPr id="2" name="">
            <a:extLst xmlns:a="http://schemas.openxmlformats.org/drawingml/2006/main">
              <a:ext uri="{FF2B5EF4-FFF2-40B4-BE49-F238E27FC236}">
                <a16:creationId xmlns:a16="http://schemas.microsoft.com/office/drawing/2014/main" id="{84CE0DA3-E74E-4042-8D80-B1089E0028D0}"/>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One draft can have high precision and lower recall</a:t>
            </a:r>
          </a:p>
        </p:txBody>
      </p:sp>
      <p:sp>
        <p:nvSpPr>
          <p:cNvPr id="3" name="">
            <a:extLst xmlns:a="http://schemas.openxmlformats.org/drawingml/2006/main">
              <a:ext uri="{FF2B5EF4-FFF2-40B4-BE49-F238E27FC236}">
                <a16:creationId xmlns:a16="http://schemas.microsoft.com/office/drawing/2014/main" id="{26A42D90-8FA5-41BE-B200-6F10D72480F3}"/>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GDevelop PR 6970</a:t>
            </a:r>
          </a:p>
        </p:txBody>
      </p:sp>
      <p:sp>
        <p:nvSpPr>
          <p:cNvPr id="4" name="">
            <a:extLst xmlns:a="http://schemas.openxmlformats.org/drawingml/2006/main">
              <a:ext uri="{FF2B5EF4-FFF2-40B4-BE49-F238E27FC236}">
                <a16:creationId xmlns:a16="http://schemas.microsoft.com/office/drawing/2014/main" id="{2021B68D-98E1-476C-804E-2F08E2095346}"/>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182407-D65C-4FB9-940F-52323B9A3BCE}"/>
              </a:ext>
            </a:extLst>
          </p:cNvPr>
          <p:cNvSpPr>
            <a:spLocks xmlns:a="http://schemas.openxmlformats.org/drawingml/2006/main" noGrp="1"/>
          </p:cNvSpPr>
          <p:nvPr/>
        </p:nvSpPr>
        <p:spPr>
          <a:xfrm xmlns:a="http://schemas.openxmlformats.org/drawingml/2006/main">
            <a:off x="762000" y="195262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Draft suggestion</a:t>
            </a:r>
          </a:p>
        </p:txBody>
      </p:sp>
      <p:sp>
        <p:nvSpPr>
          <p:cNvPr id="6" name="">
            <a:extLst xmlns:a="http://schemas.openxmlformats.org/drawingml/2006/main">
              <a:ext uri="{FF2B5EF4-FFF2-40B4-BE49-F238E27FC236}">
                <a16:creationId xmlns:a16="http://schemas.microsoft.com/office/drawing/2014/main" id="{918CC605-B4AC-4A04-BE3B-14FC00AA928C}"/>
              </a:ext>
            </a:extLst>
          </p:cNvPr>
          <p:cNvSpPr>
            <a:spLocks xmlns:a="http://schemas.openxmlformats.org/drawingml/2006/main" noGrp="1"/>
          </p:cNvSpPr>
          <p:nvPr/>
        </p:nvSpPr>
        <p:spPr>
          <a:xfrm xmlns:a="http://schemas.openxmlformats.org/drawingml/2006/main">
            <a:off x="762000" y="2266950"/>
            <a:ext cx="4762500" cy="1095375"/>
          </a:xfrm>
          <a:prstGeom xmlns:a="http://schemas.openxmlformats.org/drawingml/2006/main" prst="roundRect">
            <a:avLst>
              <a:gd name="adj" fmla="val 6957"/>
            </a:avLst>
          </a:prstGeom>
          <a:solidFill xmlns:a="http://schemas.openxmlformats.org/drawingml/2006/main">
            <a:srgbClr val="24303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610450-AD59-42BA-9EBA-7FAD2C1B89D9}"/>
              </a:ext>
            </a:extLst>
          </p:cNvPr>
          <p:cNvSpPr>
            <a:spLocks xmlns:a="http://schemas.openxmlformats.org/drawingml/2006/main" noGrp="1"/>
          </p:cNvSpPr>
          <p:nvPr/>
        </p:nvSpPr>
        <p:spPr>
          <a:xfrm xmlns:a="http://schemas.openxmlformats.org/drawingml/2006/main">
            <a:off x="1000125" y="24765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Menlo"/>
                <a:ea typeface="Menlo"/>
                <a:cs typeface="Menlo"/>
              </a:defRPr>
            </a:pPr>
            <a:r>
              <a:rPr sz="1575" b="1">
                <a:solidFill>
                  <a:srgbClr val="FFFFFF"/>
                </a:solidFill>
                <a:latin typeface="Menlo"/>
                <a:ea typeface="Menlo"/>
                <a:cs typeface="Menlo"/>
              </a:rPr>
              <a:t>+this._customHeight = height;</a:t>
            </a:r>
          </a:p>
        </p:txBody>
      </p:sp>
      <p:sp>
        <p:nvSpPr>
          <p:cNvPr id="8" name="">
            <a:extLst xmlns:a="http://schemas.openxmlformats.org/drawingml/2006/main">
              <a:ext uri="{FF2B5EF4-FFF2-40B4-BE49-F238E27FC236}">
                <a16:creationId xmlns:a16="http://schemas.microsoft.com/office/drawing/2014/main" id="{0040023B-6A93-41C1-93A4-28CA5681A3EA}"/>
              </a:ext>
            </a:extLst>
          </p:cNvPr>
          <p:cNvSpPr>
            <a:spLocks xmlns:a="http://schemas.openxmlformats.org/drawingml/2006/main" noGrp="1"/>
          </p:cNvSpPr>
          <p:nvPr/>
        </p:nvSpPr>
        <p:spPr>
          <a:xfrm xmlns:a="http://schemas.openxmlformats.org/drawingml/2006/main">
            <a:off x="6667500" y="195262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Final change</a:t>
            </a:r>
          </a:p>
        </p:txBody>
      </p:sp>
      <p:sp>
        <p:nvSpPr>
          <p:cNvPr id="9" name="">
            <a:extLst xmlns:a="http://schemas.openxmlformats.org/drawingml/2006/main">
              <a:ext uri="{FF2B5EF4-FFF2-40B4-BE49-F238E27FC236}">
                <a16:creationId xmlns:a16="http://schemas.microsoft.com/office/drawing/2014/main" id="{E8B84E29-346D-4484-9654-3C21FC375E29}"/>
              </a:ext>
            </a:extLst>
          </p:cNvPr>
          <p:cNvSpPr>
            <a:spLocks xmlns:a="http://schemas.openxmlformats.org/drawingml/2006/main" noGrp="1"/>
          </p:cNvSpPr>
          <p:nvPr/>
        </p:nvSpPr>
        <p:spPr>
          <a:xfrm xmlns:a="http://schemas.openxmlformats.org/drawingml/2006/main">
            <a:off x="6667500" y="2266950"/>
            <a:ext cx="4762500" cy="1095375"/>
          </a:xfrm>
          <a:prstGeom xmlns:a="http://schemas.openxmlformats.org/drawingml/2006/main" prst="roundRect">
            <a:avLst>
              <a:gd name="adj" fmla="val 6957"/>
            </a:avLst>
          </a:prstGeom>
          <a:solidFill xmlns:a="http://schemas.openxmlformats.org/drawingml/2006/main">
            <a:srgbClr val="2430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F638522-C78C-4A90-9EF0-D3C254DEFC39}"/>
              </a:ext>
            </a:extLst>
          </p:cNvPr>
          <p:cNvSpPr>
            <a:spLocks xmlns:a="http://schemas.openxmlformats.org/drawingml/2006/main" noGrp="1"/>
          </p:cNvSpPr>
          <p:nvPr/>
        </p:nvSpPr>
        <p:spPr>
          <a:xfrm xmlns:a="http://schemas.openxmlformats.org/drawingml/2006/main">
            <a:off x="6905625" y="238125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Menlo"/>
                <a:ea typeface="Menlo"/>
                <a:cs typeface="Menlo"/>
              </a:defRPr>
            </a:pPr>
            <a:r>
              <a:rPr sz="1350" b="1">
                <a:solidFill>
                  <a:srgbClr val="FFFFFF"/>
                </a:solidFill>
                <a:latin typeface="Menlo"/>
                <a:ea typeface="Menlo"/>
                <a:cs typeface="Menlo"/>
              </a:rPr>
              <a:t>-return this._customHeight = height;</a:t>
            </a:r>
          </a:p>
          <a:p xmlns:a="http://schemas.openxmlformats.org/drawingml/2006/main">
            <a:pPr algn="l">
              <a:defRPr sz="1350" b="1">
                <a:solidFill>
                  <a:srgbClr val="FFFFFF"/>
                </a:solidFill>
                <a:latin typeface="Menlo"/>
                <a:ea typeface="Menlo"/>
                <a:cs typeface="Menlo"/>
              </a:defRPr>
            </a:pPr>
            <a:r>
              <a:rPr sz="1350" b="1">
                <a:solidFill>
                  <a:srgbClr val="FFFFFF"/>
                </a:solidFill>
                <a:latin typeface="Menlo"/>
                <a:ea typeface="Menlo"/>
                <a:cs typeface="Menlo"/>
              </a:rPr>
              <a:t>+this._customHeight = height;</a:t>
            </a:r>
          </a:p>
        </p:txBody>
      </p:sp>
      <p:sp>
        <p:nvSpPr>
          <p:cNvPr id="11" name="">
            <a:extLst xmlns:a="http://schemas.openxmlformats.org/drawingml/2006/main">
              <a:ext uri="{FF2B5EF4-FFF2-40B4-BE49-F238E27FC236}">
                <a16:creationId xmlns:a16="http://schemas.microsoft.com/office/drawing/2014/main" id="{F50FDD55-EF6F-492B-BDA1-70526CA86670}"/>
              </a:ext>
            </a:extLst>
          </p:cNvPr>
          <p:cNvSpPr>
            <a:spLocks xmlns:a="http://schemas.openxmlformats.org/drawingml/2006/main" noGrp="1"/>
          </p:cNvSpPr>
          <p:nvPr/>
        </p:nvSpPr>
        <p:spPr>
          <a:xfrm xmlns:a="http://schemas.openxmlformats.org/drawingml/2006/main">
            <a:off x="904875" y="39052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208"/>
          </a:bodyPr>
          <a:lstStyle xmlns:a="http://schemas.openxmlformats.org/drawingml/2006/main"/>
          <a:p xmlns:a="http://schemas.openxmlformats.org/drawingml/2006/main">
            <a:pPr algn="ctr">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Token</a:t>
            </a:r>
          </a:p>
        </p:txBody>
      </p:sp>
      <p:sp>
        <p:nvSpPr>
          <p:cNvPr id="12" name="">
            <a:extLst xmlns:a="http://schemas.openxmlformats.org/drawingml/2006/main">
              <a:ext uri="{FF2B5EF4-FFF2-40B4-BE49-F238E27FC236}">
                <a16:creationId xmlns:a16="http://schemas.microsoft.com/office/drawing/2014/main" id="{963A247C-35FB-44E7-A4B2-B889E69955A6}"/>
              </a:ext>
            </a:extLst>
          </p:cNvPr>
          <p:cNvSpPr>
            <a:spLocks xmlns:a="http://schemas.openxmlformats.org/drawingml/2006/main" noGrp="1"/>
          </p:cNvSpPr>
          <p:nvPr/>
        </p:nvSpPr>
        <p:spPr>
          <a:xfrm xmlns:a="http://schemas.openxmlformats.org/drawingml/2006/main">
            <a:off x="904875"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425"/>
          </a:bodyPr>
          <a:lstStyle xmlns:a="http://schemas.openxmlformats.org/drawingml/2006/main"/>
          <a:p xmlns:a="http://schemas.openxmlformats.org/drawingml/2006/main">
            <a:pPr algn="ctr">
              <a:defRPr sz="2250" b="1">
                <a:solidFill>
                  <a:srgbClr val="E76F51"/>
                </a:solidFill>
                <a:latin typeface="Helvetica Neue"/>
                <a:ea typeface="Helvetica Neue"/>
                <a:cs typeface="Helvetica Neue"/>
              </a:defRPr>
            </a:pPr>
            <a:r>
              <a:rPr sz="2250" b="1">
                <a:solidFill>
                  <a:srgbClr val="E76F51"/>
                </a:solidFill>
                <a:latin typeface="Helvetica Neue"/>
                <a:ea typeface="Helvetica Neue"/>
                <a:cs typeface="Helvetica Neue"/>
              </a:rPr>
              <a:t>P  100%</a:t>
            </a:r>
          </a:p>
        </p:txBody>
      </p:sp>
      <p:sp>
        <p:nvSpPr>
          <p:cNvPr id="13" name="">
            <a:extLst xmlns:a="http://schemas.openxmlformats.org/drawingml/2006/main">
              <a:ext uri="{FF2B5EF4-FFF2-40B4-BE49-F238E27FC236}">
                <a16:creationId xmlns:a16="http://schemas.microsoft.com/office/drawing/2014/main" id="{60AA9364-2C0D-4DC8-A682-3528A7547020}"/>
              </a:ext>
            </a:extLst>
          </p:cNvPr>
          <p:cNvSpPr>
            <a:spLocks xmlns:a="http://schemas.openxmlformats.org/drawingml/2006/main" noGrp="1"/>
          </p:cNvSpPr>
          <p:nvPr/>
        </p:nvSpPr>
        <p:spPr>
          <a:xfrm xmlns:a="http://schemas.openxmlformats.org/drawingml/2006/main">
            <a:off x="2000250"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428"/>
          </a:bodyPr>
          <a:lstStyle xmlns:a="http://schemas.openxmlformats.org/drawingml/2006/main"/>
          <a:p xmlns:a="http://schemas.openxmlformats.org/drawingml/2006/main">
            <a:pPr algn="ctr">
              <a:defRPr sz="2250" b="1">
                <a:solidFill>
                  <a:srgbClr val="2864DC"/>
                </a:solidFill>
                <a:latin typeface="Helvetica Neue"/>
                <a:ea typeface="Helvetica Neue"/>
                <a:cs typeface="Helvetica Neue"/>
              </a:defRPr>
            </a:pPr>
            <a:r>
              <a:rPr sz="2250" b="1">
                <a:solidFill>
                  <a:srgbClr val="2864DC"/>
                </a:solidFill>
                <a:latin typeface="Helvetica Neue"/>
                <a:ea typeface="Helvetica Neue"/>
                <a:cs typeface="Helvetica Neue"/>
              </a:rPr>
              <a:t>R  61%</a:t>
            </a:r>
          </a:p>
        </p:txBody>
      </p:sp>
      <p:sp>
        <p:nvSpPr>
          <p:cNvPr id="14" name="">
            <a:extLst xmlns:a="http://schemas.openxmlformats.org/drawingml/2006/main">
              <a:ext uri="{FF2B5EF4-FFF2-40B4-BE49-F238E27FC236}">
                <a16:creationId xmlns:a16="http://schemas.microsoft.com/office/drawing/2014/main" id="{6095E410-59B4-45A7-A3DC-8576B977F4E8}"/>
              </a:ext>
            </a:extLst>
          </p:cNvPr>
          <p:cNvSpPr>
            <a:spLocks xmlns:a="http://schemas.openxmlformats.org/drawingml/2006/main" noGrp="1"/>
          </p:cNvSpPr>
          <p:nvPr/>
        </p:nvSpPr>
        <p:spPr>
          <a:xfrm xmlns:a="http://schemas.openxmlformats.org/drawingml/2006/main">
            <a:off x="4619625" y="39052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208"/>
          </a:bodyPr>
          <a:lstStyle xmlns:a="http://schemas.openxmlformats.org/drawingml/2006/main"/>
          <a:p xmlns:a="http://schemas.openxmlformats.org/drawingml/2006/main">
            <a:pPr algn="ctr">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File</a:t>
            </a:r>
          </a:p>
        </p:txBody>
      </p:sp>
      <p:sp>
        <p:nvSpPr>
          <p:cNvPr id="15" name="">
            <a:extLst xmlns:a="http://schemas.openxmlformats.org/drawingml/2006/main">
              <a:ext uri="{FF2B5EF4-FFF2-40B4-BE49-F238E27FC236}">
                <a16:creationId xmlns:a16="http://schemas.microsoft.com/office/drawing/2014/main" id="{26949228-2437-426A-89B1-6A4BCC4C0D3E}"/>
              </a:ext>
            </a:extLst>
          </p:cNvPr>
          <p:cNvSpPr>
            <a:spLocks xmlns:a="http://schemas.openxmlformats.org/drawingml/2006/main" noGrp="1"/>
          </p:cNvSpPr>
          <p:nvPr/>
        </p:nvSpPr>
        <p:spPr>
          <a:xfrm xmlns:a="http://schemas.openxmlformats.org/drawingml/2006/main">
            <a:off x="4619625"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425"/>
          </a:bodyPr>
          <a:lstStyle xmlns:a="http://schemas.openxmlformats.org/drawingml/2006/main"/>
          <a:p xmlns:a="http://schemas.openxmlformats.org/drawingml/2006/main">
            <a:pPr algn="ctr">
              <a:defRPr sz="2250" b="1">
                <a:solidFill>
                  <a:srgbClr val="E76F51"/>
                </a:solidFill>
                <a:latin typeface="Helvetica Neue"/>
                <a:ea typeface="Helvetica Neue"/>
                <a:cs typeface="Helvetica Neue"/>
              </a:defRPr>
            </a:pPr>
            <a:r>
              <a:rPr sz="2250" b="1">
                <a:solidFill>
                  <a:srgbClr val="E76F51"/>
                </a:solidFill>
                <a:latin typeface="Helvetica Neue"/>
                <a:ea typeface="Helvetica Neue"/>
                <a:cs typeface="Helvetica Neue"/>
              </a:rPr>
              <a:t>P  100%</a:t>
            </a:r>
          </a:p>
        </p:txBody>
      </p:sp>
      <p:sp>
        <p:nvSpPr>
          <p:cNvPr id="16" name="">
            <a:extLst xmlns:a="http://schemas.openxmlformats.org/drawingml/2006/main">
              <a:ext uri="{FF2B5EF4-FFF2-40B4-BE49-F238E27FC236}">
                <a16:creationId xmlns:a16="http://schemas.microsoft.com/office/drawing/2014/main" id="{00A7EAEB-F5F8-4354-9061-ADDBA3868395}"/>
              </a:ext>
            </a:extLst>
          </p:cNvPr>
          <p:cNvSpPr>
            <a:spLocks xmlns:a="http://schemas.openxmlformats.org/drawingml/2006/main" noGrp="1"/>
          </p:cNvSpPr>
          <p:nvPr/>
        </p:nvSpPr>
        <p:spPr>
          <a:xfrm xmlns:a="http://schemas.openxmlformats.org/drawingml/2006/main">
            <a:off x="5715000"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438"/>
          </a:bodyPr>
          <a:lstStyle xmlns:a="http://schemas.openxmlformats.org/drawingml/2006/main"/>
          <a:p xmlns:a="http://schemas.openxmlformats.org/drawingml/2006/main">
            <a:pPr algn="ctr">
              <a:defRPr sz="2250" b="1">
                <a:solidFill>
                  <a:srgbClr val="2864DC"/>
                </a:solidFill>
                <a:latin typeface="Helvetica Neue"/>
                <a:ea typeface="Helvetica Neue"/>
                <a:cs typeface="Helvetica Neue"/>
              </a:defRPr>
            </a:pPr>
            <a:r>
              <a:rPr sz="2250" b="1">
                <a:solidFill>
                  <a:srgbClr val="2864DC"/>
                </a:solidFill>
                <a:latin typeface="Helvetica Neue"/>
                <a:ea typeface="Helvetica Neue"/>
                <a:cs typeface="Helvetica Neue"/>
              </a:rPr>
              <a:t>R  100%</a:t>
            </a:r>
          </a:p>
        </p:txBody>
      </p:sp>
      <p:sp>
        <p:nvSpPr>
          <p:cNvPr id="17" name="">
            <a:extLst xmlns:a="http://schemas.openxmlformats.org/drawingml/2006/main">
              <a:ext uri="{FF2B5EF4-FFF2-40B4-BE49-F238E27FC236}">
                <a16:creationId xmlns:a16="http://schemas.microsoft.com/office/drawing/2014/main" id="{20F80053-FA17-4411-8F38-9DB6BD9A2B83}"/>
              </a:ext>
            </a:extLst>
          </p:cNvPr>
          <p:cNvSpPr>
            <a:spLocks xmlns:a="http://schemas.openxmlformats.org/drawingml/2006/main" noGrp="1"/>
          </p:cNvSpPr>
          <p:nvPr/>
        </p:nvSpPr>
        <p:spPr>
          <a:xfrm xmlns:a="http://schemas.openxmlformats.org/drawingml/2006/main">
            <a:off x="8334375" y="39052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208"/>
          </a:bodyPr>
          <a:lstStyle xmlns:a="http://schemas.openxmlformats.org/drawingml/2006/main"/>
          <a:p xmlns:a="http://schemas.openxmlformats.org/drawingml/2006/main">
            <a:pPr algn="ctr">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Line</a:t>
            </a:r>
          </a:p>
        </p:txBody>
      </p:sp>
      <p:sp>
        <p:nvSpPr>
          <p:cNvPr id="18" name="">
            <a:extLst xmlns:a="http://schemas.openxmlformats.org/drawingml/2006/main">
              <a:ext uri="{FF2B5EF4-FFF2-40B4-BE49-F238E27FC236}">
                <a16:creationId xmlns:a16="http://schemas.microsoft.com/office/drawing/2014/main" id="{62B1A59F-8E7D-45CE-BE65-0D81C7D75D4B}"/>
              </a:ext>
            </a:extLst>
          </p:cNvPr>
          <p:cNvSpPr>
            <a:spLocks xmlns:a="http://schemas.openxmlformats.org/drawingml/2006/main" noGrp="1"/>
          </p:cNvSpPr>
          <p:nvPr/>
        </p:nvSpPr>
        <p:spPr>
          <a:xfrm xmlns:a="http://schemas.openxmlformats.org/drawingml/2006/main">
            <a:off x="8334375"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425"/>
          </a:bodyPr>
          <a:lstStyle xmlns:a="http://schemas.openxmlformats.org/drawingml/2006/main"/>
          <a:p xmlns:a="http://schemas.openxmlformats.org/drawingml/2006/main">
            <a:pPr algn="ctr">
              <a:defRPr sz="2250" b="1">
                <a:solidFill>
                  <a:srgbClr val="E76F51"/>
                </a:solidFill>
                <a:latin typeface="Helvetica Neue"/>
                <a:ea typeface="Helvetica Neue"/>
                <a:cs typeface="Helvetica Neue"/>
              </a:defRPr>
            </a:pPr>
            <a:r>
              <a:rPr sz="2250" b="1">
                <a:solidFill>
                  <a:srgbClr val="E76F51"/>
                </a:solidFill>
                <a:latin typeface="Helvetica Neue"/>
                <a:ea typeface="Helvetica Neue"/>
                <a:cs typeface="Helvetica Neue"/>
              </a:rPr>
              <a:t>P  100%</a:t>
            </a:r>
          </a:p>
        </p:txBody>
      </p:sp>
      <p:sp>
        <p:nvSpPr>
          <p:cNvPr id="19" name="">
            <a:extLst xmlns:a="http://schemas.openxmlformats.org/drawingml/2006/main">
              <a:ext uri="{FF2B5EF4-FFF2-40B4-BE49-F238E27FC236}">
                <a16:creationId xmlns:a16="http://schemas.microsoft.com/office/drawing/2014/main" id="{15784CC6-159D-46FB-8465-0E745E3A2DBD}"/>
              </a:ext>
            </a:extLst>
          </p:cNvPr>
          <p:cNvSpPr>
            <a:spLocks xmlns:a="http://schemas.openxmlformats.org/drawingml/2006/main" noGrp="1"/>
          </p:cNvSpPr>
          <p:nvPr/>
        </p:nvSpPr>
        <p:spPr>
          <a:xfrm xmlns:a="http://schemas.openxmlformats.org/drawingml/2006/main">
            <a:off x="9429750" y="4238625"/>
            <a:ext cx="100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428"/>
          </a:bodyPr>
          <a:lstStyle xmlns:a="http://schemas.openxmlformats.org/drawingml/2006/main"/>
          <a:p xmlns:a="http://schemas.openxmlformats.org/drawingml/2006/main">
            <a:pPr algn="ctr">
              <a:defRPr sz="2250" b="1">
                <a:solidFill>
                  <a:srgbClr val="2864DC"/>
                </a:solidFill>
                <a:latin typeface="Helvetica Neue"/>
                <a:ea typeface="Helvetica Neue"/>
                <a:cs typeface="Helvetica Neue"/>
              </a:defRPr>
            </a:pPr>
            <a:r>
              <a:rPr sz="2250" b="1">
                <a:solidFill>
                  <a:srgbClr val="2864DC"/>
                </a:solidFill>
                <a:latin typeface="Helvetica Neue"/>
                <a:ea typeface="Helvetica Neue"/>
                <a:cs typeface="Helvetica Neue"/>
              </a:rPr>
              <a:t>R  50%</a:t>
            </a:r>
          </a:p>
        </p:txBody>
      </p:sp>
      <p:sp>
        <p:nvSpPr>
          <p:cNvPr id="20" name="">
            <a:extLst xmlns:a="http://schemas.openxmlformats.org/drawingml/2006/main">
              <a:ext uri="{FF2B5EF4-FFF2-40B4-BE49-F238E27FC236}">
                <a16:creationId xmlns:a16="http://schemas.microsoft.com/office/drawing/2014/main" id="{101D4B2B-8886-4D2E-AE51-8279B99049A2}"/>
              </a:ext>
            </a:extLst>
          </p:cNvPr>
          <p:cNvSpPr>
            <a:spLocks xmlns:a="http://schemas.openxmlformats.org/drawingml/2006/main" noGrp="1"/>
          </p:cNvSpPr>
          <p:nvPr/>
        </p:nvSpPr>
        <p:spPr>
          <a:xfrm xmlns:a="http://schemas.openxmlformats.org/drawingml/2006/main">
            <a:off x="1238250" y="523875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18B75"/>
                </a:solidFill>
                <a:latin typeface="Helvetica Neue"/>
                <a:ea typeface="Helvetica Neue"/>
                <a:cs typeface="Helvetica Neue"/>
              </a:defRPr>
            </a:pPr>
            <a:r>
              <a:rPr sz="1875" b="1">
                <a:solidFill>
                  <a:srgbClr val="218B75"/>
                </a:solidFill>
                <a:latin typeface="Helvetica Neue"/>
                <a:ea typeface="Helvetica Neue"/>
                <a:cs typeface="Helvetica Neue"/>
              </a:rPr>
              <a:t>Aggregate F1 81%   •   Model 100%   •   Reference 100%</a:t>
            </a:r>
          </a:p>
        </p:txBody>
      </p:sp>
      <p:sp>
        <p:nvSpPr>
          <p:cNvPr id="21" name="">
            <a:extLst xmlns:a="http://schemas.openxmlformats.org/drawingml/2006/main">
              <a:ext uri="{FF2B5EF4-FFF2-40B4-BE49-F238E27FC236}">
                <a16:creationId xmlns:a16="http://schemas.microsoft.com/office/drawing/2014/main" id="{60A2BD57-4DC1-4A9B-8E12-AFBE57D872B9}"/>
              </a:ext>
            </a:extLst>
          </p:cNvPr>
          <p:cNvSpPr>
            <a:spLocks xmlns:a="http://schemas.openxmlformats.org/drawingml/2006/main" noGrp="1"/>
          </p:cNvSpPr>
          <p:nvPr/>
        </p:nvSpPr>
        <p:spPr>
          <a:xfrm xmlns:a="http://schemas.openxmlformats.org/drawingml/2006/main">
            <a:off x="1143000" y="5753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213D"/>
                </a:solidFill>
                <a:latin typeface="Helvetica Neue"/>
                <a:ea typeface="Helvetica Neue"/>
                <a:cs typeface="Helvetica Neue"/>
              </a:defRPr>
            </a:pPr>
            <a:r>
              <a:rPr sz="1350" b="1">
                <a:solidFill>
                  <a:srgbClr val="14213D"/>
                </a:solidFill>
                <a:latin typeface="Helvetica Neue"/>
                <a:ea typeface="Helvetica Neue"/>
                <a:cs typeface="Helvetica Neue"/>
              </a:rPr>
              <a:t>Balanced F1 falls because the final diff contains work that was not present in the draft.</a:t>
            </a:r>
          </a:p>
        </p:txBody>
      </p:sp>
      <p:sp>
        <p:nvSpPr>
          <p:cNvPr id="22" name="">
            <a:extLst xmlns:a="http://schemas.openxmlformats.org/drawingml/2006/main">
              <a:ext uri="{FF2B5EF4-FFF2-40B4-BE49-F238E27FC236}">
                <a16:creationId xmlns:a16="http://schemas.microsoft.com/office/drawing/2014/main" id="{D5F24A74-9900-439B-ABAE-924D1AE38CA2}"/>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08</a:t>
            </a:r>
          </a:p>
        </p:txBody>
      </p:sp>
    </p:spTree>
    <p:extLst>
      <p:ext uri="{BB962C8B-B14F-4D97-AF65-F5344CB8AC3E}">
        <p14:creationId xmlns:p14="http://schemas.microsoft.com/office/powerpoint/2010/main" val="2040401255"/>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B8B275-BDD1-4A85-8C79-C235041632C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TRADE-OFFS AND LIFECYCLE</a:t>
            </a:r>
          </a:p>
        </p:txBody>
      </p:sp>
      <p:sp>
        <p:nvSpPr>
          <p:cNvPr id="2" name="">
            <a:extLst xmlns:a="http://schemas.openxmlformats.org/drawingml/2006/main">
              <a:ext uri="{FF2B5EF4-FFF2-40B4-BE49-F238E27FC236}">
                <a16:creationId xmlns:a16="http://schemas.microsoft.com/office/drawing/2014/main" id="{87A420AA-1E62-4DD7-8E1D-0E5670CE206D}"/>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aggregate is simple; the model needs ownership</a:t>
            </a:r>
          </a:p>
        </p:txBody>
      </p:sp>
      <p:sp>
        <p:nvSpPr>
          <p:cNvPr id="3" name="">
            <a:extLst xmlns:a="http://schemas.openxmlformats.org/drawingml/2006/main">
              <a:ext uri="{FF2B5EF4-FFF2-40B4-BE49-F238E27FC236}">
                <a16:creationId xmlns:a16="http://schemas.microsoft.com/office/drawing/2014/main" id="{2147B02D-C4A2-451A-8E69-EE2B76E7A672}"/>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5CEF10-40D9-4B97-8B56-7A05C6A3DDB8}"/>
              </a:ext>
            </a:extLst>
          </p:cNvPr>
          <p:cNvSpPr>
            <a:spLocks xmlns:a="http://schemas.openxmlformats.org/drawingml/2006/main" noGrp="1"/>
          </p:cNvSpPr>
          <p:nvPr/>
        </p:nvSpPr>
        <p:spPr>
          <a:xfrm xmlns:a="http://schemas.openxmlformats.org/drawingml/2006/main">
            <a:off x="666750" y="1952625"/>
            <a:ext cx="5143500" cy="3524250"/>
          </a:xfrm>
          <a:prstGeom xmlns:a="http://schemas.openxmlformats.org/drawingml/2006/main" prst="roundRect">
            <a:avLst>
              <a:gd name="adj" fmla="val 2162"/>
            </a:avLst>
          </a:prstGeom>
          <a:solidFill xmlns:a="http://schemas.openxmlformats.org/drawingml/2006/main">
            <a:srgbClr val="F9DD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3D2FAC-143C-40BB-ABB5-91AC92337BDA}"/>
              </a:ext>
            </a:extLst>
          </p:cNvPr>
          <p:cNvSpPr>
            <a:spLocks xmlns:a="http://schemas.openxmlformats.org/drawingml/2006/main" noGrp="1"/>
          </p:cNvSpPr>
          <p:nvPr/>
        </p:nvSpPr>
        <p:spPr>
          <a:xfrm xmlns:a="http://schemas.openxmlformats.org/drawingml/2006/main">
            <a:off x="971550" y="217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l">
              <a:defRPr sz="1875" b="1">
                <a:solidFill>
                  <a:srgbClr val="E76F51"/>
                </a:solidFill>
                <a:latin typeface="Helvetica Neue"/>
                <a:ea typeface="Helvetica Neue"/>
                <a:cs typeface="Helvetica Neue"/>
              </a:defRPr>
            </a:pPr>
            <a:r>
              <a:rPr sz="1875" b="1">
                <a:solidFill>
                  <a:srgbClr val="E76F51"/>
                </a:solidFill>
                <a:latin typeface="Helvetica Neue"/>
                <a:ea typeface="Helvetica Neue"/>
                <a:cs typeface="Helvetica Neue"/>
              </a:rPr>
              <a:t>Aggregate Diff P/R</a:t>
            </a:r>
          </a:p>
        </p:txBody>
      </p:sp>
      <p:sp>
        <p:nvSpPr>
          <p:cNvPr id="6" name="">
            <a:extLst xmlns:a="http://schemas.openxmlformats.org/drawingml/2006/main">
              <a:ext uri="{FF2B5EF4-FFF2-40B4-BE49-F238E27FC236}">
                <a16:creationId xmlns:a16="http://schemas.microsoft.com/office/drawing/2014/main" id="{BDBCFC3A-910E-4F25-995B-CDA8D78F1FCA}"/>
              </a:ext>
            </a:extLst>
          </p:cNvPr>
          <p:cNvSpPr>
            <a:spLocks xmlns:a="http://schemas.openxmlformats.org/drawingml/2006/main" noGrp="1"/>
          </p:cNvSpPr>
          <p:nvPr/>
        </p:nvSpPr>
        <p:spPr>
          <a:xfrm xmlns:a="http://schemas.openxmlformats.org/drawingml/2006/main">
            <a:off x="1000125" y="2762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BAD4C260-5B40-42C3-8251-6200C9379963}"/>
              </a:ext>
            </a:extLst>
          </p:cNvPr>
          <p:cNvSpPr>
            <a:spLocks xmlns:a="http://schemas.openxmlformats.org/drawingml/2006/main" noGrp="1"/>
          </p:cNvSpPr>
          <p:nvPr/>
        </p:nvSpPr>
        <p:spPr>
          <a:xfrm xmlns:a="http://schemas.openxmlformats.org/drawingml/2006/main">
            <a:off x="1285875" y="2733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One standard macro-F1 percentage</a:t>
            </a:r>
          </a:p>
        </p:txBody>
      </p:sp>
      <p:sp>
        <p:nvSpPr>
          <p:cNvPr id="8" name="">
            <a:extLst xmlns:a="http://schemas.openxmlformats.org/drawingml/2006/main">
              <a:ext uri="{FF2B5EF4-FFF2-40B4-BE49-F238E27FC236}">
                <a16:creationId xmlns:a16="http://schemas.microsoft.com/office/drawing/2014/main" id="{5FA203AB-D448-441C-9D32-FC5F8911A924}"/>
              </a:ext>
            </a:extLst>
          </p:cNvPr>
          <p:cNvSpPr>
            <a:spLocks xmlns:a="http://schemas.openxmlformats.org/drawingml/2006/main" noGrp="1"/>
          </p:cNvSpPr>
          <p:nvPr/>
        </p:nvSpPr>
        <p:spPr>
          <a:xfrm xmlns:a="http://schemas.openxmlformats.org/drawingml/2006/main">
            <a:off x="1000125" y="32385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55B113FC-CA71-4F76-82BD-71ABCD704CE8}"/>
              </a:ext>
            </a:extLst>
          </p:cNvPr>
          <p:cNvSpPr>
            <a:spLocks xmlns:a="http://schemas.openxmlformats.org/drawingml/2006/main" noGrp="1"/>
          </p:cNvSpPr>
          <p:nvPr/>
        </p:nvSpPr>
        <p:spPr>
          <a:xfrm xmlns:a="http://schemas.openxmlformats.org/drawingml/2006/main">
            <a:off x="1285875" y="3209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Six transparent component values</a:t>
            </a:r>
          </a:p>
        </p:txBody>
      </p:sp>
      <p:sp>
        <p:nvSpPr>
          <p:cNvPr id="10" name="">
            <a:extLst xmlns:a="http://schemas.openxmlformats.org/drawingml/2006/main">
              <a:ext uri="{FF2B5EF4-FFF2-40B4-BE49-F238E27FC236}">
                <a16:creationId xmlns:a16="http://schemas.microsoft.com/office/drawing/2014/main" id="{284A665A-80EC-4BA2-977E-241BCDCE4C01}"/>
              </a:ext>
            </a:extLst>
          </p:cNvPr>
          <p:cNvSpPr>
            <a:spLocks xmlns:a="http://schemas.openxmlformats.org/drawingml/2006/main" noGrp="1"/>
          </p:cNvSpPr>
          <p:nvPr/>
        </p:nvSpPr>
        <p:spPr>
          <a:xfrm xmlns:a="http://schemas.openxmlformats.org/drawingml/2006/main">
            <a:off x="1000125" y="37147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0696044D-B9EB-4D83-8C58-1842F3BFFEB0}"/>
              </a:ext>
            </a:extLst>
          </p:cNvPr>
          <p:cNvSpPr>
            <a:spLocks xmlns:a="http://schemas.openxmlformats.org/drawingml/2006/main" noGrp="1"/>
          </p:cNvSpPr>
          <p:nvPr/>
        </p:nvSpPr>
        <p:spPr>
          <a:xfrm xmlns:a="http://schemas.openxmlformats.org/drawingml/2006/main">
            <a:off x="1285875" y="36861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Fast and deterministic</a:t>
            </a:r>
          </a:p>
        </p:txBody>
      </p:sp>
      <p:sp>
        <p:nvSpPr>
          <p:cNvPr id="12" name="">
            <a:extLst xmlns:a="http://schemas.openxmlformats.org/drawingml/2006/main">
              <a:ext uri="{FF2B5EF4-FFF2-40B4-BE49-F238E27FC236}">
                <a16:creationId xmlns:a16="http://schemas.microsoft.com/office/drawing/2014/main" id="{D6973437-4C51-4A42-8104-864834B03391}"/>
              </a:ext>
            </a:extLst>
          </p:cNvPr>
          <p:cNvSpPr>
            <a:spLocks xmlns:a="http://schemas.openxmlformats.org/drawingml/2006/main" noGrp="1"/>
          </p:cNvSpPr>
          <p:nvPr/>
        </p:nvSpPr>
        <p:spPr>
          <a:xfrm xmlns:a="http://schemas.openxmlformats.org/drawingml/2006/main">
            <a:off x="1000125" y="41910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71346E42-8756-470C-A66F-F10C1ED0A5CF}"/>
              </a:ext>
            </a:extLst>
          </p:cNvPr>
          <p:cNvSpPr>
            <a:spLocks xmlns:a="http://schemas.openxmlformats.org/drawingml/2006/main" noGrp="1"/>
          </p:cNvSpPr>
          <p:nvPr/>
        </p:nvSpPr>
        <p:spPr>
          <a:xfrm xmlns:a="http://schemas.openxmlformats.org/drawingml/2006/main">
            <a:off x="1285875" y="41624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Penalized by unrelated final work</a:t>
            </a:r>
          </a:p>
        </p:txBody>
      </p:sp>
      <p:sp>
        <p:nvSpPr>
          <p:cNvPr id="14" name="">
            <a:extLst xmlns:a="http://schemas.openxmlformats.org/drawingml/2006/main">
              <a:ext uri="{FF2B5EF4-FFF2-40B4-BE49-F238E27FC236}">
                <a16:creationId xmlns:a16="http://schemas.microsoft.com/office/drawing/2014/main" id="{D086D584-FA74-4BF5-B038-61FA1799FF78}"/>
              </a:ext>
            </a:extLst>
          </p:cNvPr>
          <p:cNvSpPr>
            <a:spLocks xmlns:a="http://schemas.openxmlformats.org/drawingml/2006/main" noGrp="1"/>
          </p:cNvSpPr>
          <p:nvPr/>
        </p:nvSpPr>
        <p:spPr>
          <a:xfrm xmlns:a="http://schemas.openxmlformats.org/drawingml/2006/main">
            <a:off x="1000125" y="4667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D9FE8E76-F933-49D5-AF12-C3BACAD2E5E6}"/>
              </a:ext>
            </a:extLst>
          </p:cNvPr>
          <p:cNvSpPr>
            <a:spLocks xmlns:a="http://schemas.openxmlformats.org/drawingml/2006/main" noGrp="1"/>
          </p:cNvSpPr>
          <p:nvPr/>
        </p:nvSpPr>
        <p:spPr>
          <a:xfrm xmlns:a="http://schemas.openxmlformats.org/drawingml/2006/main">
            <a:off x="1285875" y="4638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Needs parser and metric-version tests</a:t>
            </a:r>
          </a:p>
        </p:txBody>
      </p:sp>
      <p:sp>
        <p:nvSpPr>
          <p:cNvPr id="16" name="">
            <a:extLst xmlns:a="http://schemas.openxmlformats.org/drawingml/2006/main">
              <a:ext uri="{FF2B5EF4-FFF2-40B4-BE49-F238E27FC236}">
                <a16:creationId xmlns:a16="http://schemas.microsoft.com/office/drawing/2014/main" id="{A0FBE3F4-DDE0-47A3-8377-AB6BD34A8393}"/>
              </a:ext>
            </a:extLst>
          </p:cNvPr>
          <p:cNvSpPr>
            <a:spLocks xmlns:a="http://schemas.openxmlformats.org/drawingml/2006/main" noGrp="1"/>
          </p:cNvSpPr>
          <p:nvPr/>
        </p:nvSpPr>
        <p:spPr>
          <a:xfrm xmlns:a="http://schemas.openxmlformats.org/drawingml/2006/main">
            <a:off x="6381750" y="1952625"/>
            <a:ext cx="5143500" cy="3524250"/>
          </a:xfrm>
          <a:prstGeom xmlns:a="http://schemas.openxmlformats.org/drawingml/2006/main" prst="roundRect">
            <a:avLst>
              <a:gd name="adj" fmla="val 2162"/>
            </a:avLst>
          </a:prstGeom>
          <a:solidFill xmlns:a="http://schemas.openxmlformats.org/drawingml/2006/main">
            <a:srgbClr val="DDE8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1724C9-40D1-4DD7-8BC6-134D432F982B}"/>
              </a:ext>
            </a:extLst>
          </p:cNvPr>
          <p:cNvSpPr>
            <a:spLocks xmlns:a="http://schemas.openxmlformats.org/drawingml/2006/main" noGrp="1"/>
          </p:cNvSpPr>
          <p:nvPr/>
        </p:nvSpPr>
        <p:spPr>
          <a:xfrm xmlns:a="http://schemas.openxmlformats.org/drawingml/2006/main">
            <a:off x="6686550" y="217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l">
              <a:defRPr sz="1875" b="1">
                <a:solidFill>
                  <a:srgbClr val="2864DC"/>
                </a:solidFill>
                <a:latin typeface="Helvetica Neue"/>
                <a:ea typeface="Helvetica Neue"/>
                <a:cs typeface="Helvetica Neue"/>
              </a:defRPr>
            </a:pPr>
            <a:r>
              <a:rPr sz="1875" b="1">
                <a:solidFill>
                  <a:srgbClr val="2864DC"/>
                </a:solidFill>
                <a:latin typeface="Helvetica Neue"/>
                <a:ea typeface="Helvetica Neue"/>
                <a:cs typeface="Helvetica Neue"/>
              </a:rPr>
              <a:t>Percentage model</a:t>
            </a:r>
          </a:p>
        </p:txBody>
      </p:sp>
      <p:sp>
        <p:nvSpPr>
          <p:cNvPr id="18" name="">
            <a:extLst xmlns:a="http://schemas.openxmlformats.org/drawingml/2006/main">
              <a:ext uri="{FF2B5EF4-FFF2-40B4-BE49-F238E27FC236}">
                <a16:creationId xmlns:a16="http://schemas.microsoft.com/office/drawing/2014/main" id="{44248113-47E0-4541-8D10-DDCD8C211571}"/>
              </a:ext>
            </a:extLst>
          </p:cNvPr>
          <p:cNvSpPr>
            <a:spLocks xmlns:a="http://schemas.openxmlformats.org/drawingml/2006/main" noGrp="1"/>
          </p:cNvSpPr>
          <p:nvPr/>
        </p:nvSpPr>
        <p:spPr>
          <a:xfrm xmlns:a="http://schemas.openxmlformats.org/drawingml/2006/main">
            <a:off x="6715125" y="2762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AAB245AB-25BD-4EF3-A5C4-1394E7990800}"/>
              </a:ext>
            </a:extLst>
          </p:cNvPr>
          <p:cNvSpPr>
            <a:spLocks xmlns:a="http://schemas.openxmlformats.org/drawingml/2006/main" noGrp="1"/>
          </p:cNvSpPr>
          <p:nvPr/>
        </p:nvSpPr>
        <p:spPr>
          <a:xfrm xmlns:a="http://schemas.openxmlformats.org/drawingml/2006/main">
            <a:off x="7000875" y="2733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One practical coverage estimate</a:t>
            </a:r>
          </a:p>
        </p:txBody>
      </p:sp>
      <p:sp>
        <p:nvSpPr>
          <p:cNvPr id="20" name="">
            <a:extLst xmlns:a="http://schemas.openxmlformats.org/drawingml/2006/main">
              <a:ext uri="{FF2B5EF4-FFF2-40B4-BE49-F238E27FC236}">
                <a16:creationId xmlns:a16="http://schemas.microsoft.com/office/drawing/2014/main" id="{25601780-C66A-49F8-A7DC-6045C5A104E4}"/>
              </a:ext>
            </a:extLst>
          </p:cNvPr>
          <p:cNvSpPr>
            <a:spLocks xmlns:a="http://schemas.openxmlformats.org/drawingml/2006/main" noGrp="1"/>
          </p:cNvSpPr>
          <p:nvPr/>
        </p:nvSpPr>
        <p:spPr>
          <a:xfrm xmlns:a="http://schemas.openxmlformats.org/drawingml/2006/main">
            <a:off x="6715125" y="32385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2C0DCBB6-C586-4856-90B2-0241DE75DB65}"/>
              </a:ext>
            </a:extLst>
          </p:cNvPr>
          <p:cNvSpPr>
            <a:spLocks xmlns:a="http://schemas.openxmlformats.org/drawingml/2006/main" noGrp="1"/>
          </p:cNvSpPr>
          <p:nvPr/>
        </p:nvSpPr>
        <p:spPr>
          <a:xfrm xmlns:a="http://schemas.openxmlformats.org/drawingml/2006/main">
            <a:off x="7000875" y="3209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Handles normal edits better</a:t>
            </a:r>
          </a:p>
        </p:txBody>
      </p:sp>
      <p:sp>
        <p:nvSpPr>
          <p:cNvPr id="22" name="">
            <a:extLst xmlns:a="http://schemas.openxmlformats.org/drawingml/2006/main">
              <a:ext uri="{FF2B5EF4-FFF2-40B4-BE49-F238E27FC236}">
                <a16:creationId xmlns:a16="http://schemas.microsoft.com/office/drawing/2014/main" id="{F49E8911-371B-4A9F-B259-831146A28FE8}"/>
              </a:ext>
            </a:extLst>
          </p:cNvPr>
          <p:cNvSpPr>
            <a:spLocks xmlns:a="http://schemas.openxmlformats.org/drawingml/2006/main" noGrp="1"/>
          </p:cNvSpPr>
          <p:nvPr/>
        </p:nvSpPr>
        <p:spPr>
          <a:xfrm xmlns:a="http://schemas.openxmlformats.org/drawingml/2006/main">
            <a:off x="6715125" y="37147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975DB2CD-C141-47AE-AEBA-CD5CBDCD4A8E}"/>
              </a:ext>
            </a:extLst>
          </p:cNvPr>
          <p:cNvSpPr>
            <a:spLocks xmlns:a="http://schemas.openxmlformats.org/drawingml/2006/main" noGrp="1"/>
          </p:cNvSpPr>
          <p:nvPr/>
        </p:nvSpPr>
        <p:spPr>
          <a:xfrm xmlns:a="http://schemas.openxmlformats.org/drawingml/2006/main">
            <a:off x="7000875" y="36861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More compute and dependencies</a:t>
            </a:r>
          </a:p>
        </p:txBody>
      </p:sp>
      <p:sp>
        <p:nvSpPr>
          <p:cNvPr id="24" name="">
            <a:extLst xmlns:a="http://schemas.openxmlformats.org/drawingml/2006/main">
              <a:ext uri="{FF2B5EF4-FFF2-40B4-BE49-F238E27FC236}">
                <a16:creationId xmlns:a16="http://schemas.microsoft.com/office/drawing/2014/main" id="{CE39CE8E-36B3-4569-A682-5254421DC26F}"/>
              </a:ext>
            </a:extLst>
          </p:cNvPr>
          <p:cNvSpPr>
            <a:spLocks xmlns:a="http://schemas.openxmlformats.org/drawingml/2006/main" noGrp="1"/>
          </p:cNvSpPr>
          <p:nvPr/>
        </p:nvSpPr>
        <p:spPr>
          <a:xfrm xmlns:a="http://schemas.openxmlformats.org/drawingml/2006/main">
            <a:off x="6715125" y="41910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34CFD966-0B74-4602-8CC6-58505F22746E}"/>
              </a:ext>
            </a:extLst>
          </p:cNvPr>
          <p:cNvSpPr>
            <a:spLocks xmlns:a="http://schemas.openxmlformats.org/drawingml/2006/main" noGrp="1"/>
          </p:cNvSpPr>
          <p:nvPr/>
        </p:nvSpPr>
        <p:spPr>
          <a:xfrm xmlns:a="http://schemas.openxmlformats.org/drawingml/2006/main">
            <a:off x="7000875" y="41624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Harder to explain one prediction</a:t>
            </a:r>
          </a:p>
        </p:txBody>
      </p:sp>
      <p:sp>
        <p:nvSpPr>
          <p:cNvPr id="26" name="">
            <a:extLst xmlns:a="http://schemas.openxmlformats.org/drawingml/2006/main">
              <a:ext uri="{FF2B5EF4-FFF2-40B4-BE49-F238E27FC236}">
                <a16:creationId xmlns:a16="http://schemas.microsoft.com/office/drawing/2014/main" id="{D74E2A2B-FFE0-4BC1-B366-1EF7637F9B70}"/>
              </a:ext>
            </a:extLst>
          </p:cNvPr>
          <p:cNvSpPr>
            <a:spLocks xmlns:a="http://schemas.openxmlformats.org/drawingml/2006/main" noGrp="1"/>
          </p:cNvSpPr>
          <p:nvPr/>
        </p:nvSpPr>
        <p:spPr>
          <a:xfrm xmlns:a="http://schemas.openxmlformats.org/drawingml/2006/main">
            <a:off x="6715125" y="4667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57C8F37C-C500-4487-B12E-D9408BCEB680}"/>
              </a:ext>
            </a:extLst>
          </p:cNvPr>
          <p:cNvSpPr>
            <a:spLocks xmlns:a="http://schemas.openxmlformats.org/drawingml/2006/main" noGrp="1"/>
          </p:cNvSpPr>
          <p:nvPr/>
        </p:nvSpPr>
        <p:spPr>
          <a:xfrm xmlns:a="http://schemas.openxmlformats.org/drawingml/2006/main">
            <a:off x="7000875" y="4638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4213D"/>
                </a:solidFill>
                <a:latin typeface="Helvetica Neue"/>
                <a:ea typeface="Helvetica Neue"/>
                <a:cs typeface="Helvetica Neue"/>
              </a:defRPr>
            </a:pPr>
            <a:r>
              <a:rPr sz="1350" b="0">
                <a:solidFill>
                  <a:srgbClr val="14213D"/>
                </a:solidFill>
                <a:latin typeface="Helvetica Neue"/>
                <a:ea typeface="Helvetica Neue"/>
                <a:cs typeface="Helvetica Neue"/>
              </a:rPr>
              <a:t>Needs drift, artifact, and retraining controls</a:t>
            </a:r>
          </a:p>
        </p:txBody>
      </p:sp>
      <p:sp>
        <p:nvSpPr>
          <p:cNvPr id="28" name="">
            <a:extLst xmlns:a="http://schemas.openxmlformats.org/drawingml/2006/main">
              <a:ext uri="{FF2B5EF4-FFF2-40B4-BE49-F238E27FC236}">
                <a16:creationId xmlns:a16="http://schemas.microsoft.com/office/drawing/2014/main" id="{2B07CCD8-0756-480F-AB9D-BA3CA2082689}"/>
              </a:ext>
            </a:extLst>
          </p:cNvPr>
          <p:cNvSpPr>
            <a:spLocks xmlns:a="http://schemas.openxmlformats.org/drawingml/2006/main" noGrp="1"/>
          </p:cNvSpPr>
          <p:nvPr/>
        </p:nvSpPr>
        <p:spPr>
          <a:xfrm xmlns:a="http://schemas.openxmlformats.org/drawingml/2006/main">
            <a:off x="1000125" y="5810250"/>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Minimum operation: automated tests + artifact checks + monitoring + human approval for a new model.</a:t>
            </a:r>
          </a:p>
        </p:txBody>
      </p:sp>
      <p:sp>
        <p:nvSpPr>
          <p:cNvPr id="29" name="">
            <a:extLst xmlns:a="http://schemas.openxmlformats.org/drawingml/2006/main">
              <a:ext uri="{FF2B5EF4-FFF2-40B4-BE49-F238E27FC236}">
                <a16:creationId xmlns:a16="http://schemas.microsoft.com/office/drawing/2014/main" id="{DEB0E67B-C9D2-49A0-A7DC-D7C65F676EDC}"/>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09</a:t>
            </a:r>
          </a:p>
        </p:txBody>
      </p:sp>
    </p:spTree>
    <p:extLst>
      <p:ext uri="{BB962C8B-B14F-4D97-AF65-F5344CB8AC3E}">
        <p14:creationId xmlns:p14="http://schemas.microsoft.com/office/powerpoint/2010/main" val="121082576"/>
      </p:ext>
    </p:extLst>
  </p:cSld>
</p:sld>
</file>

<file path=ppt/slides/slide10.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5593B99-9AD6-4E3E-A9B7-9B31013B9FE3}"/>
              </a:ext>
            </a:extLst>
          </p:cNvPr>
          <p:cNvSpPr>
            <a:spLocks xmlns:a="http://schemas.openxmlformats.org/drawingml/2006/main" noGrp="1"/>
          </p:cNvSpPr>
          <p:nvPr/>
        </p:nvSpPr>
        <p:spPr>
          <a:xfrm xmlns:a="http://schemas.openxmlformats.org/drawingml/2006/main">
            <a:off x="685800" y="4000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F3C969"/>
                </a:solidFill>
                <a:latin typeface="Helvetica Neue"/>
                <a:ea typeface="Helvetica Neue"/>
                <a:cs typeface="Helvetica Neue"/>
              </a:defRPr>
            </a:pPr>
            <a:r>
              <a:rPr sz="1050" b="1">
                <a:solidFill>
                  <a:srgbClr val="F3C969"/>
                </a:solidFill>
                <a:latin typeface="Helvetica Neue"/>
                <a:ea typeface="Helvetica Neue"/>
                <a:cs typeface="Helvetica Neue"/>
              </a:rPr>
              <a:t>RECOMMENDATION</a:t>
            </a:r>
          </a:p>
        </p:txBody>
      </p:sp>
      <p:sp>
        <p:nvSpPr>
          <p:cNvPr id="2" name="">
            <a:extLst xmlns:a="http://schemas.openxmlformats.org/drawingml/2006/main">
              <a:ext uri="{FF2B5EF4-FFF2-40B4-BE49-F238E27FC236}">
                <a16:creationId xmlns:a16="http://schemas.microsoft.com/office/drawing/2014/main" id="{E7156D42-7F65-4CA5-8372-0E19265F6DAF}"/>
              </a:ext>
            </a:extLst>
          </p:cNvPr>
          <p:cNvSpPr>
            <a:spLocks xmlns:a="http://schemas.openxmlformats.org/drawingml/2006/main" noGrp="1"/>
          </p:cNvSpPr>
          <p:nvPr/>
        </p:nvSpPr>
        <p:spPr>
          <a:xfrm xmlns:a="http://schemas.openxmlformats.org/drawingml/2006/main">
            <a:off x="685800" y="781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FFFFF"/>
                </a:solidFill>
                <a:latin typeface="Helvetica Neue"/>
                <a:ea typeface="Helvetica Neue"/>
                <a:cs typeface="Helvetica Neue"/>
              </a:defRPr>
            </a:pPr>
            <a:r>
              <a:rPr sz="2925" b="1">
                <a:solidFill>
                  <a:srgbClr val="FFFFFF"/>
                </a:solidFill>
                <a:latin typeface="Helvetica Neue"/>
                <a:ea typeface="Helvetica Neue"/>
                <a:cs typeface="Helvetica Neue"/>
              </a:rPr>
              <a:t>One primary score. One aggregate. Six diagnostics.</a:t>
            </a:r>
          </a:p>
        </p:txBody>
      </p:sp>
      <p:sp>
        <p:nvSpPr>
          <p:cNvPr id="3" name="">
            <a:extLst xmlns:a="http://schemas.openxmlformats.org/drawingml/2006/main">
              <a:ext uri="{FF2B5EF4-FFF2-40B4-BE49-F238E27FC236}">
                <a16:creationId xmlns:a16="http://schemas.microsoft.com/office/drawing/2014/main" id="{2B4FFA96-871A-4E87-9A28-711E743D212B}"/>
              </a:ext>
            </a:extLst>
          </p:cNvPr>
          <p:cNvSpPr>
            <a:spLocks xmlns:a="http://schemas.openxmlformats.org/drawingml/2006/main" noGrp="1"/>
          </p:cNvSpPr>
          <p:nvPr/>
        </p:nvSpPr>
        <p:spPr>
          <a:xfrm xmlns:a="http://schemas.openxmlformats.org/drawingml/2006/main">
            <a:off x="742950" y="1762125"/>
            <a:ext cx="10706100" cy="857250"/>
          </a:xfrm>
          <a:prstGeom xmlns:a="http://schemas.openxmlformats.org/drawingml/2006/main" prst="roundRect">
            <a:avLst>
              <a:gd name="adj" fmla="val 8889"/>
            </a:avLst>
          </a:prstGeom>
          <a:solidFill xmlns:a="http://schemas.openxmlformats.org/drawingml/2006/main">
            <a:srgbClr val="218B7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2B41ED-653B-4939-984D-FFC3C5DFB411}"/>
              </a:ext>
            </a:extLst>
          </p:cNvPr>
          <p:cNvSpPr>
            <a:spLocks xmlns:a="http://schemas.openxmlformats.org/drawingml/2006/main" noGrp="1"/>
          </p:cNvSpPr>
          <p:nvPr/>
        </p:nvSpPr>
        <p:spPr>
          <a:xfrm xmlns:a="http://schemas.openxmlformats.org/drawingml/2006/main">
            <a:off x="1028700" y="1924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PRIMARY</a:t>
            </a:r>
          </a:p>
        </p:txBody>
      </p:sp>
      <p:sp>
        <p:nvSpPr>
          <p:cNvPr id="5" name="">
            <a:extLst xmlns:a="http://schemas.openxmlformats.org/drawingml/2006/main">
              <a:ext uri="{FF2B5EF4-FFF2-40B4-BE49-F238E27FC236}">
                <a16:creationId xmlns:a16="http://schemas.microsoft.com/office/drawing/2014/main" id="{FF38415B-1DD4-4156-A655-2B48C0D2BDE0}"/>
              </a:ext>
            </a:extLst>
          </p:cNvPr>
          <p:cNvSpPr>
            <a:spLocks xmlns:a="http://schemas.openxmlformats.org/drawingml/2006/main" noGrp="1"/>
          </p:cNvSpPr>
          <p:nvPr/>
        </p:nvSpPr>
        <p:spPr>
          <a:xfrm xmlns:a="http://schemas.openxmlformats.org/drawingml/2006/main">
            <a:off x="1028700" y="2171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model_percentage</a:t>
            </a:r>
          </a:p>
        </p:txBody>
      </p:sp>
      <p:sp>
        <p:nvSpPr>
          <p:cNvPr id="6" name="">
            <a:extLst xmlns:a="http://schemas.openxmlformats.org/drawingml/2006/main">
              <a:ext uri="{FF2B5EF4-FFF2-40B4-BE49-F238E27FC236}">
                <a16:creationId xmlns:a16="http://schemas.microsoft.com/office/drawing/2014/main" id="{CACFAAB9-8BD0-4023-A90C-6BE9F1DA0D45}"/>
              </a:ext>
            </a:extLst>
          </p:cNvPr>
          <p:cNvSpPr>
            <a:spLocks xmlns:a="http://schemas.openxmlformats.org/drawingml/2006/main" noGrp="1"/>
          </p:cNvSpPr>
          <p:nvPr/>
        </p:nvSpPr>
        <p:spPr>
          <a:xfrm xmlns:a="http://schemas.openxmlformats.org/drawingml/2006/main">
            <a:off x="6096000" y="20478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Best estimate of draft survival</a:t>
            </a:r>
          </a:p>
        </p:txBody>
      </p:sp>
      <p:sp>
        <p:nvSpPr>
          <p:cNvPr id="7" name="">
            <a:extLst xmlns:a="http://schemas.openxmlformats.org/drawingml/2006/main">
              <a:ext uri="{FF2B5EF4-FFF2-40B4-BE49-F238E27FC236}">
                <a16:creationId xmlns:a16="http://schemas.microsoft.com/office/drawing/2014/main" id="{2BE650B7-7227-4A9C-A831-2F6E72CB5F3F}"/>
              </a:ext>
            </a:extLst>
          </p:cNvPr>
          <p:cNvSpPr>
            <a:spLocks xmlns:a="http://schemas.openxmlformats.org/drawingml/2006/main" noGrp="1"/>
          </p:cNvSpPr>
          <p:nvPr/>
        </p:nvSpPr>
        <p:spPr>
          <a:xfrm xmlns:a="http://schemas.openxmlformats.org/drawingml/2006/main">
            <a:off x="742950" y="2809875"/>
            <a:ext cx="10706100" cy="857250"/>
          </a:xfrm>
          <a:prstGeom xmlns:a="http://schemas.openxmlformats.org/drawingml/2006/main" prst="roundRect">
            <a:avLst>
              <a:gd name="adj" fmla="val 8889"/>
            </a:avLst>
          </a:prstGeom>
          <a:solidFill xmlns:a="http://schemas.openxmlformats.org/drawingml/2006/main">
            <a:srgbClr val="E76F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50CCA3-EAF9-49C4-90C3-90E92D1FF82B}"/>
              </a:ext>
            </a:extLst>
          </p:cNvPr>
          <p:cNvSpPr>
            <a:spLocks xmlns:a="http://schemas.openxmlformats.org/drawingml/2006/main" noGrp="1"/>
          </p:cNvSpPr>
          <p:nvPr/>
        </p:nvSpPr>
        <p:spPr>
          <a:xfrm xmlns:a="http://schemas.openxmlformats.org/drawingml/2006/main">
            <a:off x="1028700" y="29718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COMPARABLE</a:t>
            </a:r>
          </a:p>
        </p:txBody>
      </p:sp>
      <p:sp>
        <p:nvSpPr>
          <p:cNvPr id="9" name="">
            <a:extLst xmlns:a="http://schemas.openxmlformats.org/drawingml/2006/main">
              <a:ext uri="{FF2B5EF4-FFF2-40B4-BE49-F238E27FC236}">
                <a16:creationId xmlns:a16="http://schemas.microsoft.com/office/drawing/2014/main" id="{BDD9B660-F6CB-424E-927F-705451E7E4D9}"/>
              </a:ext>
            </a:extLst>
          </p:cNvPr>
          <p:cNvSpPr>
            <a:spLocks xmlns:a="http://schemas.openxmlformats.org/drawingml/2006/main" noGrp="1"/>
          </p:cNvSpPr>
          <p:nvPr/>
        </p:nvSpPr>
        <p:spPr>
          <a:xfrm xmlns:a="http://schemas.openxmlformats.org/drawingml/2006/main">
            <a:off x="1028700" y="32194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aggregate_diff_f1</a:t>
            </a:r>
          </a:p>
        </p:txBody>
      </p:sp>
      <p:sp>
        <p:nvSpPr>
          <p:cNvPr id="10" name="">
            <a:extLst xmlns:a="http://schemas.openxmlformats.org/drawingml/2006/main">
              <a:ext uri="{FF2B5EF4-FFF2-40B4-BE49-F238E27FC236}">
                <a16:creationId xmlns:a16="http://schemas.microsoft.com/office/drawing/2014/main" id="{0A97DD3C-F28C-4715-AA4F-D13ECC55BF81}"/>
              </a:ext>
            </a:extLst>
          </p:cNvPr>
          <p:cNvSpPr>
            <a:spLocks xmlns:a="http://schemas.openxmlformats.org/drawingml/2006/main" noGrp="1"/>
          </p:cNvSpPr>
          <p:nvPr/>
        </p:nvSpPr>
        <p:spPr>
          <a:xfrm xmlns:a="http://schemas.openxmlformats.org/drawingml/2006/main">
            <a:off x="6096000" y="3095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Balanced whole-diff similarity</a:t>
            </a:r>
          </a:p>
        </p:txBody>
      </p:sp>
      <p:sp>
        <p:nvSpPr>
          <p:cNvPr id="11" name="">
            <a:extLst xmlns:a="http://schemas.openxmlformats.org/drawingml/2006/main">
              <a:ext uri="{FF2B5EF4-FFF2-40B4-BE49-F238E27FC236}">
                <a16:creationId xmlns:a16="http://schemas.microsoft.com/office/drawing/2014/main" id="{08843A9E-4E1C-4E9F-8E59-A1F04A92C508}"/>
              </a:ext>
            </a:extLst>
          </p:cNvPr>
          <p:cNvSpPr>
            <a:spLocks xmlns:a="http://schemas.openxmlformats.org/drawingml/2006/main" noGrp="1"/>
          </p:cNvSpPr>
          <p:nvPr/>
        </p:nvSpPr>
        <p:spPr>
          <a:xfrm xmlns:a="http://schemas.openxmlformats.org/drawingml/2006/main">
            <a:off x="742950" y="3857625"/>
            <a:ext cx="10706100" cy="781050"/>
          </a:xfrm>
          <a:prstGeom xmlns:a="http://schemas.openxmlformats.org/drawingml/2006/main" prst="roundRect">
            <a:avLst>
              <a:gd name="adj" fmla="val 9756"/>
            </a:avLst>
          </a:prstGeom>
          <a:solidFill xmlns:a="http://schemas.openxmlformats.org/drawingml/2006/main">
            <a:srgbClr val="2864D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6F0313B-F8C8-4D44-8E1E-2AC4AC328927}"/>
              </a:ext>
            </a:extLst>
          </p:cNvPr>
          <p:cNvSpPr>
            <a:spLocks xmlns:a="http://schemas.openxmlformats.org/drawingml/2006/main" noGrp="1"/>
          </p:cNvSpPr>
          <p:nvPr/>
        </p:nvSpPr>
        <p:spPr>
          <a:xfrm xmlns:a="http://schemas.openxmlformats.org/drawingml/2006/main">
            <a:off x="1028700" y="40005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DIAGNOSTICS</a:t>
            </a:r>
          </a:p>
        </p:txBody>
      </p:sp>
      <p:sp>
        <p:nvSpPr>
          <p:cNvPr id="13" name="">
            <a:extLst xmlns:a="http://schemas.openxmlformats.org/drawingml/2006/main">
              <a:ext uri="{FF2B5EF4-FFF2-40B4-BE49-F238E27FC236}">
                <a16:creationId xmlns:a16="http://schemas.microsoft.com/office/drawing/2014/main" id="{3CA2A241-1967-4B0F-B53A-DBC29D2F89BC}"/>
              </a:ext>
            </a:extLst>
          </p:cNvPr>
          <p:cNvSpPr>
            <a:spLocks xmlns:a="http://schemas.openxmlformats.org/drawingml/2006/main" noGrp="1"/>
          </p:cNvSpPr>
          <p:nvPr/>
        </p:nvSpPr>
        <p:spPr>
          <a:xfrm xmlns:a="http://schemas.openxmlformats.org/drawingml/2006/main">
            <a:off x="1028700" y="42291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six token / file / line P/R values</a:t>
            </a:r>
          </a:p>
        </p:txBody>
      </p:sp>
      <p:sp>
        <p:nvSpPr>
          <p:cNvPr id="14" name="">
            <a:extLst xmlns:a="http://schemas.openxmlformats.org/drawingml/2006/main">
              <a:ext uri="{FF2B5EF4-FFF2-40B4-BE49-F238E27FC236}">
                <a16:creationId xmlns:a16="http://schemas.microsoft.com/office/drawing/2014/main" id="{4E1B73D8-00F5-4FC1-804F-CB5041B3B7E0}"/>
              </a:ext>
            </a:extLst>
          </p:cNvPr>
          <p:cNvSpPr>
            <a:spLocks xmlns:a="http://schemas.openxmlformats.org/drawingml/2006/main" noGrp="1"/>
          </p:cNvSpPr>
          <p:nvPr/>
        </p:nvSpPr>
        <p:spPr>
          <a:xfrm xmlns:a="http://schemas.openxmlformats.org/drawingml/2006/main">
            <a:off x="7620000" y="410527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Explain disagreement</a:t>
            </a:r>
          </a:p>
        </p:txBody>
      </p:sp>
      <p:sp>
        <p:nvSpPr>
          <p:cNvPr id="15" name="">
            <a:extLst xmlns:a="http://schemas.openxmlformats.org/drawingml/2006/main">
              <a:ext uri="{FF2B5EF4-FFF2-40B4-BE49-F238E27FC236}">
                <a16:creationId xmlns:a16="http://schemas.microsoft.com/office/drawing/2014/main" id="{600A47E0-7212-42AA-AC89-E5FFA44B24A9}"/>
              </a:ext>
            </a:extLst>
          </p:cNvPr>
          <p:cNvSpPr>
            <a:spLocks xmlns:a="http://schemas.openxmlformats.org/drawingml/2006/main" noGrp="1"/>
          </p:cNvSpPr>
          <p:nvPr/>
        </p:nvSpPr>
        <p:spPr>
          <a:xfrm xmlns:a="http://schemas.openxmlformats.org/drawingml/2006/main">
            <a:off x="762000" y="50958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3C969"/>
                </a:solidFill>
                <a:latin typeface="Helvetica Neue"/>
                <a:ea typeface="Helvetica Neue"/>
                <a:cs typeface="Helvetica Neue"/>
              </a:defRPr>
            </a:pPr>
            <a:r>
              <a:rPr sz="1275" b="1">
                <a:solidFill>
                  <a:srgbClr val="F3C969"/>
                </a:solidFill>
                <a:latin typeface="Helvetica Neue"/>
                <a:ea typeface="Helvetica Neue"/>
                <a:cs typeface="Helvetica Neue"/>
              </a:rPr>
              <a:t>STORE VERSIONS, WARNINGS, AND EVIDENCE WITH EVERY RESULT</a:t>
            </a:r>
          </a:p>
        </p:txBody>
      </p:sp>
      <p:sp>
        <p:nvSpPr>
          <p:cNvPr id="16" name="">
            <a:extLst xmlns:a="http://schemas.openxmlformats.org/drawingml/2006/main">
              <a:ext uri="{FF2B5EF4-FFF2-40B4-BE49-F238E27FC236}">
                <a16:creationId xmlns:a16="http://schemas.microsoft.com/office/drawing/2014/main" id="{45BEF7EA-40CE-4C62-93F2-B2931179A75A}"/>
              </a:ext>
            </a:extLst>
          </p:cNvPr>
          <p:cNvSpPr>
            <a:spLocks xmlns:a="http://schemas.openxmlformats.org/drawingml/2006/main" noGrp="1"/>
          </p:cNvSpPr>
          <p:nvPr/>
        </p:nvSpPr>
        <p:spPr>
          <a:xfrm xmlns:a="http://schemas.openxmlformats.org/drawingml/2006/main">
            <a:off x="762000" y="59531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F3C969"/>
                </a:solidFill>
                <a:latin typeface="Helvetica Neue"/>
                <a:ea typeface="Helvetica Neue"/>
                <a:cs typeface="Helvetica Neue"/>
              </a:defRPr>
            </a:pPr>
            <a:r>
              <a:rPr sz="1350" b="1">
                <a:solidFill>
                  <a:srgbClr val="F3C969"/>
                </a:solidFill>
                <a:latin typeface="Helvetica Neue"/>
                <a:ea typeface="Helvetica Neue"/>
                <a:cs typeface="Helvetica Neue"/>
              </a:rPr>
              <a:t>Next: confidence or abstention, human benchmark, disagreement alerts.</a:t>
            </a:r>
          </a:p>
        </p:txBody>
      </p:sp>
      <p:sp>
        <p:nvSpPr>
          <p:cNvPr id="17" name="">
            <a:extLst xmlns:a="http://schemas.openxmlformats.org/drawingml/2006/main">
              <a:ext uri="{FF2B5EF4-FFF2-40B4-BE49-F238E27FC236}">
                <a16:creationId xmlns:a16="http://schemas.microsoft.com/office/drawing/2014/main" id="{B26FAF0B-541F-4D17-812F-9C0C2FA7E73F}"/>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10</a:t>
            </a:r>
          </a:p>
        </p:txBody>
      </p:sp>
    </p:spTree>
    <p:extLst>
      <p:ext uri="{BB962C8B-B14F-4D97-AF65-F5344CB8AC3E}">
        <p14:creationId xmlns:p14="http://schemas.microsoft.com/office/powerpoint/2010/main" val="134917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2026-09-10T07:27:29.6710000Z</dcterms:created>
  <dcterms:modified xsi:type="dcterms:W3CDTF">2026-09-10T07:27:29.6710000Z</dcterms:modified>
</coreProperties>
</file>